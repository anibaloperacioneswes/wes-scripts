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Corporación Puente Alto</a:t>
            </a:r>
          </a:p>
          <a:p>
            <a:pPr algn="ctr">
              <a:defRPr sz="1800"/>
            </a:pPr>
            <a:r>
              <a:t>Período analizado: 01/02/2026 - 28/02/2026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28 días de consumo hídrico revela patrones críticos y detección de fuga significativa. Se registró un pico de consumo el 13/02/2026 (1.161,5 m³), un 420,4% por encima del promedio. Se detectaron 165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6.250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223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1.161,5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165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2.067,7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(33,1%)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28 días consumo Noc. de 28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4.182,2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(66,9%)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$2.578.483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$5.215.254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Corporación Puente Alto, ordenado de mayor a menor consumo. El monitoreo con mayor consumo durante el período fue 'Esc. Nonato Coo' con 1.930,3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Nonato Coo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1.930,3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775 m³ (40,1%)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11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1.155,3 m³ (59,9%)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$966.450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$1.440.684</a:t>
            </a:r>
          </a:p>
        </p:txBody>
      </p:sp>
      <p:pic>
        <p:nvPicPr>
          <p:cNvPr id="23" name="Picture 22" descr="temp_consumo_horario_max_000010-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Villa Independencia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1.200,7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432,7 m³ (36%)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768 m³ (64%)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$539.577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$957.646</a:t>
            </a:r>
          </a:p>
        </p:txBody>
      </p:sp>
      <p:pic>
        <p:nvPicPr>
          <p:cNvPr id="23" name="Picture 22" descr="temp_consumo_horario_max_000010-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Padre Hurtado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709,7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241,5 m³ (34%)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26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468,2 m³ (66%)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$301.151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$583.845</a:t>
            </a:r>
          </a:p>
        </p:txBody>
      </p:sp>
      <p:pic>
        <p:nvPicPr>
          <p:cNvPr id="23" name="Picture 22" descr="temp_consumo_horario_max_000010-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Liceo Chiloé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560,2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154,8 m³ (27,6%)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405,4 m³ (72,4%)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$193.023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$505.546</a:t>
            </a:r>
          </a:p>
        </p:txBody>
      </p:sp>
      <p:pic>
        <p:nvPicPr>
          <p:cNvPr id="23" name="Picture 22" descr="temp_consumo_horario_max_000010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Los Andes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468,6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119,7 m³ (25,5%)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348,9 m³ (74,5%)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$149.266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$435.078</a:t>
            </a:r>
          </a:p>
        </p:txBody>
      </p:sp>
      <p:pic>
        <p:nvPicPr>
          <p:cNvPr id="23" name="Picture 22" descr="temp_consumo_horario_max_000010-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Luis Matte Larraín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334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123,5 m³ (37%)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210,5 m³ (63%)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$153.992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$262.543</a:t>
            </a:r>
          </a:p>
        </p:txBody>
      </p:sp>
      <p:pic>
        <p:nvPicPr>
          <p:cNvPr id="23" name="Picture 22" descr="temp_consumo_horario_max_000010-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Consolidada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285,7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39,5 m³ (13,8%)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29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246,2 m³ (86,2%)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$49.256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$307.011</a:t>
            </a:r>
          </a:p>
        </p:txBody>
      </p:sp>
      <p:pic>
        <p:nvPicPr>
          <p:cNvPr id="23" name="Picture 22" descr="temp_consumo_horario_max_000010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Escuela Andes del SUR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271,1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69,2 m³ (25,5%)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23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201,9 m³ (74,5%)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$86.292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$251.769</a:t>
            </a:r>
          </a:p>
        </p:txBody>
      </p:sp>
      <p:pic>
        <p:nvPicPr>
          <p:cNvPr id="23" name="Picture 22" descr="temp_consumo_horario_max_000010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Colegio Maipo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206,3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35,1 m³ (17%)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171,2 m³ (83%)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$43.820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$213.449</a:t>
            </a:r>
          </a:p>
        </p:txBody>
      </p:sp>
      <p:pic>
        <p:nvPicPr>
          <p:cNvPr id="23" name="Picture 22" descr="temp_consumo_horario_max_000010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Gabriela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147,4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51,4 m³ (34,9%)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23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96 m³ (65,1%)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$64.096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$119.712</a:t>
            </a:r>
          </a:p>
        </p:txBody>
      </p:sp>
      <p:pic>
        <p:nvPicPr>
          <p:cNvPr id="23" name="Picture 22" descr="temp_consumo_horario_max_000010-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Juan Mackenna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135,9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27,2 m³ (20%)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108,8 m³ (80%)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$33.893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$135.636</a:t>
            </a:r>
          </a:p>
        </p:txBody>
      </p:sp>
      <p:pic>
        <p:nvPicPr>
          <p:cNvPr id="23" name="Picture 22" descr="temp_consumo_horario_max_000010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