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CDUC</a:t>
            </a:r>
          </a:p>
          <a:p>
            <a:pPr algn="ctr">
              <a:defRPr sz="1800"/>
            </a:pPr>
            <a:r>
              <a:t>Período analizado: 01/01/2026 - 06/04/2026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96 días de consumo hídrico revela patrones críticos y detección de fuga significativa. Se registró un pico de consumo el 05/01/2026 (741,4 m³), un 207,8% por encima del promedio. Se detectaron 108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23.126,7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241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741,4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3.987,1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(17,2%)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91 días consumo Noc. de 96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19.139,5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(82,8%)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$4.971.964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$23.866.981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CDUC, ordenado de mayor a menor consumo. El monitoreo con mayor consumo durante el período fue 'Canchas de Tenis' con 7.761,3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Canchas de Tenis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1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1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7.761,3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1.307,3 m³ (16,8%)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90 días de 96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6.454 m³ (83,2%)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$1.630.203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$8.048.138</a:t>
            </a:r>
          </a:p>
        </p:txBody>
      </p:sp>
      <p:pic>
        <p:nvPicPr>
          <p:cNvPr id="23" name="Picture 22" descr="temp_consumo_horario_max_000021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1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Calle de Servicio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1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1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4.722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1.115,1 m³ (23,6%)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91 días de 96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3.606,9 m³ (76,4%)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$1.390.542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$4.497.754</a:t>
            </a:r>
          </a:p>
        </p:txBody>
      </p:sp>
      <p:pic>
        <p:nvPicPr>
          <p:cNvPr id="23" name="Picture 22" descr="temp_consumo_horario_max_000021-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1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Raimundo Tupper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1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1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3.993,9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692,7 m³ (17,3%)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60 días de 96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3.301,2 m³ (82,7%)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$863.834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$4.116.571</a:t>
            </a:r>
          </a:p>
        </p:txBody>
      </p:sp>
      <p:pic>
        <p:nvPicPr>
          <p:cNvPr id="23" name="Picture 22" descr="temp_consumo_horario_max_000021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1-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Club House CDUC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1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1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3.350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226,8 m³ (6,8%)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55 días de 96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3.123,2 m³ (93,2%)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$282.869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$3.894.605</a:t>
            </a:r>
          </a:p>
        </p:txBody>
      </p:sp>
      <p:pic>
        <p:nvPicPr>
          <p:cNvPr id="23" name="Picture 22" descr="temp_consumo_horario_max_000021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1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Equitación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1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1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3.299,5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645,2 m³ (19,6%)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70 días de 96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2.654,3 m³ (80,4%)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$804.515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$3.309.912</a:t>
            </a:r>
          </a:p>
        </p:txBody>
      </p:sp>
      <p:pic>
        <p:nvPicPr>
          <p:cNvPr id="23" name="Picture 22" descr="temp_consumo_horario_max_000021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1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