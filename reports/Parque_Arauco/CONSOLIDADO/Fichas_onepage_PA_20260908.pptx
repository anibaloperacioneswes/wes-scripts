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bm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108960"/>
            <a:ext cx="12191695" cy="3749039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3273552"/>
            <a:ext cx="1234440" cy="2736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31012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WES  ·  Parque Arauco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03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Fichas one-page  ·  un caso por lámina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4348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Ya operativo (control WES): Estanque Norte y San Ignacio 500.  A copiar: Quilicura, Bazar Gourmet, Andén 3-4 Matriz, El Bosque 1° piso, Falabella Maipú.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C9A227"/>
                </a:solidFill>
                <a:latin typeface="Calibri"/>
              </a:rPr>
              <a:t>Datos al 08/09/2026  ·  tarifa $1.400/m³  ·  corte 00:30 → cero 01:00–05:00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Proyección: ya operativo y a copiar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Verde = control WES  ·  dorado = propuesta  ·  tarifa $1.400/m³  ·  08/09/2026</a:t>
            </a:r>
          </a:p>
        </p:txBody>
      </p:sp>
      <p:pic>
        <p:nvPicPr>
          <p:cNvPr id="7" name="Picture 6" descr="futuros_puntos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024128"/>
            <a:ext cx="11658600" cy="60880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6032" y="6473952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Verde = Norte y SI500. Dorado = a copiar. Estanque Sur no entra. DL Kennedy no se propone.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MAE  ·  Estanque Sur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Presostato al relocalizar 10/06  ·  000025-19  ·  08/09/2026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2331720" cy="32918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607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5A5A5A"/>
                </a:solidFill>
                <a:latin typeface="Calibri"/>
              </a:rPr>
              <a:t>CONTEXTO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Día (mediana)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88 → 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m³/día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Baja observada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1.826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m³/mes · no entra en $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7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Por qué no suma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7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No es control WES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7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mejora de presostato</a:t>
            </a:r>
          </a:p>
        </p:txBody>
      </p:sp>
      <p:pic>
        <p:nvPicPr>
          <p:cNvPr id="21" name="Picture 20" descr="s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578608"/>
            <a:ext cx="11777472" cy="335346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6032" y="651052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Al cambiar la ubicación se mejoró el presostato. El gráfico queda para explicar el antes/después. No es on/off de WES y no entra en la sumatoria.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MAE  ·  Estanque Norte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On/off desde el 05/08  ·  corte 00:30  ·  000025-01  ·  08/09/2026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2331720" cy="329184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607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77B4"/>
                </a:solidFill>
                <a:latin typeface="Calibri"/>
              </a:rPr>
              <a:t>YA OPERATIVO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Noche desde 00:30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4,8 →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m³/noche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Ahorro mensual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113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m³/mes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7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Ahorro 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7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$157.920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7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01:00–05:00 en cero</a:t>
            </a:r>
          </a:p>
        </p:txBody>
      </p:sp>
      <p:pic>
        <p:nvPicPr>
          <p:cNvPr id="21" name="Picture 20" descr="nor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578608"/>
            <a:ext cx="11777472" cy="335346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6032" y="651052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Dorado = noches con 01:00–05:00 en cero. Lo de 00:00–00:30 no es noche y no se resta del $.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BOM  ·  San Ignacio 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On/off desde el 17/07  ·  corte 00:30  ·  000025-18  ·  08/09/2026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2331720" cy="329184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607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77B4"/>
                </a:solidFill>
                <a:latin typeface="Calibri"/>
              </a:rPr>
              <a:t>YA OPERATIVO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Noche desde 00:30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31,7 →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m³/noche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Ahorro mensual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886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m³/mes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7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Ahorro 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7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$1.241.100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7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umbral 24 h 145 m³/día</a:t>
            </a:r>
          </a:p>
        </p:txBody>
      </p:sp>
      <p:pic>
        <p:nvPicPr>
          <p:cNvPr id="21" name="Picture 20" descr="si5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578608"/>
            <a:ext cx="11777472" cy="335346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6032" y="651052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Antes ~5,8 m³/h toda la noche. Con control: 01:00–05:00 en cero. El tramo 00:00–00:30 no se resta.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MAQ  ·  Matriz Principal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A copiar  ·  mismo corte 00:30  ·  000025-13  ·  umbral 240 m³/día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2331720" cy="329184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607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A PROPONER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Noche típica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21,1 →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m³ desde 00:30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Proyección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634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m³/mes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7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Proyección 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7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$887.040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7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si se aprueba el on/off</a:t>
            </a:r>
          </a:p>
        </p:txBody>
      </p:sp>
      <p:pic>
        <p:nvPicPr>
          <p:cNvPr id="21" name="Picture 20" descr="ma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578608"/>
            <a:ext cx="11777472" cy="335346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6032" y="651052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La Matriz concentra Quilicura. Desde el 22/06 el día se duplicó. Meta: esa noche a cero, igual que Norte y SI500.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PAK  ·  Bazar Gourmet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A copiar  ·  corte 00:30 en Bazar (no las Sandías)  ·  000025-35  ·  umbral 250 m³/día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2331720" cy="329184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607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A PROPONER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Noche típica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29,1 →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m³ desde 00:30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Proyección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874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m³/mes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7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Proyección 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7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$1.224.300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7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eslabón de mayor noche</a:t>
            </a:r>
          </a:p>
        </p:txBody>
      </p:sp>
      <p:pic>
        <p:nvPicPr>
          <p:cNvPr id="21" name="Picture 20" descr="baz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578608"/>
            <a:ext cx="11777472" cy="335346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6032" y="651052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Cortar en Bazar, no en las Sandías: las Sandías alimentan toda la cadena DL. DL Kennedy no se propone.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PAK  ·  Andén 3-4 Matriz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A copiar  ·  corte 00:30  ·  000025-20  ·  umbral 125 m³/día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2331720" cy="329184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607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A PROPONER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Noche típica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6 →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m³ desde 00:30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Proyección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178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m³/mes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7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Proyección 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7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$249.900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7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cabecera del Andén</a:t>
            </a:r>
          </a:p>
        </p:txBody>
      </p:sp>
      <p:pic>
        <p:nvPicPr>
          <p:cNvPr id="21" name="Picture 20" descr="and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578608"/>
            <a:ext cx="11777472" cy="335346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6032" y="651052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Matriz del Andén 3-4: alimenta Locales Gast. y Restaurante. No se propone DL Kennedy. Sandías no se tocan.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AEB  ·  Matriz 1° piso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A copiar  ·  corte 00:30  ·  000025-11  ·  umbral 75 m³/día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2331720" cy="329184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607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A PROPONER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Noche típica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6,8 →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m³ desde 00:30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Proyección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205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m³/mes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7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Proyección 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7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$286.860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7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Anillo Plaza no entra en $</a:t>
            </a:r>
          </a:p>
        </p:txBody>
      </p:sp>
      <p:pic>
        <p:nvPicPr>
          <p:cNvPr id="21" name="Picture 20" descr="a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578608"/>
            <a:ext cx="11777472" cy="335346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6032" y="651052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Matriz A.A. desactivada 15/05: el caudal de noche está en el primer piso. Anillo Plaza queda con umbral de día, sin $.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46304"/>
            <a:ext cx="1143000" cy="2534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6032" y="1097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MAM  ·  Falabella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457200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DCE6F0"/>
                </a:solidFill>
                <a:latin typeface="Calibri"/>
              </a:rPr>
              <a:t>A copiar  ·  corte 00:30  ·  000025-09  ·  umbral 140 m³/día  ·  mall sale por Falabella desde 15/08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1024128"/>
            <a:ext cx="2331720" cy="329184"/>
          </a:xfrm>
          <a:prstGeom prst="roundRect">
            <a:avLst>
              <a:gd name="adj" fmla="val 8000"/>
            </a:avLst>
          </a:prstGeom>
          <a:solidFill>
            <a:srgbClr val="FFF9EB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6070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C9A227"/>
                </a:solidFill>
                <a:latin typeface="Calibri"/>
              </a:rPr>
              <a:t>A PROPONER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Noche típica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8,3 →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m³ desde 00:30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9663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Proyección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249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m³/mes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1444752"/>
            <a:ext cx="38404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7" y="1517904"/>
            <a:ext cx="3639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5A5A5A"/>
                </a:solidFill>
                <a:latin typeface="Calibri"/>
              </a:rPr>
              <a:t>Proyección 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7" y="1737360"/>
            <a:ext cx="3639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D3B66"/>
                </a:solidFill>
                <a:latin typeface="Calibri"/>
              </a:rPr>
              <a:t>$348.390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7" y="2121408"/>
            <a:ext cx="3639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solo noches con caudal</a:t>
            </a:r>
          </a:p>
        </p:txBody>
      </p:sp>
      <p:pic>
        <p:nvPicPr>
          <p:cNvPr id="21" name="Picture 20" descr="falabel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2578608"/>
            <a:ext cx="11777472" cy="335346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6032" y="651052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A5A5A"/>
                </a:solidFill>
                <a:latin typeface="Calibri"/>
              </a:rPr>
              <a:t>Placa y Falabella son alimentación alternativa, no dos fallas. Arrow + punto 6 (Pasillo 2) sigue pendiente con Don Miguel.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