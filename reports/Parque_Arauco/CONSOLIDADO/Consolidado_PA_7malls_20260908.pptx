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bm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108960"/>
            <a:ext cx="12191695" cy="3749039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Consolidado ejecutivo — 7 malls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Misma lectura del PPT de presentación, con antecedentes al día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08/09/2026   |   Emisión 14 septiembre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Antecedentes recientes: 26/08/2026 – 08/09/2026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C9A227"/>
                </a:solidFill>
                <a:latin typeface="Calibri"/>
              </a:rPr>
              <a:t>MAE  ·  MAM  ·  MAQ  ·  BOM  ·  AEB  ·  CUR  ·  PAK</a:t>
            </a:r>
          </a:p>
        </p:txBody>
      </p:sp>
      <p:pic>
        <p:nvPicPr>
          <p:cNvPr id="7" name="Picture 6" descr="logo wes.bm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6263640"/>
            <a:ext cx="1234440" cy="2736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Resumen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Semana 02/09–08/09 vs previa 26/08–01/09   ·   agosto completo y septiembre a 08/09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51560"/>
            <a:ext cx="1170432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" y="11064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Mall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1051560"/>
            <a:ext cx="86868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3896" y="1106424"/>
            <a:ext cx="795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Puntos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Agosto m³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277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Sep 1–8 m³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7725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previa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3173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actual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1051560"/>
            <a:ext cx="10515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5" y="1106424"/>
            <a:ext cx="9784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Δ semana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1051560"/>
            <a:ext cx="233172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83496" y="1106424"/>
            <a:ext cx="2258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Top punto (sem.)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5389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161848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MAE  Estación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17320" y="145389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72184" y="161848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3172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658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3.153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620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41063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962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9554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771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9516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002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867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9640" y="145389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04504" y="161848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12 %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46920" y="145389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1784" y="161848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Estanque Norte  421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1168" y="214883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231343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MAM  Maipú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17320" y="214883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72184" y="231343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3172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8658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8620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41063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4068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9554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9516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002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214883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04504" y="2313432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214883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01784" y="2313432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Placa Bancaria  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01168" y="2843783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32" y="3008375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MAQ  Quilicura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17320" y="2843783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72184" y="3008375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3172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8658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6.095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8620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41063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1.447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4068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9554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1.218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99516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002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1.269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49640" y="2843783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04504" y="3008375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4 %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46920" y="2843783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701784" y="3008375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Principal  1.269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1168" y="3538727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6032" y="3703319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BOM  Buenaventura (San Ignacio)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17320" y="3538727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72184" y="3703319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33172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8658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4.869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8620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41063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1.489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4068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9554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1.156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99516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5002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1.320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549640" y="3538727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604504" y="3703319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14 %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646920" y="3538727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01784" y="3703319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San Ignacio 500  1.225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01168" y="4233671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56032" y="4398263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AEB  El Bosque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417320" y="4233671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472184" y="4398263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33172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8658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88620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941063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4068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9554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9516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5002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549640" y="4233671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604504" y="4398263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646920" y="4233671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01784" y="4398263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1° piso  0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" y="492861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56032" y="509320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CUR  Curauma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417320" y="492861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72184" y="509320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33172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38658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8620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941063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4068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9554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99516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5002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549640" y="492861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604504" y="509320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646920" y="492861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701784" y="509320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Anillo Sur  0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1168" y="562355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56032" y="5788151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Parque Kennedy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417320" y="562355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472184" y="5788151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33172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38658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88620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941063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44068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49554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99516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05002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549640" y="562355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604504" y="5788151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646920" y="562355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01784" y="5788151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Andén  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56032" y="649224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PAK: totales de cabecera (sin cadena DL / Bazar / DL Kennedy). Cifras API WES.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Antecedentes de estos días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Ventana 26/08–08/09  ·  conexión al corte de emisión  ·  noche 00–06 en puntos clave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AHORA  ·  CONEXIÓN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Ningún punto del consolidado figura desconectado (lastUpdate &lt; 2 h).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EN CERO  ·  TODA LA 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MAM: Placa Bancaria (000025-08), Falabella (000025-09), Ripley (000025-10), Pasillo Técnico (000025-32) · residual, no es alerta, Salida ARROW (000025-33) · residual, no es alerta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MAQ: Alim. Baños (000025-34)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AEB: Matriz 1° piso (000025-11), Anillo Plaza (000025-12)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CUR: Anillo Sur (000025-37), Anillo Norte (000025-38)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PAK: Matriz Andén (000025-20), Locales Gast. (000025-21), Sandía Antigua (000025-22), Pileta (000025-23), Cascada (000025-24), Sandía Nueva (000025-28), Restaurante (000025-29)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3474720"/>
            <a:ext cx="11777472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3529584"/>
            <a:ext cx="11475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CÓMO LEER ESTOS DÍAS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3767328"/>
            <a:ext cx="1147572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Pizza Hut: 28/08 44 m³ frente a un día típico de 13. El local varía mucho (días de 3 m³ y días de 40). Es día fuerte de local, no un incidente de esta semana.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Estanque Sur: sábado 05/09 76 m³ (típico 44). Encaja con ocupación de mall (viernes/sábado altos); no se lee como corte ni como cero.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 Matriz Principal: noche 00–06 del 06/09 38,1 m³ (típico 17,9).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546811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550468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CONTEXTO DEL PPT (SIGUE VIGENTE)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705856"/>
            <a:ext cx="114757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MAE — Estanque Sur: reparación de presostatos 10/06. Pizza Hut con control nocturno desde 01/07. Estanque Norte con control desde 05/08 (00–05 h).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MAM — El mall se alimenta por Placa Bancaria o por Falabella: cuando se inyecta una, se corta la otra. Falabella reactivado 11/08.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MAQ — Matriz Principal concentra el recinto. El día se duplicó desde el 22/06; Alim. Baños es uso hábil.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BOM — San Ignacio 500 con on/off nocturno operativo desde 17/07. San Ignacio 300 queda en monitoreo.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AEB — Matriz A.A. desactivada 15/05; el recinto se lee en Matriz 1° piso y Anillo Plaza.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CUR — Anillo Norte y Sur desde el 19/05 (mayo no se grafica). Noche chica; no se propone on/off.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PAK — 000025-25/26 retirados 30/03 (reemplazo 35/36). Distrito de Lujo, Bazar Gourmet y DL Kennedy son cadena: no se suman a la cabecera.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Mall Arauco 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WES   ·   recepción 20/10/2025   ·   medioambiente.dcl@parauco.com  ·  Sala de monitores MAE  ·  Sergio Fuenzalida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867 m³ (prom. 123,9 m³/día) · Δ vs previa ↑ 12 %.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Estanque Norte (000025-01) con 421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Estanque Norte 9,9  ·  Pizza Hut 0  ·  Estanque Sur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Estanque Norte (locales mall) · Estanque Sur (sala de bomba).</a:t>
            </a:r>
          </a:p>
        </p:txBody>
      </p:sp>
      <p:pic>
        <p:nvPicPr>
          <p:cNvPr id="10" name="Picture 9" descr="mensua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421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63824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18688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57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4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344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365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24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Mall Arauco Maipú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5 puntos WES   ·   recepción 06/11/2025   ·   Miguel Rupayan  ·  Constanza Vilches  ·  Mantención: C. Bustamante, O. Cuevas y Supervisor Eléctrico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El recinto se alimenta por Placa Bancaria o por Falabella: cuando se inyecta una, se corta la otra. No se leen como dos fallas el mismo día.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Placa Bancaria (000025-08)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Placa Bancaria 0  ·  Falabella 0  ·  Ripley 0 m³.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M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7129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615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615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615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4141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628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28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628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154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640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640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640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8166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653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653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653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Mall Arauco Quilicura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06/11/2025 / relocalizado 17/02/2026   ·   Mario Freitez  ·  Tomás Saba  ·  Sebastián Araneda  ·  Mantención: I. Dustan, K. Varas, L. Méndez, C. Leyto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1.269 m³ (prom. 181,3 m³/día) · Δ vs previa ↑ 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Principal (000025-13) con 1.269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Principal 149,7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Alim. Baños (uso hábil).</a:t>
            </a:r>
          </a:p>
        </p:txBody>
      </p:sp>
      <p:pic>
        <p:nvPicPr>
          <p:cNvPr id="10" name="Picture 9" descr="mensual_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1.269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Buenaventura (San Ignacio)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18/11/2025   ·   Aliro Cortés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1.320 m³ (prom. 188,5 m³/día) · Δ vs previa ↑ 14 %.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San Ignacio 500 (000025-18) con 1.225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San Ignacio 300 0  ·  San Ignacio 500 25,1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 Ignacio 300 (monitoreo).</a:t>
            </a:r>
          </a:p>
        </p:txBody>
      </p:sp>
      <p:pic>
        <p:nvPicPr>
          <p:cNvPr id="10" name="Picture 9" descr="mensual_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B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1.225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94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Arauco El Bosque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29/10/2025 / relocalizado 16/01/2026   ·   Tamara Martínez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1° piso (000025-11)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1° piso 0  ·  Anillo Plaza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Matriz 1° piso (activo 15/05).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A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Arauco Curauma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29/04/2026 (Anillo Norte / Anillo Sur)   ·   Joceline Lazo  ·  Constanza Vilches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Anillo Sur (000025-37)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Anillo Sur 0  ·  Anillo Norte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Cambio de monitoreo: Anillo Norte y Sur desde el 19/05 (mayo no se grafica). Lámina 2: diferencia, noche y umbral.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C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Parque Arauco Kennedy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10 puntos WES   ·   recepción 12/12/2025   ·   Francisco Jeldres  ·  Paula Azolas  ·  Mantención: C. Naranjo, M. Jara, R. Moreno, R. Díaz, J. Gutiérrez, H. Fierro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Distrito Lujo (000025-27) con 2.225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Distrito Lujo 325,3  ·  Bazar Gourmet 231,3  ·  DL Kennedy 5,2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Sandía Antigua (alimenta DL) · Distrito Lujo (cadena · no suma) · Sandía Nueva (alimenta DL) · Bazar Gourmet (sale de DL).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PA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8623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109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109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109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7129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615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615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615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6355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1219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1219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1219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141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9628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628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628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154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640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640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40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96604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1468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1468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2.225 m³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1468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8166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653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653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1.500 m³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653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66729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921593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21593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75 m³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1593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Control nocturno ya operativo y propuestas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Corte se arma a las 00:30  ·  meta = cero  ·  umbral = total 24 h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5833872" cy="566928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42415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YA OPERATIVO  ·  control nocturno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98448"/>
            <a:ext cx="5559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El corte se activa a las 00:30. De 01:00 a 05:00 el consumo quedó en cero.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168249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MAE  ·  Estanque Norte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7510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Desde el 05/08. Noche 4,8 → 0 m³ desde las 00:30. 113 m³/mes ($157.920). 01:00–05:00 en cero.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87121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MAE  ·  Pizza Hut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6382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Desde el 01/07. 01:00–05:00 ya estaba en cero: el control está puesto, no suma m³ extra. Un día alto es ocupación de local.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05993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1480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BOM  ·  San Ignacio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35254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Desde el 17/07. Noche 31,7 → 0 m³ desde las 00:30. 886 m³/mes ($1.241.100). El ~2 m³ de 00:00–00:30 no es noche.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524865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MAE  ·  Estanque Sur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54126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No es on/off: presostatos 10/06. Día 88 → 28 m³. 1.826 m³/mes ($2.555.700). El mayor ahorro ya logrado.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6473952"/>
            <a:ext cx="5559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Total logrado MAE + BOM: 2.825 m³/mes  ·  $3.954.720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3056" y="987552"/>
            <a:ext cx="5833872" cy="566928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042415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 PROPONER  ·  mismo corte 00:30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298448"/>
            <a:ext cx="5559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Copiar el on/off que ya corre en Norte y SI500. Meta: esa noche a cero.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1627632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1664208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MAQ  ·  Matriz Principal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1865376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00:30. Noche 21,1 m³ → 0 = 634 m³/mes ($887.040). Umbral 24 h: 240 m³/día.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2578608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2615184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·  Bazar Gourmet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2816352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(no las Sandías). Noche 29,1 m³ → 0 = 874 m³/mes ($1.224.300). Umbral 24 h: 250 m³/día.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529584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566160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·  DL Kennedy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3767328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(no las Sandías). Noche 0,9 m³ → 0 = 27 m³/mes ($37.800). Umbral 24 h: 20 m³/día.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4480560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4517136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AEB  ·  Matriz 1° piso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4718304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en el primer piso (no Anillo). Noche 6,8 m³ → 0 = 205 m³/mes ($286.860). Umbral 24 h: 75 m³/día.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5431536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5468112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MAM  ·  Falabella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5669280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(sale por Falabella desde el 15/08). Noche 8,3 m³ → 0 = 249 m³/mes ($348.390). Umbral 140 m³/día.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6473952"/>
            <a:ext cx="5559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Si se aprueban las 5: 4.814 m³/mes  ·  $6.739.390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