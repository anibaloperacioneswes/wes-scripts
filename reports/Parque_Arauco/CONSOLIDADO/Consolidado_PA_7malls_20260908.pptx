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bmp" ContentType="image/bmp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bmp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5.png"/><Relationship Id="rId4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5.png"/><Relationship Id="rId4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rque arauco fond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108960"/>
            <a:ext cx="12191695" cy="3749039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46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WES  ·  Parque Arauco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11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Consolidado ejecutivo — 7 malls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976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Misma lectura del PPT de presentación, con antecedentes al día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DCE6F0"/>
                </a:solidFill>
                <a:latin typeface="Calibri"/>
              </a:rPr>
              <a:t>Período 01/05/2026 – 08/09/2026   |   Emisión 14 septiembre 2026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C9A227"/>
                </a:solidFill>
                <a:latin typeface="Calibri"/>
              </a:rPr>
              <a:t>Antecedentes recientes: 26/08/2026 – 08/09/2026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C9A227"/>
                </a:solidFill>
                <a:latin typeface="Calibri"/>
              </a:rPr>
              <a:t>MAE  ·  MAM  ·  MAQ  ·  BOM  ·  AEB  ·  CUR  ·  PAK</a:t>
            </a:r>
          </a:p>
        </p:txBody>
      </p:sp>
      <p:pic>
        <p:nvPicPr>
          <p:cNvPr id="7" name="Picture 6" descr="logo wes.bm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6263640"/>
            <a:ext cx="1234440" cy="27367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Resumen por recinto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Semana 02/09–08/09 vs previa 26/08–01/09   ·   agosto completo y septiembre a 08/09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51560"/>
            <a:ext cx="1170432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7744" y="1106424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Mall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17320" y="1051560"/>
            <a:ext cx="868680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53896" y="1106424"/>
            <a:ext cx="7955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Puntos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1720" y="1051560"/>
            <a:ext cx="1508760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68296" y="1106424"/>
            <a:ext cx="143560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Agosto m³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86200" y="1051560"/>
            <a:ext cx="1508760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22776" y="1106424"/>
            <a:ext cx="143560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Sep 1–8 m³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1051560"/>
            <a:ext cx="1508760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77256" y="1106424"/>
            <a:ext cx="143560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Sem. previa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95160" y="1051560"/>
            <a:ext cx="1508760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31736" y="1106424"/>
            <a:ext cx="143560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Sem. actual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49640" y="1051560"/>
            <a:ext cx="1051560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86215" y="1106424"/>
            <a:ext cx="97840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Δ semana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46920" y="1051560"/>
            <a:ext cx="2331720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83496" y="1106424"/>
            <a:ext cx="2258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Top punto (sem.)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1168" y="1453895"/>
            <a:ext cx="1170432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6032" y="1618487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MAE  Estación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17320" y="1453895"/>
            <a:ext cx="86868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72184" y="1618487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331720" y="145389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86584" y="161848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3.153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86200" y="145389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41063" y="161848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962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40680" y="145389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95544" y="161848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771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995160" y="145389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0024" y="161848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867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49640" y="1453895"/>
            <a:ext cx="10515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04504" y="1618487"/>
            <a:ext cx="9601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↑ 12 %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646920" y="1453895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01784" y="1618487"/>
            <a:ext cx="2240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Estanque Norte  421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01168" y="2148839"/>
            <a:ext cx="1170432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56032" y="2313432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MAM  Maipú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417320" y="2148839"/>
            <a:ext cx="86868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472184" y="2313432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5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331720" y="214883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386584" y="2313432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886200" y="214883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41063" y="2313432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40680" y="214883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95544" y="2313432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995160" y="214883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50024" y="2313432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549640" y="2148839"/>
            <a:ext cx="10515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604504" y="2313432"/>
            <a:ext cx="9601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n/d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646920" y="2148839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701784" y="2313432"/>
            <a:ext cx="2240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Placa Bancaria  0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01168" y="2843783"/>
            <a:ext cx="1170432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56032" y="3008375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MAQ  Quilicura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417320" y="2843783"/>
            <a:ext cx="86868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472184" y="3008375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2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331720" y="2843783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86584" y="3008375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6.095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886200" y="2843783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941063" y="3008375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1.447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440680" y="2843783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95544" y="3008375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1.218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995160" y="2843783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050024" y="3008375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1.269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549640" y="2843783"/>
            <a:ext cx="10515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604504" y="3008375"/>
            <a:ext cx="9601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↑ 4 %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646920" y="2843783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701784" y="3008375"/>
            <a:ext cx="2240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Matriz Principal  1.269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01168" y="3538727"/>
            <a:ext cx="1170432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56032" y="3703319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BOM  Buenaventura (San Ignacio)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417320" y="3538727"/>
            <a:ext cx="86868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472184" y="3703319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2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331720" y="3538727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386584" y="3703319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4.869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886200" y="3538727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941063" y="3703319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1.489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440680" y="3538727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495544" y="3703319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1.156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995160" y="3538727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050024" y="3703319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1.320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549640" y="3538727"/>
            <a:ext cx="10515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604504" y="3703319"/>
            <a:ext cx="9601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↑ 14 %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646920" y="3538727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701784" y="3703319"/>
            <a:ext cx="2240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San Ignacio 500  1.225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201168" y="4233671"/>
            <a:ext cx="1170432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56032" y="4398263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AEB  El Bosque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417320" y="4233671"/>
            <a:ext cx="86868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472184" y="4398263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2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331720" y="4233671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386584" y="4398263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3886200" y="4233671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941063" y="4398263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440680" y="4233671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95544" y="4398263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995160" y="4233671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050024" y="4398263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8549640" y="4233671"/>
            <a:ext cx="10515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604504" y="4398263"/>
            <a:ext cx="9601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n/d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9646920" y="4233671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701784" y="4398263"/>
            <a:ext cx="2240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Matriz 1° piso  0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201168" y="4928615"/>
            <a:ext cx="1170432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56032" y="5093207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CUR  Curauma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417320" y="4928615"/>
            <a:ext cx="86868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472184" y="5093207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2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2331720" y="492861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386584" y="509320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886200" y="492861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941063" y="509320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5440680" y="492861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495544" y="509320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6995160" y="492861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050024" y="509320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8549640" y="4928615"/>
            <a:ext cx="10515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604504" y="5093207"/>
            <a:ext cx="9601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n/d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9646920" y="4928615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9701784" y="5093207"/>
            <a:ext cx="2240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Anillo Sur  0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01168" y="5623559"/>
            <a:ext cx="1170432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256032" y="5788151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PAK  Parque Kennedy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1417320" y="5623559"/>
            <a:ext cx="86868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472184" y="5788151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7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331720" y="562355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386584" y="5788151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886200" y="562355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3941063" y="5788151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440680" y="562355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495544" y="5788151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6995160" y="562355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050024" y="5788151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8549640" y="5623559"/>
            <a:ext cx="10515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8604504" y="5788151"/>
            <a:ext cx="9601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n/d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9646920" y="5623559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701784" y="5788151"/>
            <a:ext cx="2240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Matriz Andén  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56032" y="649224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PAK: totales de cabecera (sin cadena DL / Bazar / DL Kennedy). Cifras API WES.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Antecedentes de estos días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Ventana 26/08–08/09  ·  conexión al corte de emisión  ·  noche 00–06 en puntos clave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06440" cy="23317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78992"/>
            <a:ext cx="5532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AHORA  ·  CONEXIÓN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353312"/>
            <a:ext cx="553212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Ningún punto del consolidado figura desconectado (lastUpdate &lt; 2 h).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024128"/>
            <a:ext cx="580644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18504" y="1078992"/>
            <a:ext cx="5532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77B4"/>
                </a:solidFill>
                <a:latin typeface="Calibri"/>
              </a:rPr>
              <a:t>EN CERO  ·  TODA LA VENTANA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8504" y="1353312"/>
            <a:ext cx="553212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MAM: Placa Bancaria (000025-08), Falabella (000025-09), Ripley (000025-10), Pasillo Técnico (000025-32) · residual, no es alerta, Salida ARROW (000025-33) · residual, no es alerta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MAQ: Alim. Baños (000025-34)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AEB: Matriz 1° piso (000025-11), Anillo Plaza (000025-12)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CUR: Anillo Sur (000025-37), Anillo Norte (000025-38)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PAK: Matriz Andén (000025-20), Locales Gast. (000025-21), Sandía Antigua (000025-22), Pileta (000025-23), Cascada (000025-24), Sandía Nueva (000025-28), Restaurante (000025-29)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168" y="3474720"/>
            <a:ext cx="11777472" cy="1874519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3529584"/>
            <a:ext cx="11475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77B4"/>
                </a:solidFill>
                <a:latin typeface="Calibri"/>
              </a:rPr>
              <a:t>CÓMO LEER ESTOS DÍAS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" y="3767328"/>
            <a:ext cx="11475720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MAE Pizza Hut: 28/08 44 m³ frente a un día típico de 13. El local varía mucho (días de 3 m³ y días de 40). Es día fuerte de local, no un incidente de esta semana.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MAE Estanque Sur: sábado 05/09 76 m³ (típico 44). Encaja con ocupación de mall (viernes/sábado altos); no se lee como corte ni como cero.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MAQ Matriz Principal: noche 00–06 del 06/09 38,1 m³ (típico 17,9).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168" y="5468112"/>
            <a:ext cx="11777472" cy="117043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" y="550468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CONTEXTO DEL PPT (SIGUE VIGENTE)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" y="5705856"/>
            <a:ext cx="1147572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 MAE — Estanque Sur: reparación de presostatos 10/06. Pizza Hut con control nocturno desde 01/07. Estanque Norte con control desde 05/08 (00–05 h).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 MAM — El mall se alimenta por Placa Bancaria o por Falabella: cuando se inyecta una, se corta la otra. Falabella reactivado 11/08.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 MAQ — Matriz Principal concentra el recinto. El día se duplicó desde el 22/06; Alim. Baños es uso hábil.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 BOM — San Ignacio 500 con on/off nocturno operativo desde 17/07. San Ignacio 300 queda en monitoreo.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 AEB — Matriz A.A. desactivada 15/05; el recinto se lee en Matriz 1° piso y Anillo Plaza.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 CUR — Anillo Norte y Sur desde el 19/05 (mayo no se grafica). Noche chica; no se propone on/off.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 PAK — 000025-25/26 retirados 30/03 (reemplazo 35/36). Distrito de Lujo, Bazar Gourmet y DL Kennedy son cadena: no se suman a la cabecera.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Mall Arauco Estación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4 puntos WES   ·   recepción 20/10/2025   ·   medioambiente.dcl@parauco.com  ·  Sala de monitores MAE  ·  Sergio Fuenzalida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4173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2412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  ·  ESTOS DÍAS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25296"/>
            <a:ext cx="11475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Semana 02/09–08/09: 867 m³ (prom. 123,9 m³/día) · Δ vs previa ↑ 12 %.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Mayor aporte de la semana: Estanque Norte (000025-01) con 421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Noche 00–06 (suma semana): Estanque Norte 9,9  ·  Pizza Hut 0  ·  Estanque Sur 0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Notas de puntos: Estanque Norte (locales mall) · Estanque Sur (sala de bomba).</a:t>
            </a:r>
          </a:p>
        </p:txBody>
      </p:sp>
      <p:pic>
        <p:nvPicPr>
          <p:cNvPr id="10" name="Picture 9" descr="mensual_M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2542032"/>
            <a:ext cx="5806440" cy="2391235"/>
          </a:xfrm>
          <a:prstGeom prst="rect">
            <a:avLst/>
          </a:prstGeom>
        </p:spPr>
      </p:pic>
      <p:pic>
        <p:nvPicPr>
          <p:cNvPr id="11" name="Picture 10" descr="dias_MA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542032"/>
            <a:ext cx="5806440" cy="22136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01168" y="5074920"/>
            <a:ext cx="2889504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5129783"/>
            <a:ext cx="27980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Estanque Norte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513831"/>
            <a:ext cx="27980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421 m³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5897880"/>
            <a:ext cx="27980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locales mall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63824" y="5074920"/>
            <a:ext cx="2889504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18688" y="5129783"/>
            <a:ext cx="27980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Pizza Hut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18688" y="5513831"/>
            <a:ext cx="27980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57 m³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18688" y="5897880"/>
            <a:ext cx="27980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000025-07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5074920"/>
            <a:ext cx="2889504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81344" y="5129783"/>
            <a:ext cx="27980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Estanque Sur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344" y="5513831"/>
            <a:ext cx="27980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365 m³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1344" y="5897880"/>
            <a:ext cx="27980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sala de bomba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89136" y="5074920"/>
            <a:ext cx="2889504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0" y="5129783"/>
            <a:ext cx="27980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Baños Públicos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5513831"/>
            <a:ext cx="27980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24 m³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5897880"/>
            <a:ext cx="27980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MAM  ·  Mall Arauco Maipú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5 puntos WES   ·   recepción 06/11/2025   ·   Miguel Rupayan  ·  Constanza Vilches  ·  Mantención: C. Bustamante, O. Cuevas y Supervisor Eléctrico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4173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2412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  ·  ESTOS DÍAS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25296"/>
            <a:ext cx="11475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Semana 02/09–08/09: 0 m³ (prom. 0 m³/día) · Δ vs previa n/d.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El recinto se alimenta por Placa Bancaria o por Falabella: cuando se inyecta una, se corta la otra. No se leen como dos fallas el mismo día.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Mayor aporte de la semana: Placa Bancaria (000025-08) con 0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Noche 00–06 (suma semana): Placa Bancaria 0  ·  Falabella 0  ·  Ripley 0 m³.</a:t>
            </a:r>
          </a:p>
        </p:txBody>
      </p:sp>
      <p:pic>
        <p:nvPicPr>
          <p:cNvPr id="10" name="Picture 9" descr="mensual_M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2542032"/>
            <a:ext cx="5806440" cy="2385316"/>
          </a:xfrm>
          <a:prstGeom prst="rect">
            <a:avLst/>
          </a:prstGeom>
        </p:spPr>
      </p:pic>
      <p:pic>
        <p:nvPicPr>
          <p:cNvPr id="11" name="Picture 10" descr="dias_M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542032"/>
            <a:ext cx="5806440" cy="22136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01168" y="5074920"/>
            <a:ext cx="229697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5129783"/>
            <a:ext cx="22055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Placa Bancaria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513831"/>
            <a:ext cx="22055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5897880"/>
            <a:ext cx="22055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000025-08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71292" y="5074920"/>
            <a:ext cx="229697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26156" y="5129783"/>
            <a:ext cx="22055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Ripley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26156" y="5513831"/>
            <a:ext cx="22055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26156" y="5897880"/>
            <a:ext cx="22055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000025-10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41417" y="5074920"/>
            <a:ext cx="229697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96281" y="5129783"/>
            <a:ext cx="22055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Falabella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96281" y="5513831"/>
            <a:ext cx="22055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96281" y="5897880"/>
            <a:ext cx="22055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activo 11/08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1542" y="5074920"/>
            <a:ext cx="229697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66406" y="5129783"/>
            <a:ext cx="22055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Pasillo Técnico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6406" y="5513831"/>
            <a:ext cx="22055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66406" y="5897880"/>
            <a:ext cx="22055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residual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81667" y="5074920"/>
            <a:ext cx="229697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36531" y="5129783"/>
            <a:ext cx="22055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Salida ARROW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6531" y="5513831"/>
            <a:ext cx="22055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36531" y="5897880"/>
            <a:ext cx="22055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residual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MAQ  ·  Mall Arauco Quilicura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2 puntos WES   ·   recepción 06/11/2025 / relocalizado 17/02/2026   ·   Mario Freitez  ·  Tomás Saba  ·  Sebastián Araneda  ·  Mantención: I. Dustan, K. Varas, L. Méndez, C. Leyto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4173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2412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  ·  ESTOS DÍAS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25296"/>
            <a:ext cx="11475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Semana 02/09–08/09: 1.269 m³ (prom. 181,3 m³/día) · Δ vs previa ↑ 4 %.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Mayor aporte de la semana: Matriz Principal (000025-13) con 1.269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Noche 00–06 (suma semana): Matriz Principal 149,7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Notas de puntos: Alim. Baños (uso hábil).</a:t>
            </a:r>
          </a:p>
        </p:txBody>
      </p:sp>
      <p:pic>
        <p:nvPicPr>
          <p:cNvPr id="10" name="Picture 9" descr="mensual_MAQ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2542032"/>
            <a:ext cx="5806440" cy="2391235"/>
          </a:xfrm>
          <a:prstGeom prst="rect">
            <a:avLst/>
          </a:prstGeom>
        </p:spPr>
      </p:pic>
      <p:pic>
        <p:nvPicPr>
          <p:cNvPr id="11" name="Picture 10" descr="dias_MAQ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542032"/>
            <a:ext cx="5806440" cy="22136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01168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Matriz Principal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1.269 m³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000025-13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Alim. Baños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1344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1344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uso hábil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BOM  ·  Buenaventura (San Ignacio)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2 puntos WES   ·   recepción 18/11/2025   ·   Aliro Cortés  ·  Tomás Saba  ·  Sebastián Araneda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4173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2412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  ·  ESTOS DÍAS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25296"/>
            <a:ext cx="11475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Semana 02/09–08/09: 1.320 m³ (prom. 188,5 m³/día) · Δ vs previa ↑ 14 %.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Mayor aporte de la semana: San Ignacio 500 (000025-18) con 1.225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Noche 00–06 (suma semana): San Ignacio 300 0  ·  San Ignacio 500 25,1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Notas de puntos: San Ignacio 300 (monitoreo).</a:t>
            </a:r>
          </a:p>
        </p:txBody>
      </p:sp>
      <p:pic>
        <p:nvPicPr>
          <p:cNvPr id="10" name="Picture 9" descr="mensual_B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2542032"/>
            <a:ext cx="5806440" cy="2391235"/>
          </a:xfrm>
          <a:prstGeom prst="rect">
            <a:avLst/>
          </a:prstGeom>
        </p:spPr>
      </p:pic>
      <p:pic>
        <p:nvPicPr>
          <p:cNvPr id="11" name="Picture 10" descr="dias_BO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542032"/>
            <a:ext cx="5806440" cy="22136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01168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San Ignacio 500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1.225 m³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000025-18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San Ignacio 300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1344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94 m³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1344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monitoreo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AEB  ·  Arauco El Bosque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2 puntos WES   ·   recepción 29/10/2025 / relocalizado 16/01/2026   ·   Tamara Martínez  ·  Tomás Saba  ·  Sebastián Araneda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4173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2412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  ·  ESTOS DÍAS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25296"/>
            <a:ext cx="11475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Semana 02/09–08/09: 0 m³ (prom. 0 m³/día) · Δ vs previa n/d.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Mayor aporte de la semana: Matriz 1° piso (000025-11) con 0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Noche 00–06 (suma semana): Matriz 1° piso 0  ·  Anillo Plaza 0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Notas de puntos: Matriz 1° piso (activo 15/05).</a:t>
            </a:r>
          </a:p>
        </p:txBody>
      </p:sp>
      <p:pic>
        <p:nvPicPr>
          <p:cNvPr id="10" name="Picture 9" descr="mensual_M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2542032"/>
            <a:ext cx="5806440" cy="2385316"/>
          </a:xfrm>
          <a:prstGeom prst="rect">
            <a:avLst/>
          </a:prstGeom>
        </p:spPr>
      </p:pic>
      <p:pic>
        <p:nvPicPr>
          <p:cNvPr id="11" name="Picture 10" descr="dias_A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542032"/>
            <a:ext cx="5806440" cy="22136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01168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Matriz 1° piso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activo 15/05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Anillo Plaza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1344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1344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CUR  ·  Arauco Curauma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2 puntos WES   ·   recepción 29/04/2026 (Anillo Norte / Anillo Sur)   ·   Joceline Lazo  ·  Constanza Vilches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4173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2412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  ·  ESTOS DÍAS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25296"/>
            <a:ext cx="11475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Semana 02/09–08/09: 0 m³ (prom. 0 m³/día) · Δ vs previa n/d.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Mayor aporte de la semana: Anillo Sur (000025-37) con 0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Noche 00–06 (suma semana): Anillo Sur 0  ·  Anillo Norte 0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Cambio de monitoreo: Anillo Norte y Sur desde el 19/05 (mayo no se grafica). Lámina 2: diferencia, noche y umbral.</a:t>
            </a:r>
          </a:p>
        </p:txBody>
      </p:sp>
      <p:pic>
        <p:nvPicPr>
          <p:cNvPr id="10" name="Picture 9" descr="mensual_M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2542032"/>
            <a:ext cx="5806440" cy="2385316"/>
          </a:xfrm>
          <a:prstGeom prst="rect">
            <a:avLst/>
          </a:prstGeom>
        </p:spPr>
      </p:pic>
      <p:pic>
        <p:nvPicPr>
          <p:cNvPr id="11" name="Picture 10" descr="dias_CU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542032"/>
            <a:ext cx="5806440" cy="22136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01168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Anillo Norte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000025-38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Anillo Sur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1344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1344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PAK  ·  Parque Arauco Kennedy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10 puntos WES   ·   recepción 12/12/2025   ·   Francisco Jeldres  ·  Paula Azolas  ·  Mantención: C. Naranjo, M. Jara, R. Moreno, R. Díaz, J. Gutiérrez, H. Fierro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4173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2412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  ·  ESTOS DÍAS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25296"/>
            <a:ext cx="11475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Semana 02/09–08/09: 0 m³ (prom. 0 m³/día) · Δ vs previa n/d.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Mayor aporte de la semana: Distrito Lujo (000025-27) con 2.225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Noche 00–06 (suma semana): Distrito Lujo 325,3  ·  Bazar Gourmet 231,3  ·  DL Kennedy 5,2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Notas de puntos: Sandía Antigua (alimenta DL) · Distrito Lujo (cadena · no suma) · Sandía Nueva (alimenta DL) · Bazar Gourmet (sale de DL).</a:t>
            </a:r>
          </a:p>
        </p:txBody>
      </p:sp>
      <p:pic>
        <p:nvPicPr>
          <p:cNvPr id="10" name="Picture 9" descr="mensual_M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2542032"/>
            <a:ext cx="5806440" cy="2385316"/>
          </a:xfrm>
          <a:prstGeom prst="rect">
            <a:avLst/>
          </a:prstGeom>
        </p:spPr>
      </p:pic>
      <p:pic>
        <p:nvPicPr>
          <p:cNvPr id="11" name="Picture 10" descr="dias_PA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542032"/>
            <a:ext cx="5806440" cy="22136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01168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Matriz Andén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86230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41094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Locales Gast.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41094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1094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000025-21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71292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26156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Sandía Antigua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26156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6156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alimenta DL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56355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11219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Sandía Nueva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11219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11219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alimenta DL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41417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8C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96281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Restaurante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96281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96281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000025-29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26480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81344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Pileta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81344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81344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000025-23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1542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66406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Cascada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66406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66406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000025-24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496604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51468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Distrito Lujo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51468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2.225 m³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51468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cadena · no suma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81667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36531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Bazar Gourmet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36531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1.500 m³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36531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sale de DL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866729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921593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DL Kennedy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21593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75 m³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21593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sale de DL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Control nocturno ya operativo y propuestas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Corte se arma a las 00:30  ·  meta = cero  ·  umbral = total 24 h  ·  08/09/2026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5833872" cy="566928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42415"/>
            <a:ext cx="5559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YA OPERATIVO  ·  control nocturno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98448"/>
            <a:ext cx="5559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El corte se activa a las 00:30. De 01:00 a 05:00 el consumo quedó en cero.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1682496"/>
            <a:ext cx="5541264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737360"/>
            <a:ext cx="53218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MAE  ·  Estanque Norte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75104"/>
            <a:ext cx="53218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Desde el 05/08. Noche 4,8 → 0 m³ desde las 00:30. 113 m³/mes ($157.920). 01:00–05:00 en cero.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2871216"/>
            <a:ext cx="5541264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926080"/>
            <a:ext cx="53218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MAE  ·  Pizza Hut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163824"/>
            <a:ext cx="53218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Desde el 01/07. 01:00–05:00 ya estaba en cero: el control está puesto, no suma m³ extra. Un día alto es ocupación de local.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" y="4059936"/>
            <a:ext cx="5541264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14800"/>
            <a:ext cx="53218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BOM  ·  San Ignacio 500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352544"/>
            <a:ext cx="53218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Desde el 17/07. Noche 31,7 → 0 m³ desde las 00:30. 886 m³/mes ($1.241.100). El ~2 m³ de 00:00–00:30 no es noche.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7472" y="5248656"/>
            <a:ext cx="5541264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53218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MAE  ·  Estanque Sur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541264"/>
            <a:ext cx="53218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No es on/off: presostatos 10/06. Día 88 → 28 m³. 1.826 m³/mes ($2.555.700). El mayor ahorro ya logrado.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" y="6473952"/>
            <a:ext cx="555955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Total logrado MAE + BOM: 2.825 m³/mes  ·  $3.954.720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63056" y="987552"/>
            <a:ext cx="5833872" cy="566928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1042415"/>
            <a:ext cx="5559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A PROPONER  ·  mismo corte 00:30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1298448"/>
            <a:ext cx="5559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Copiar el on/off que ya corre en Norte y SI500. Meta: esa noche a cero.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1682496"/>
            <a:ext cx="5541264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1737360"/>
            <a:ext cx="53218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MAQ  ·  Matriz Principal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1975104"/>
            <a:ext cx="53218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On/off 00:30. Noche típica 21,1 m³ → 0 = 634 m³/mes ($887.040). Umbral 24 h: 240 m³/día.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2871216"/>
            <a:ext cx="5541264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2926080"/>
            <a:ext cx="53218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PAK  ·  Bazar Gourmet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19088" y="3163824"/>
            <a:ext cx="53218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On/off 00:30 en Bazar (no en las Sandías). Noche 29,1 m³ → 0 = 874 m³/mes ($1.224.300). Umbrales: DL 390 · Bazar 250 · DL Kennedy 20.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4059936"/>
            <a:ext cx="5541264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4114800"/>
            <a:ext cx="53218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AEB  ·  Anillo Plaza y Matriz 1° piso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9088" y="4352544"/>
            <a:ext cx="53218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Proponer on/off 00:30. Umbrales 24 h: Anillo 22 · Matriz 75 m³/día.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09360" y="5248656"/>
            <a:ext cx="5541264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19088" y="5303520"/>
            <a:ext cx="53218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MAM / CUR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19088" y="5541264"/>
            <a:ext cx="53218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Maipú: sin on/off; a la espera de Arrow + punto 6 (Pasillo 2). Curauma: noche chica, sin on/off. Umbrales Sur 14 · Norte 13.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6473952"/>
            <a:ext cx="555955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Si se aprueban MAQ + PAK: 4.333 m³/mes  ·  $6.066.060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