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Consolidado ejecutivo — 7 malls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Misma lectura del PPT de presentación, con antecedentes al día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08/09/2026   |   Emisión 14 septiembre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Antecedentes recientes: 26/08/2026 – 08/09/2026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Resumen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Semana 02/09–08/09 vs previa 26/08–01/09   ·   agosto completo y septiembre a 08/09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51560"/>
            <a:ext cx="1170432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1064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051560"/>
            <a:ext cx="86868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6" y="1106424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Agosto 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Sep 1–8 m³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previa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1051560"/>
            <a:ext cx="10515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1106424"/>
            <a:ext cx="9784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Δ semana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51560"/>
            <a:ext cx="233172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83496" y="1106424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Top punto (sem.)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5389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61848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MAE  Estación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145389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161848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41063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962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9554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867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145389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4504" y="161848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12 %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145389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1784" y="161848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Estanque Norte  421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214883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1343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Maipú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214883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231343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8620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41063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9554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214883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04504" y="2313432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14883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01784" y="2313432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Placa Bancaria 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01168" y="2843783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3008375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Quilicura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20" y="2843783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300837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3172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6.095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8620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41063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1.447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9554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9516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1.269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49640" y="2843783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4504" y="3008375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46920" y="2843783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01784" y="3008375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Principal  1.269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" y="3538727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" y="370331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BOM  Buenaventura (San Ignacio)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3538727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72184" y="3703319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172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4.869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41063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1.489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4068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9554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1.156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9516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002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1.320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49640" y="3538727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504" y="3703319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14 %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6920" y="3538727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01784" y="3703319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 Ignacio 500  1.225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01168" y="4233671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4398263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El Bosque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17320" y="4233671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2184" y="4398263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3172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41063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4068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9554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9516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5002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9640" y="423367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04504" y="4398263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646920" y="4233671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4398263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1° piso  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492861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032" y="509320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CUR  Curauma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417320" y="492861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2184" y="509320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33172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38658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8620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41063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4068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9554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9516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49640" y="492861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04504" y="509320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646920" y="492861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701784" y="509320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Anillo Sur  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" y="562355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5788151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Parque Kennedy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417320" y="562355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788151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38658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3.094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8620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41063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797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4068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9554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718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99516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05002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706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549640" y="562355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604504" y="5788151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↓ 2 %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646920" y="562355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01784" y="5788151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Andén 3-4 Matriz  706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6032" y="64922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PAK: totales de cabecera (sin cadena DL / Bazar / DL Kennedy). Cifras API WES.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Antecedentes de estos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Ventana 26/08–08/09  ·  conexión al corte de emisión  ·  noche 00–06 en puntos clave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AHORA  ·  CONEXIÓN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Ningún punto del consolidado figura desconectado (lastUpdate &lt; 2 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EN CERO  ·  TODA LA 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Placa Bancaria (000025-08), Falabella (000025-09), Ripley (000025-10), Pasillo Técnico (000025-32) · residual, no es alerta, Salida ARROW (000025-33) · residual, no es alerta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MAQ: Alim. Baños (000025-34)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AEB: Matriz 1° piso (000025-11), Anillo Plaza (000025-12)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CUR: Anillo Sur (000025-37), Anillo Norte (000025-38)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PAK: Locales Gast. (000025-21), Sandía Antigua (000025-22), Pileta (000025-23), Cascada (000025-24), Sandía Nueva (000025-28), Restaurante (000025-29)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3474720"/>
            <a:ext cx="11777472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29584"/>
            <a:ext cx="11475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CÓMO LEER ESTOS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767328"/>
            <a:ext cx="1147572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Pizza Hut: 28/08 44 m³ frente a un día típico de 13. El local varía mucho (días de 3 m³ y días de 40). Es día fuerte de local, no un incidente de esta semana.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Estanque Sur: sábado 05/09 76 m³ (típico 44). Encaja con ocupación de mall (viernes/sábado altos); no se lee como corte ni como cero.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 Matriz Principal: noche 00–06 del 06/09 38,1 m³ (típico 17,9).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546811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50468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CONTEXTO DEL PPT (SIGUE VIGENTE)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705856"/>
            <a:ext cx="114757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MAE — Estanque Norte con control desde 05/08 (00–05 h). Pizza Hut con control nocturno desde 01/07. Estanque Sur: mejora de presostato al relocalizar (10/06); no es control WES.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MAM — El mall se alimenta por Placa Bancaria o por Falabella: cuando se inyecta una, se corta la otra. Falabella reactivado 11/08.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MAQ — Matriz Principal concentra el recinto. El día se duplicó desde el 22/06; Alim. Baños es uso hábil.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BOM — San Ignacio 500 con on/off nocturno operativo desde 17/07. San Ignacio 300 queda en monitoreo.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AEB — Matriz A.A. desactivada 15/05; el recinto se lee en Matriz 1° piso y Anillo Plaza.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CUR — Anillo Norte y Sur desde el 19/05 (mayo no se grafica). Noche chica; no se propone on/off.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PAK — 000025-25/26 retirados 30/03 (reemplazo 35/36). Distrito de Lujo, Bazar Gourmet y DL Kennedy son cadena: no se suman a la cabecera.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WES   ·   recepción 20/10/2025   ·   medioambiente.dcl@parauco.com  ·  Sala de monitores MAE  ·  Sergio Fuenzalida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867 m³ (prom. 123,9 m³/día) · Δ vs previa ↑ 12 %.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Estanque Norte (000025-01) con 421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Estanque Norte 9,9  ·  Pizza Hut 0  ·  Estanque Sur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Estanque Norte (locales mall) · Estanque Sur (sala de bomba).</a:t>
            </a:r>
          </a:p>
        </p:txBody>
      </p:sp>
      <p:pic>
        <p:nvPicPr>
          <p:cNvPr id="10" name="Picture 9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421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63824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18688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365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24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WES   ·   recepción 06/11/2025   ·   Miguel Rupayan  ·  Constanza Vilches  ·  Mantención: C. Bustamante, O. Cuevas y Supervisor Eléctrico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El recinto se alimenta por Placa Bancaria o por Falabella: cuando se inyecta una, se corta la otra. No se leen como dos fallas el mismo día.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Placa Bancaria (000025-08)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Placa Bancaria 0  ·  Falabella 0  ·  Ripley 0 m³.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7129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615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141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628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628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154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640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40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40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166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653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653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653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06/11/2025 / relocalizado 17/02/2026   ·   Mario Freitez  ·  Tomás Saba  ·  Sebastián Araneda  ·  Mantención: I. Dustan, K. Varas, L. Méndez, C. Leyto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1.269 m³ (prom. 181,3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Principal (000025-13) con 1.269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Principal 149,7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Alim. Baños (uso hábil).</a:t>
            </a:r>
          </a:p>
        </p:txBody>
      </p:sp>
      <p:pic>
        <p:nvPicPr>
          <p:cNvPr id="10" name="Picture 9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1.269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18/11/2025   ·   Aliro Cortés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1.320 m³ (prom. 188,5 m³/día) · Δ vs previa ↑ 14 %.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 Ignacio 500 (000025-18) con 1.225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San Ignacio 300 0  ·  San Ignacio 500 25,1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 Ignacio 300 (monitoreo).</a:t>
            </a:r>
          </a:p>
        </p:txBody>
      </p:sp>
      <p:pic>
        <p:nvPicPr>
          <p:cNvPr id="10" name="Picture 9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B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1.225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29/10/2025 / relocalizado 16/01/2026   ·   Tamara Martínez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1° piso (000025-11)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1° piso 0  ·  Anillo Plaza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Matriz 1° piso (activo 15/05).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29/04/2026 (Anillo Norte / Anillo Sur)   ·   Joceline Lazo  ·  Constanza Vilches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Anillo Sur (000025-37)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Anillo Sur 0  ·  Anillo Norte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Cambio de monitoreo: Anillo Norte y Sur desde el 19/05 (mayo no se grafica). Lámina 2: diferencia, noche y umbral.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C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WES   ·   recepción 12/12/2025   ·   Francisco Jeldres  ·  Paula Azolas  ·  Mantención: C. Naranjo, M. Jara, R. Moreno, R. Díaz, J. Gutiérrez, H. Fierro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706 m³ (prom. 100,8 m³/día) · Δ vs previa ↓ 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Distrito Lujo (000025-27) con 2.225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Distrito Lujo 325,3  ·  Bazar Gourmet 231,3  ·  DL Kennedy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Sandía Antigua (alimenta DL) · Distrito Lujo (cadena · no suma) · Sandía Nueva (alimenta DL) · Bazar Gourmet (sale de DL).</a:t>
            </a:r>
          </a:p>
        </p:txBody>
      </p:sp>
      <p:pic>
        <p:nvPicPr>
          <p:cNvPr id="10" name="Picture 9" descr="mensual_P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P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Andén 3-4 Matriz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706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623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109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09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09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129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615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615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615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6355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1219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1219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1219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141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628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28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28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154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640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640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40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96604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1468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1468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2.225 m³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1468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166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653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653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1.500 m³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653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66729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21593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1593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75 m³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1593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Control nocturno ya operativo y propuestas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Corte se arma a las 00:30  ·  meta = cero  ·  umbral = total 24 h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YA OPERATIVO  ·  control WES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98448"/>
            <a:ext cx="5559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El corte se activa a las 00:30. De 01:00 a 05:00 el consumo quedó en cero. Estanque Sur no entra: fue mejora de presostato al relocalizar, no un control WES.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75564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MAE  ·  Estanque Norte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2140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05/08. Noche 4,8 → 0 m³ desde las 00:30. 113 m³/mes ($157.920). 01:00–05:00 en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21868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MAE  ·  Pizza Hut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8444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01/07. 01:00–05:00 ya estaba en cero: el control está puesto, no suma m³ extra. Un día alto es ocupación de local.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68172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BOM  ·  San Ignacio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4748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17/07. Noche 31,7 → 0 m³ desde las 00:30. 886 m³/mes ($1.241.100). El ~2 m³ de 00:00–00:30 no es noche.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Total control WES: 999 m³/mes  ·  $1.399.020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 PROPONER  ·  mismo corte 00:30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Copiar el on/off que ya corre en Norte y SI500. Meta: esa noche a cero.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627632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664208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1865376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00:30. Noche 21,1 m³ → 0 = 634 m³/mes ($887.040). Umbral 24 h: 240 m³/día.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578608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615184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Bazar Gourmet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816352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(no las Sandías). Noche 29,1 m³ → 0 = 874 m³/mes ($1.224.300). Umbral 250 m³/día.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529584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566160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Andén 3-4 Matriz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767328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la matriz del Andén (no DL Kennedy). Noche 6 m³ → 0 = 178 m³/mes ($249.900). Umbral 125 m³/día.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480560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517136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·  Matriz 1° piso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718304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el primer piso (no Anillo). Noche 6,8 m³ → 0 = 205 m³/mes ($286.860). Umbral 75 m³/día.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431536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468112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·  Falabella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6692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(sale por Falabella desde el 15/08). Noche 8,3 m³ → 0 = 249 m³/mes ($348.390). Umbral 140 m³/día.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Si se aprueban las 5: 3.139 m³/mes  ·  $4.395.090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Proyección: ya operativo y a copiar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Verde = control WES  ·  dorado = propuesta  ·  tarifa $1.400/m³  ·  08/09/2026</a:t>
            </a:r>
          </a:p>
        </p:txBody>
      </p:sp>
      <p:pic>
        <p:nvPicPr>
          <p:cNvPr id="7" name="Picture 6" descr="futuros_puntos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24128"/>
            <a:ext cx="11658600" cy="6088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6032" y="6473952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Ya operativo 999 m³/mes  ·  si se aprueban las 5: 3.139 m³/mes  ·  $4.395.090  ·  Sur no entra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