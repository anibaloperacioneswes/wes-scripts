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bm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108960"/>
            <a:ext cx="12191695" cy="3749039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WES  ·  Parque Arauco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Consolidado ejecutivo — 7 malls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Misma lectura del PPT de presentación, con antecedentes al día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DCE6F0"/>
                </a:solidFill>
                <a:latin typeface="Calibri"/>
              </a:rPr>
              <a:t>Período 01/05/2026 – 08/09/2026   |   Emisión 9 septiembre 2026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C9A227"/>
                </a:solidFill>
                <a:latin typeface="Calibri"/>
              </a:rPr>
              <a:t>Antecedentes recientes: 26/08/2026 – 08/09/2026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C9A227"/>
                </a:solidFill>
                <a:latin typeface="Calibri"/>
              </a:rPr>
              <a:t>MAE  ·  MAM  ·  MAQ  ·  BOM  ·  AEB  ·  CUR  ·  PAK</a:t>
            </a:r>
          </a:p>
        </p:txBody>
      </p:sp>
      <p:pic>
        <p:nvPicPr>
          <p:cNvPr id="7" name="Picture 6" descr="logo wes.b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6263640"/>
            <a:ext cx="1234440" cy="2736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Resumen por recinto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Semana 02/09–08/09 vs previa 26/08–01/09   ·   agosto completo y septiembre a 08/09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51560"/>
            <a:ext cx="1170432" cy="347472"/>
          </a:xfrm>
          <a:prstGeom prst="roundRect">
            <a:avLst>
              <a:gd name="adj" fmla="val 8000"/>
            </a:avLst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1064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Mall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051560"/>
            <a:ext cx="868680" cy="347472"/>
          </a:xfrm>
          <a:prstGeom prst="roundRect">
            <a:avLst>
              <a:gd name="adj" fmla="val 8000"/>
            </a:avLst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3896" y="110642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Puntos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051560"/>
            <a:ext cx="1508760" cy="347472"/>
          </a:xfrm>
          <a:prstGeom prst="roundRect">
            <a:avLst>
              <a:gd name="adj" fmla="val 8000"/>
            </a:avLst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68296" y="110642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Agosto m³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1051560"/>
            <a:ext cx="1508760" cy="347472"/>
          </a:xfrm>
          <a:prstGeom prst="roundRect">
            <a:avLst>
              <a:gd name="adj" fmla="val 8000"/>
            </a:avLst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22776" y="110642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Sep 1–8 m³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1051560"/>
            <a:ext cx="1508760" cy="347472"/>
          </a:xfrm>
          <a:prstGeom prst="roundRect">
            <a:avLst>
              <a:gd name="adj" fmla="val 8000"/>
            </a:avLst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77256" y="110642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Sem. previa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1051560"/>
            <a:ext cx="1508760" cy="347472"/>
          </a:xfrm>
          <a:prstGeom prst="roundRect">
            <a:avLst>
              <a:gd name="adj" fmla="val 8000"/>
            </a:avLst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31736" y="110642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Sem. actual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1051560"/>
            <a:ext cx="1051560" cy="347472"/>
          </a:xfrm>
          <a:prstGeom prst="roundRect">
            <a:avLst>
              <a:gd name="adj" fmla="val 8000"/>
            </a:avLst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5" y="110642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Δ semana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1051560"/>
            <a:ext cx="2331720" cy="347472"/>
          </a:xfrm>
          <a:prstGeom prst="roundRect">
            <a:avLst>
              <a:gd name="adj" fmla="val 8000"/>
            </a:avLst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83496" y="1106424"/>
            <a:ext cx="2258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Top punto (sem.)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" y="1453895"/>
            <a:ext cx="1170432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1618487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MAE  Estación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1453895"/>
            <a:ext cx="86868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72184" y="161848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20" y="1453895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6584" y="1618487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3.153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6200" y="1453895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41063" y="1618487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962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40680" y="1453895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95544" y="1618487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771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1453895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0024" y="1618487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867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49640" y="1453895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4504" y="1618487"/>
            <a:ext cx="96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↑ 12 %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46920" y="1453895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01784" y="1618487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Estanque Norte  421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1168" y="2148839"/>
            <a:ext cx="117043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231343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MAM  Maipú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17320" y="2148839"/>
            <a:ext cx="868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72184" y="2313432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31720" y="2148839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86584" y="2313432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7.700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86200" y="2148839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41063" y="2313432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2.143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40680" y="2148839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95544" y="2313432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1.897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95160" y="2148839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50024" y="2313432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1.894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49640" y="2148839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04504" y="2313432"/>
            <a:ext cx="96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≈ 0 %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46920" y="2148839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01784" y="2313432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Placa Bancaria  948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01168" y="2843783"/>
            <a:ext cx="1170432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6032" y="3008375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MAQ  Quilicura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17320" y="2843783"/>
            <a:ext cx="86868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72184" y="3008375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31720" y="2843783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86584" y="3008375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6.189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86200" y="2843783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41063" y="3008375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1.477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40680" y="2843783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95544" y="3008375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1.242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995160" y="2843783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50024" y="3008375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1.290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49640" y="2843783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04504" y="3008375"/>
            <a:ext cx="96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↑ 4 %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46920" y="2843783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01784" y="3008375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Matriz Principal  1.269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01168" y="3538727"/>
            <a:ext cx="117043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6032" y="3703319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BOM  Buenaventura (San Ignacio)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417320" y="3538727"/>
            <a:ext cx="868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472184" y="3703319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331720" y="3538727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386584" y="3703319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4.869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86200" y="3538727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41063" y="3703319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1.489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440680" y="3538727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95544" y="3703319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1.156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995160" y="3538727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50024" y="3703319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1.320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549640" y="3538727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04504" y="3703319"/>
            <a:ext cx="96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↑ 14 %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646920" y="3538727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01784" y="3703319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San Ignacio 500  1.225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01168" y="4233671"/>
            <a:ext cx="1170432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56032" y="4398263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AEB  El Bosque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417320" y="4233671"/>
            <a:ext cx="86868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72184" y="4398263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2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331720" y="4233671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386584" y="4398263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2.320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886200" y="4233671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41063" y="4398263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692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440680" y="4233671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95544" y="4398263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570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95160" y="4233671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050024" y="4398263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610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549640" y="4233671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604504" y="4398263"/>
            <a:ext cx="96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↑ 7 %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646920" y="4233671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01784" y="4398263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Matriz 1° piso  497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01168" y="4928615"/>
            <a:ext cx="117043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56032" y="5093207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CUR  Curauma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417320" y="4928615"/>
            <a:ext cx="868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472184" y="509320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2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331720" y="4928615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386584" y="5093207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659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886200" y="4928615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941063" y="5093207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177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440680" y="4928615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95544" y="5093207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152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995160" y="4928615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50024" y="5093207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158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549640" y="4928615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604504" y="5093207"/>
            <a:ext cx="96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↑ 4 %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646920" y="4928615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701784" y="5093207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Anillo Sur  80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01168" y="5623559"/>
            <a:ext cx="1170432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56032" y="5788151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PAK  Parque Kennedy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417320" y="5623559"/>
            <a:ext cx="86868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72184" y="5788151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7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331720" y="5623559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386584" y="5788151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39.484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886200" y="5623559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941063" y="5788151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10.586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440680" y="5623559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495544" y="5788151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9.089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995160" y="5623559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050024" y="5788151"/>
            <a:ext cx="1417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9.366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549640" y="5623559"/>
            <a:ext cx="105156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604504" y="5788151"/>
            <a:ext cx="96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↑ 3 %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646920" y="5623559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701784" y="5788151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Sandía Antigua  3.984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56032" y="649224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PAK: totales de cabecera (sin cadena DL / Bazar / DL Kennedy). Cifras API WES.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Antecedentes de estos días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Ventana 26/08–08/09  ·  conexión al corte de emisión  ·  noche 00–06 en puntos clave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5806440" cy="23317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78992"/>
            <a:ext cx="5532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AHORA  ·  CONEXIÓN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5532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0D3B66"/>
                </a:solidFill>
                <a:latin typeface="Calibri"/>
              </a:rPr>
              <a:t>Ningún punto del consolidado figura desconectado (lastUpdate &lt; 2 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24128"/>
            <a:ext cx="5806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078992"/>
            <a:ext cx="5532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77B4"/>
                </a:solidFill>
                <a:latin typeface="Calibri"/>
              </a:rPr>
              <a:t>EN CERO  ·  TODA LA VENTANA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353312"/>
            <a:ext cx="5532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MAM: Salida ARROW (000025-33) · residual, no es alerta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" y="3474720"/>
            <a:ext cx="11777472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3529584"/>
            <a:ext cx="11475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77B4"/>
                </a:solidFill>
                <a:latin typeface="Calibri"/>
              </a:rPr>
              <a:t>HECHOS DE ESTOS DÍAS  ·  PICOS, CAÍDAS Y NOCHE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785615"/>
            <a:ext cx="11475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0D3B66"/>
                </a:solidFill>
                <a:latin typeface="Calibri"/>
              </a:rPr>
              <a:t>•  MAM Placa Bancaria: caída 08/09 4,5 m³ (mediana ventana 146). Revisar dato/corte.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D3B66"/>
                </a:solidFill>
                <a:latin typeface="Calibri"/>
              </a:rPr>
              <a:t>•  MAE Pizza Hut: pico 28/08 44 m³ (mediana ventana 13).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D3B66"/>
                </a:solidFill>
                <a:latin typeface="Calibri"/>
              </a:rPr>
              <a:t>•  MAE Estanque Sur: pico 05/09 76 m³ (mediana ventana 44).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D3B66"/>
                </a:solidFill>
                <a:latin typeface="Calibri"/>
              </a:rPr>
              <a:t>•  MAM Falabella: pico 08/09 92 m³ (mediana ventana 50).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" y="5010912"/>
            <a:ext cx="11777472" cy="162763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5065776"/>
            <a:ext cx="11475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CONTEXTO DEL PPT (SIGUE VIGENTE)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5321808"/>
            <a:ext cx="114757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 MAE — Estanque Sur: reparación de presostatos 10/06. Pizza Hut con control nocturno desde 01/07. Estanque Norte con control desde 05/08 (00–05 h).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 MAM — Placa Bancaria sube desde 18/06. Falabella reactivado 11/08 (antes sala de bombas en reparación / fuera de puntos en cero).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 MAQ — Matriz Principal concentra el recinto. El día se duplicó desde el 22/06; Alim. Baños es uso hábil.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 BOM — San Ignacio 500 con on/off nocturno operativo desde 17/07. San Ignacio 300 queda en monitoreo.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 AEB — Matriz A.A. desactivada 15/05; el recinto se lee en Matriz 1° piso y Anillo Plaza.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 CUR — Anillo Norte y Sur desde el 19/05 (mayo no se grafica). Noche chica; no se propone on/off.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 PAK — 000025-25/26 retirados 30/03 (reemplazo 35/36). Distrito de Lujo, Bazar Gourmet y DL Kennedy son cadena: no se suman a la cabecera.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MAE  ·  Mall Arauco Estación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4 puntos WES   ·   recepción 20/10/2025   ·   medioambiente.dcl@parauco.com  ·  Sala de monitores MAE  ·  Sergio Fuenzalida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14173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2412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HALLAZGOS  ·  ESTOS DÍAS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225296"/>
            <a:ext cx="11475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Semana 02/09–08/09: 867 m³ (prom. 123,9 m³/día) · Δ vs previa ↑ 12 %.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Mayor aporte de la semana: Estanque Norte (000025-01) con 421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Noche 00–06 (suma semana): Estanque Norte 9,9  ·  Pizza Hut 0  ·  Estanque Sur 1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Notas de puntos: Estanque Norte (locales mall) · Estanque Sur (sala de bomba).</a:t>
            </a:r>
          </a:p>
        </p:txBody>
      </p:sp>
      <p:pic>
        <p:nvPicPr>
          <p:cNvPr id="10" name="Picture 9" descr="mensual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542032"/>
            <a:ext cx="5806440" cy="2391235"/>
          </a:xfrm>
          <a:prstGeom prst="rect">
            <a:avLst/>
          </a:prstGeom>
        </p:spPr>
      </p:pic>
      <p:pic>
        <p:nvPicPr>
          <p:cNvPr id="11" name="Picture 10" descr="dias_M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42032"/>
            <a:ext cx="5806440" cy="22136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01168" y="5074920"/>
            <a:ext cx="288950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5129783"/>
            <a:ext cx="2798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Estanque Norte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513831"/>
            <a:ext cx="2798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421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5897880"/>
            <a:ext cx="2798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locales mall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63824" y="5074920"/>
            <a:ext cx="288950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5129783"/>
            <a:ext cx="2798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Pizza Hut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5513831"/>
            <a:ext cx="2798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57 m³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688" y="5897880"/>
            <a:ext cx="2798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5074920"/>
            <a:ext cx="288950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5129783"/>
            <a:ext cx="2798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Estanque Sur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5513831"/>
            <a:ext cx="2798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365 m³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5897880"/>
            <a:ext cx="2798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sala de bomba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9136" y="5074920"/>
            <a:ext cx="288950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7BA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5129783"/>
            <a:ext cx="2798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Baños Públicos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513831"/>
            <a:ext cx="2798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24 m³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897880"/>
            <a:ext cx="2798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MAM  ·  Mall Arauco Maipú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5 puntos WES   ·   recepción 06/11/2025   ·   Miguel Rupayan  ·  Constanza Vilches  ·  Mantención: C. Bustamante, O. Cuevas y Supervisor Eléctrico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14173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2412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HALLAZGOS  ·  ESTOS DÍAS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225296"/>
            <a:ext cx="11475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Semana 02/09–08/09: 1.894 m³ (prom. 270,6 m³/día) · Δ vs previa ≈ 0 %.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Mayor aporte de la semana: Placa Bancaria (000025-08) con 948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Noche 00–06 (suma semana): Placa Bancaria 37,7  ·  Falabella 21,3  ·  Ripley 0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Notas de puntos: Falabella (activo 11/08) · Pasillo Técnico (residual) · Salida ARROW (residual).</a:t>
            </a:r>
          </a:p>
        </p:txBody>
      </p:sp>
      <p:pic>
        <p:nvPicPr>
          <p:cNvPr id="10" name="Picture 9" descr="mensual_M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542032"/>
            <a:ext cx="5806440" cy="2391235"/>
          </a:xfrm>
          <a:prstGeom prst="rect">
            <a:avLst/>
          </a:prstGeom>
        </p:spPr>
      </p:pic>
      <p:pic>
        <p:nvPicPr>
          <p:cNvPr id="11" name="Picture 10" descr="dias_M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42032"/>
            <a:ext cx="5806440" cy="22136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01168" y="5074920"/>
            <a:ext cx="229697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5129783"/>
            <a:ext cx="22055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Placa Bancaria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513831"/>
            <a:ext cx="2205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948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5897880"/>
            <a:ext cx="22055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71292" y="5074920"/>
            <a:ext cx="229697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6156" y="5129783"/>
            <a:ext cx="22055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Ripley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6156" y="5513831"/>
            <a:ext cx="2205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572 m³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6156" y="5897880"/>
            <a:ext cx="22055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41417" y="5074920"/>
            <a:ext cx="229697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96281" y="5129783"/>
            <a:ext cx="22055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Falabella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6281" y="5513831"/>
            <a:ext cx="2205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370 m³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96281" y="5897880"/>
            <a:ext cx="22055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activo 11/08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1542" y="5074920"/>
            <a:ext cx="229697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7BA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6406" y="5129783"/>
            <a:ext cx="22055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Pasillo Técnico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6406" y="5513831"/>
            <a:ext cx="2205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5 m³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6406" y="5897880"/>
            <a:ext cx="22055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residual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81667" y="5074920"/>
            <a:ext cx="229697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5A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6531" y="5129783"/>
            <a:ext cx="22055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Salida ARROW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6531" y="5513831"/>
            <a:ext cx="2205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0 m³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6531" y="5897880"/>
            <a:ext cx="22055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residual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MAQ  ·  Mall Arauco Quilicura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2 puntos WES   ·   recepción 06/11/2025 / relocalizado 17/02/2026   ·   Mario Freitez  ·  Tomás Saba  ·  Sebastián Araneda  ·  Mantención: I. Dustan, K. Varas, L. Méndez, C. Leyto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14173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2412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HALLAZGOS  ·  ESTOS DÍAS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225296"/>
            <a:ext cx="11475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Semana 02/09–08/09: 1.290 m³ (prom. 184,3 m³/día) · Δ vs previa ↑ 4 %.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Mayor aporte de la semana: Matriz Principal (000025-13) con 1.269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Noche 00–06 (suma semana): Matriz Principal 149,7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Notas de puntos: Alim. Baños (uso hábil).</a:t>
            </a:r>
          </a:p>
        </p:txBody>
      </p:sp>
      <p:pic>
        <p:nvPicPr>
          <p:cNvPr id="10" name="Picture 9" descr="mensual_MA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542032"/>
            <a:ext cx="5806440" cy="2391235"/>
          </a:xfrm>
          <a:prstGeom prst="rect">
            <a:avLst/>
          </a:prstGeom>
        </p:spPr>
      </p:pic>
      <p:pic>
        <p:nvPicPr>
          <p:cNvPr id="11" name="Picture 10" descr="dias_MA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42032"/>
            <a:ext cx="5806440" cy="22136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01168" y="5074920"/>
            <a:ext cx="5852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5129783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Matriz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513831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1.269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5897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074920"/>
            <a:ext cx="5852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7BA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5129783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Alim. Baños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5513831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21 m³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5897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uso hábil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BOM  ·  Buenaventura (San Ignacio)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2 puntos WES   ·   recepción 18/11/2025   ·   Aliro Cortés  ·  Tomás Saba  ·  Sebastián Araneda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14173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2412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HALLAZGOS  ·  ESTOS DÍAS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225296"/>
            <a:ext cx="11475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Semana 02/09–08/09: 1.320 m³ (prom. 188,5 m³/día) · Δ vs previa ↑ 14 %.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Mayor aporte de la semana: San Ignacio 500 (000025-18) con 1.225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Noche 00–06 (suma semana): San Ignacio 300 0  ·  San Ignacio 500 25,1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Notas de puntos: San Ignacio 300 (monitoreo).</a:t>
            </a:r>
          </a:p>
        </p:txBody>
      </p:sp>
      <p:pic>
        <p:nvPicPr>
          <p:cNvPr id="10" name="Picture 9" descr="mensual_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542032"/>
            <a:ext cx="5806440" cy="2391235"/>
          </a:xfrm>
          <a:prstGeom prst="rect">
            <a:avLst/>
          </a:prstGeom>
        </p:spPr>
      </p:pic>
      <p:pic>
        <p:nvPicPr>
          <p:cNvPr id="11" name="Picture 10" descr="dias_B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42032"/>
            <a:ext cx="5806440" cy="22136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01168" y="5074920"/>
            <a:ext cx="5852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5129783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San Ignacio 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513831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1.225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5897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074920"/>
            <a:ext cx="5852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5129783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San Ignacio 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5513831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94 m³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5897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monitoreo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AEB  ·  Arauco El Bosque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2 puntos WES   ·   recepción 29/10/2025 / relocalizado 16/01/2026   ·   Tamara Martínez  ·  Tomás Saba  ·  Sebastián Araneda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14173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2412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HALLAZGOS  ·  ESTOS DÍAS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225296"/>
            <a:ext cx="11475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Semana 02/09–08/09: 610 m³ (prom. 87,2 m³/día) · Δ vs previa ↑ 7 %.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Mayor aporte de la semana: Matriz 1° piso (000025-11) con 497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Noche 00–06 (suma semana): Matriz 1° piso 55,4  ·  Anillo Plaza 29,4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Notas de puntos: Matriz 1° piso (activo 15/05).</a:t>
            </a:r>
          </a:p>
        </p:txBody>
      </p:sp>
      <p:pic>
        <p:nvPicPr>
          <p:cNvPr id="10" name="Picture 9" descr="mensual_A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542032"/>
            <a:ext cx="5806440" cy="2391235"/>
          </a:xfrm>
          <a:prstGeom prst="rect">
            <a:avLst/>
          </a:prstGeom>
        </p:spPr>
      </p:pic>
      <p:pic>
        <p:nvPicPr>
          <p:cNvPr id="11" name="Picture 10" descr="dias_A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42032"/>
            <a:ext cx="5806440" cy="22136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01168" y="5074920"/>
            <a:ext cx="5852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5129783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Matriz 1° piso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513831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497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5897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activo 15/05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074920"/>
            <a:ext cx="5852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5129783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Anillo Plaza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5513831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113 m³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5897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CUR  ·  Arauco Curauma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2 puntos WES   ·   recepción 29/04/2026 (Anillo Norte / Anillo Sur)   ·   Joceline Lazo  ·  Constanza Vilches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14173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2412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HALLAZGOS  ·  ESTOS DÍAS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225296"/>
            <a:ext cx="11475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Semana 02/09–08/09: 158 m³ (prom. 22,6 m³/día) · Δ vs previa ↑ 4 %.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Mayor aporte de la semana: Anillo Sur (000025-37) con 80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Noche 00–06 (suma semana): Anillo Sur 5,3  ·  Anillo Norte 3,2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Agosto 659 m³  ·  septiembre 1–8 177 m³ (22,1 m³/día).</a:t>
            </a:r>
          </a:p>
        </p:txBody>
      </p:sp>
      <p:pic>
        <p:nvPicPr>
          <p:cNvPr id="10" name="Picture 9" descr="mensual_C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542032"/>
            <a:ext cx="5806440" cy="2391235"/>
          </a:xfrm>
          <a:prstGeom prst="rect">
            <a:avLst/>
          </a:prstGeom>
        </p:spPr>
      </p:pic>
      <p:pic>
        <p:nvPicPr>
          <p:cNvPr id="11" name="Picture 10" descr="dias_C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42032"/>
            <a:ext cx="5806440" cy="22136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01168" y="5074920"/>
            <a:ext cx="5852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5129783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Anillo Norte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513831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78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5897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000025-38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074920"/>
            <a:ext cx="5852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5129783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Anillo Sur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5513831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80 m³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5897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PAK  ·  Parque Arauco Kennedy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10 puntos WES   ·   recepción 12/12/2025   ·   Francisco Jeldres  ·  Paula Azolas  ·  Mantención: C. Naranjo, M. Jara, R. Moreno, R. Díaz, J. Gutiérrez, H. Fierro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14173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2412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HALLAZGOS  ·  ESTOS DÍAS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225296"/>
            <a:ext cx="11475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Semana 02/09–08/09: 9.366 m³ (prom. 1.338 m³/día) · Δ vs previa ↑ 3 %.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Mayor aporte de la semana: Sandía Antigua (000025-22) con 3.984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Noche 00–06 (suma semana): Distrito Lujo 325,3  ·  Bazar Gourmet 231,3  ·  DL Kennedy 5,2 m³.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•  Notas de puntos: Sandía Antigua (alimenta DL) · Distrito Lujo (cadena · no suma) · Sandía Nueva (alimenta DL) · Bazar Gourmet (sale de DL).</a:t>
            </a:r>
          </a:p>
        </p:txBody>
      </p:sp>
      <p:pic>
        <p:nvPicPr>
          <p:cNvPr id="10" name="Picture 9" descr="mensual_P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542032"/>
            <a:ext cx="5806440" cy="2391235"/>
          </a:xfrm>
          <a:prstGeom prst="rect">
            <a:avLst/>
          </a:prstGeom>
        </p:spPr>
      </p:pic>
      <p:pic>
        <p:nvPicPr>
          <p:cNvPr id="11" name="Picture 10" descr="dias_PA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42032"/>
            <a:ext cx="5806440" cy="22136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01168" y="5074920"/>
            <a:ext cx="111191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5129783"/>
            <a:ext cx="1020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Matriz Andén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513831"/>
            <a:ext cx="1020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706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5897880"/>
            <a:ext cx="10204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86230" y="5074920"/>
            <a:ext cx="111191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1094" y="5129783"/>
            <a:ext cx="1020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Locales Gast.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1094" y="5513831"/>
            <a:ext cx="1020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1.176 m³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1094" y="5897880"/>
            <a:ext cx="10204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71292" y="5074920"/>
            <a:ext cx="111191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26156" y="5129783"/>
            <a:ext cx="1020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Sandía Antigua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6156" y="5513831"/>
            <a:ext cx="1020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3.984 m³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6156" y="5897880"/>
            <a:ext cx="10204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alimenta DL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56355" y="5074920"/>
            <a:ext cx="111191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5A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1219" y="5129783"/>
            <a:ext cx="1020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Sandía Nueva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1219" y="5513831"/>
            <a:ext cx="1020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3.458 m³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1219" y="5897880"/>
            <a:ext cx="10204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alimenta DL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41417" y="5074920"/>
            <a:ext cx="111191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8C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96281" y="5129783"/>
            <a:ext cx="1020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Restaurante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6281" y="5513831"/>
            <a:ext cx="1020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32 m³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6281" y="5897880"/>
            <a:ext cx="10204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000025-29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074920"/>
            <a:ext cx="111191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1344" y="5129783"/>
            <a:ext cx="1020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Pileta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513831"/>
            <a:ext cx="1020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2 m³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5897880"/>
            <a:ext cx="10204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000025-23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1542" y="5074920"/>
            <a:ext cx="111191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7BA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6406" y="5129783"/>
            <a:ext cx="1020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Cascada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6406" y="5513831"/>
            <a:ext cx="1020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8 m³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6406" y="5897880"/>
            <a:ext cx="10204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000025-24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96604" y="5074920"/>
            <a:ext cx="111191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51468" y="5129783"/>
            <a:ext cx="1020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Distrito Lujo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1468" y="5513831"/>
            <a:ext cx="1020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2.225 m³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51468" y="5897880"/>
            <a:ext cx="10204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cadena · no suma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81667" y="5074920"/>
            <a:ext cx="111191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6531" y="5129783"/>
            <a:ext cx="1020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Bazar Gourmet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6531" y="5513831"/>
            <a:ext cx="1020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1.500 m³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6531" y="5897880"/>
            <a:ext cx="10204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sale de DL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866729" y="5074920"/>
            <a:ext cx="111191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5A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21593" y="5129783"/>
            <a:ext cx="1020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DL Kennedy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21593" y="5513831"/>
            <a:ext cx="1020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75 m³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21593" y="5897880"/>
            <a:ext cx="10204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sale de DL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Propuestas vigentes (PPT de presentación)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On/off = corte 00:00–06:00  ·  umbral = total 24 h (promedio operativo × 1,25)  ·  corte 08/09/2026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05840"/>
            <a:ext cx="11777472" cy="77332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042416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225296"/>
            <a:ext cx="11521440" cy="499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Mantener controles Norte (desde 05/08) y Pizza Hut (desde 01/07). Umbrales 24 h: Norte 40 · Sur 35 · Pizza 50 · Baños 10 m³/día.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" y="1824881"/>
            <a:ext cx="11777472" cy="77332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861457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MAM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2044337"/>
            <a:ext cx="11521440" cy="499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On/off a revisar en Placa. Falabella activo desde 11/08: umbral 140 m³/día. Placa 290 · Ripley según operativo.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" y="2643922"/>
            <a:ext cx="11777472" cy="77332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2680498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MAQ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" y="2863378"/>
            <a:ext cx="11521440" cy="499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Proponer on/off 00–06 en Matriz Principal. Umbral 24 h Matriz 240 m³/día. Alim. Baños no es el punto de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" y="3462963"/>
            <a:ext cx="11777472" cy="77332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3499539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BOM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3682419"/>
            <a:ext cx="11521440" cy="499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Mantener on/off SI500 (desde 17/07). Umbrales: SI500 145 · SI300 45 m³/día.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" y="4282004"/>
            <a:ext cx="11777472" cy="77332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4318580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" y="4501460"/>
            <a:ext cx="11521440" cy="499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Proponer on/off 00–06 en Anillo Plaza y Matriz 1° piso. Umbrales: Anillo 22 · Matriz 75 m³/día.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" y="5101045"/>
            <a:ext cx="11777472" cy="77332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5137621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CUR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5320501"/>
            <a:ext cx="11521440" cy="499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Sin on/off. Umbrales: Anillo Sur 14 · Anillo Norte 13 m³/día.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" y="5920086"/>
            <a:ext cx="11777472" cy="773321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595666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PAK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" y="6139542"/>
            <a:ext cx="11521440" cy="499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Proponer on/off 00–06 en el eslabón de mayor noche (DL / Bazar). Umbrales: DL 390 · Bazar 250 · DL Kennedy 20 m³/día. Cadena no se suma a cabecera.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