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bmp" ContentType="image/bmp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bmp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rque arauco fond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3931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/>
            </a:pPr>
            <a:r>
              <a:t>Parque Arauco Maipú</a:t>
            </a:r>
          </a:p>
          <a:p>
            <a:pPr algn="ctr">
              <a:defRPr sz="1800"/>
            </a:pPr>
            <a:r>
              <a:t>Período analizado: 01/03/2026 - 27/03/2026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Análisis de Consumo Hídrico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2004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400"/>
              </a:spcAft>
              <a:defRPr sz="1300">
                <a:solidFill>
                  <a:srgbClr val="0000FF"/>
                </a:solidFill>
              </a:defRPr>
            </a:pPr>
            <a:r>
              <a:t>Análisis de 27 días de consumo hídrico revela patrones críticos y detección de fuga significativa. Se registró un pico de consumo el 08/03/2026 (170,4 m³), un -24,5% por encima del promedio. Se detectaron 16 alertas de consumo nocturno, indicando actividad hídrica anómala. Se recomienda realizar una inspección exhaustiva para localizar la fuente de la filtración.</a:t>
            </a:r>
          </a:p>
        </p:txBody>
      </p:sp>
      <p:pic>
        <p:nvPicPr>
          <p:cNvPr id="6" name="Picture 5" descr="temp_anillo_consu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017520"/>
            <a:ext cx="3200400" cy="320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Métricas Críticas - Agregado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16916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Total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6.097,1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155448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629400" y="216916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0" y="164592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Promedio Diario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226 m³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228600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0" y="290068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66360" y="237744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Día Mayor Consumo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170,4 m³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629400" y="228600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629400" y="290068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0" y="237744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Alertas Nocturnas</a:t>
            </a:r>
          </a:p>
          <a:p>
            <a:pPr>
              <a:defRPr sz="1100" b="1">
                <a:solidFill>
                  <a:srgbClr val="323232"/>
                </a:solidFill>
              </a:defRPr>
            </a:pPr>
            <a:r>
              <a:t>16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301752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0" y="363220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66360" y="310896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762,1 m³</a:t>
            </a:r>
          </a:p>
          <a:p>
            <a:pPr>
              <a:defRPr sz="900" b="1">
                <a:solidFill>
                  <a:srgbClr val="323232"/>
                </a:solidFill>
              </a:defRPr>
            </a:pPr>
            <a:r>
              <a:t>(12,5%)</a:t>
            </a:r>
          </a:p>
          <a:p>
            <a:pPr>
              <a:defRPr sz="700">
                <a:solidFill>
                  <a:srgbClr val="505050"/>
                </a:solidFill>
              </a:defRPr>
            </a:pPr>
            <a:r>
              <a:t>27 días consumo Noc. de 27 días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29400" y="301752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629400" y="363220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0" y="310896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Consumo Efectivo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5.334,9 m³</a:t>
            </a:r>
          </a:p>
          <a:p>
            <a:pPr>
              <a:defRPr sz="900" b="1">
                <a:solidFill>
                  <a:srgbClr val="323232"/>
                </a:solidFill>
              </a:defRPr>
            </a:pPr>
            <a:r>
              <a:t>(87,5%)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0" y="374904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0" y="436372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66360" y="384048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$950.401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629400" y="3749040"/>
            <a:ext cx="1463040" cy="64008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629400" y="4363720"/>
            <a:ext cx="146304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0" y="3840480"/>
            <a:ext cx="1188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646464"/>
                </a:solidFill>
              </a:defRPr>
            </a:pPr>
            <a:r>
              <a:t>Valorización Consumo Efectivo</a:t>
            </a:r>
          </a:p>
          <a:p>
            <a:pPr>
              <a:defRPr sz="1000" b="1">
                <a:solidFill>
                  <a:srgbClr val="323232"/>
                </a:solidFill>
              </a:defRPr>
            </a:pPr>
            <a:r>
              <a:t>$6.652.670</a:t>
            </a:r>
          </a:p>
        </p:txBody>
      </p:sp>
      <p:pic>
        <p:nvPicPr>
          <p:cNvPr id="32" name="Picture 31" descr="temp_consumo_nocturno_punto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6340" y="4663440"/>
            <a:ext cx="310896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45720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00FF"/>
                </a:solidFill>
              </a:defRPr>
            </a:pPr>
            <a:r>
              <a:t>Ranking de Consumo</a:t>
            </a:r>
          </a:p>
        </p:txBody>
      </p:sp>
      <p:pic>
        <p:nvPicPr>
          <p:cNvPr id="4" name="Picture 3" descr="temp_ranking_nodo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188720"/>
            <a:ext cx="7315200" cy="38404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5120640"/>
            <a:ext cx="7315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00"/>
            </a:pPr>
            <a:r>
              <a:t>Análisis: Este gráfico muestra el ranking de consumo total de cada monitoreo de Parque Arauco Maipú, ordenado de mayor a menor consumo. El monitoreo con mayor consumo durante el período fue 'Impulsión Falabella' con 3.497,1 m³. Este ranking permite identificar los puntos de mayor consumo y priorizar acciones de optimización.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Impulsión Falabella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0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3.497,1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569,4 m³ (16,3%)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27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3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2.927,7 m³ (83,7%)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$710.067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$3.650.817</a:t>
            </a:r>
          </a:p>
        </p:txBody>
      </p:sp>
      <p:pic>
        <p:nvPicPr>
          <p:cNvPr id="23" name="Picture 22" descr="temp_consumo_horario_max_000025-0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09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Impulsión Ripley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1.710,7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189,8 m³ (11,1%)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15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3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1.520,9 m³ (88,9%)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$236.631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$1.896.587</a:t>
            </a:r>
          </a:p>
        </p:txBody>
      </p:sp>
      <p:pic>
        <p:nvPicPr>
          <p:cNvPr id="23" name="Picture 22" descr="temp_consumo_horario_max_000025-1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1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logo wes.bm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182880"/>
            <a:ext cx="1828800" cy="3657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1520" y="914400"/>
            <a:ext cx="3840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Placa Bancaria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17320"/>
            <a:ext cx="384048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mp_consumo_linea_000025-0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645920"/>
            <a:ext cx="3657600" cy="2286000"/>
          </a:xfrm>
          <a:prstGeom prst="rect">
            <a:avLst/>
          </a:prstGeom>
        </p:spPr>
      </p:pic>
      <p:pic>
        <p:nvPicPr>
          <p:cNvPr id="6" name="Picture 5" descr="temp_consumo_dia_semana_000025-0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114800"/>
            <a:ext cx="3657600" cy="2286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0" y="914400"/>
            <a:ext cx="4114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FF"/>
                </a:solidFill>
              </a:defRPr>
            </a:pPr>
            <a:r>
              <a:t>Indicadores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554480"/>
            <a:ext cx="4023360" cy="685800"/>
          </a:xfrm>
          <a:prstGeom prst="roundRect">
            <a:avLst/>
          </a:prstGeom>
          <a:solidFill>
            <a:srgbClr val="C8DCFF"/>
          </a:solidFill>
          <a:ln w="25400">
            <a:solidFill>
              <a:srgbClr val="ADD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0" y="2214880"/>
            <a:ext cx="4023360" cy="2540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66360" y="1645920"/>
            <a:ext cx="37490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00096"/>
                </a:solidFill>
              </a:defRPr>
            </a:pPr>
            <a:r>
              <a:t>Consumo Total del Período</a:t>
            </a:r>
          </a:p>
          <a:p>
            <a:pPr algn="ctr">
              <a:defRPr sz="1600" b="1">
                <a:solidFill>
                  <a:srgbClr val="0000FF"/>
                </a:solidFill>
              </a:defRPr>
            </a:pPr>
            <a:r>
              <a:t>889,3 m³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6636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Nocturno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3 m³ (0,3%)</a:t>
            </a:r>
          </a:p>
          <a:p>
            <a:pPr algn="ctr">
              <a:defRPr sz="900">
                <a:solidFill>
                  <a:srgbClr val="505050"/>
                </a:solidFill>
              </a:defRPr>
            </a:pPr>
            <a:r>
              <a:t>8 días de 27</a:t>
            </a:r>
          </a:p>
          <a:p>
            <a:pPr algn="ctr">
              <a:defRPr sz="900" b="1">
                <a:solidFill>
                  <a:srgbClr val="C80000"/>
                </a:solidFill>
              </a:defRPr>
            </a:pPr>
            <a:r>
              <a:t>10 alertas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24231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0880" y="31750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78040" y="25146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Consumo Diurno</a:t>
            </a:r>
          </a:p>
          <a:p>
            <a:pPr algn="ctr">
              <a:defRPr sz="1200" b="1">
                <a:solidFill>
                  <a:srgbClr val="323232"/>
                </a:solidFill>
              </a:defRPr>
            </a:pPr>
            <a:r>
              <a:t>886,3 m³ (99,7%)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6636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Nocturno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$3.704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40880" y="3337560"/>
            <a:ext cx="1828800" cy="777240"/>
          </a:xfrm>
          <a:prstGeom prst="roundRect">
            <a:avLst/>
          </a:prstGeom>
          <a:solidFill>
            <a:srgbClr val="E6F0FF"/>
          </a:solidFill>
          <a:ln>
            <a:solidFill>
              <a:srgbClr val="E6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040880" y="4089400"/>
            <a:ext cx="1828800" cy="25400"/>
          </a:xfrm>
          <a:prstGeom prst="rect">
            <a:avLst/>
          </a:prstGeom>
          <a:solidFill>
            <a:srgbClr val="ADD8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78040" y="3429000"/>
            <a:ext cx="1554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646464"/>
                </a:solidFill>
              </a:defRPr>
            </a:pPr>
            <a:r>
              <a:t>Valorización Consumo Diurno</a:t>
            </a:r>
          </a:p>
          <a:p>
            <a:pPr algn="ctr">
              <a:defRPr sz="1100" b="1">
                <a:solidFill>
                  <a:srgbClr val="323232"/>
                </a:solidFill>
              </a:defRPr>
            </a:pPr>
            <a:r>
              <a:t>$1.105.266</a:t>
            </a:r>
          </a:p>
        </p:txBody>
      </p:sp>
      <p:pic>
        <p:nvPicPr>
          <p:cNvPr id="23" name="Picture 22" descr="temp_consumo_horario_max_000025-08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0" y="4297680"/>
            <a:ext cx="1828800" cy="1463040"/>
          </a:xfrm>
          <a:prstGeom prst="rect">
            <a:avLst/>
          </a:prstGeom>
        </p:spPr>
      </p:pic>
      <p:pic>
        <p:nvPicPr>
          <p:cNvPr id="24" name="Picture 23" descr="temp_consumo_horario_min_000025-08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297680"/>
            <a:ext cx="1828800" cy="14630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