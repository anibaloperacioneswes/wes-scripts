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3.png"/><Relationship Id="rId4" Type="http://schemas.openxmlformats.org/officeDocument/2006/relationships/image" Target="../media/image122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PA - Todos los puntos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08/03/2026 (963,3 m³), un -63,1% por encima del promedio. Se detectaron 279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70.460,6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2.610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963,3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279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12.994,5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(18,4%)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27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57.466,2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(81,6%)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$16.204.092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$71.660.302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PA - Todos los puntos, ordenado de mayor a menor consumo. El monitoreo con mayor consumo durante el período fue 'Distrito de lujo DL' con 16.982,5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Distrito de lujo DL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16.982,5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4.380,7 m³ (25,8%)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12.601,8 m³ (74,2%)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$5.462.733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$15.714.445</a:t>
            </a:r>
          </a:p>
        </p:txBody>
      </p:sp>
      <p:pic>
        <p:nvPicPr>
          <p:cNvPr id="23" name="Picture 22" descr="temp_consumo_horario_max_000025-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Sandia Baños 2-3-6-7 Fredo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15.202,3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3.911 m³ (25,7%)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11.291,3 m³ (74,3%)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$4.877.017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$14.080.251</a:t>
            </a:r>
          </a:p>
        </p:txBody>
      </p:sp>
      <p:pic>
        <p:nvPicPr>
          <p:cNvPr id="23" name="Picture 22" descr="temp_consumo_horario_max_000025-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Mall 1 Piso-4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7.520,8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1.219,6 m³ (16,2%)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6.301,2 m³ (83,8%)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$1.520.841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$7.857.596</a:t>
            </a:r>
          </a:p>
        </p:txBody>
      </p:sp>
      <p:pic>
        <p:nvPicPr>
          <p:cNvPr id="23" name="Picture 22" descr="temp_consumo_horario_max_000025-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Ander3-4 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4.951,6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619,4 m³ (12,5%)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19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4.332,2 m³ (87,5%)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$772.392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$5.402.253</a:t>
            </a:r>
          </a:p>
        </p:txBody>
      </p:sp>
      <p:pic>
        <p:nvPicPr>
          <p:cNvPr id="23" name="Picture 22" descr="temp_consumo_horario_max_000025-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Falabella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3.497,1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569,4 m³ (16,3%)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2.927,7 m³ (83,7%)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$710.067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$3.650.817</a:t>
            </a:r>
          </a:p>
        </p:txBody>
      </p:sp>
      <p:pic>
        <p:nvPicPr>
          <p:cNvPr id="23" name="Picture 22" descr="temp_consumo_horario_max_000025-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Ander3-4 Locales Gast.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3.383,4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236,5 m³ (7%)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3.146,9 m³ (93%)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$294.915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$3.924.184</a:t>
            </a:r>
          </a:p>
        </p:txBody>
      </p:sp>
      <p:pic>
        <p:nvPicPr>
          <p:cNvPr id="23" name="Picture 22" descr="temp_consumo_horario_max_000025-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Abastecimiento Sur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3.352,3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179,9 m³ (5,4%)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3.172,4 m³ (94,6%)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$224.298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$3.956.008</a:t>
            </a:r>
          </a:p>
        </p:txBody>
      </p:sp>
      <p:pic>
        <p:nvPicPr>
          <p:cNvPr id="23" name="Picture 22" descr="temp_consumo_horario_max_000025-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Sala de Bomba Estanque Sur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2.950,8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156,1 m³ (5,3%)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2.794,7 m³ (94,7%)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$194.632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$3.484.966</a:t>
            </a:r>
          </a:p>
        </p:txBody>
      </p:sp>
      <p:pic>
        <p:nvPicPr>
          <p:cNvPr id="23" name="Picture 22" descr="temp_consumo_horario_max_000025-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2.519,9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299,3 m³ (11,9%)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2.220,6 m³ (88,1%)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$373.265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$2.769.038</a:t>
            </a:r>
          </a:p>
        </p:txBody>
      </p:sp>
      <p:pic>
        <p:nvPicPr>
          <p:cNvPr id="23" name="Picture 22" descr="temp_consumo_horario_max_000025-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A.A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2.045,2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373,5 m³ (18,3%)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1.671,7 m³ (81,7%)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$465.754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$2.084.610</a:t>
            </a:r>
          </a:p>
        </p:txBody>
      </p:sp>
      <p:pic>
        <p:nvPicPr>
          <p:cNvPr id="23" name="Picture 22" descr="temp_consumo_horario_max_000025-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Ripley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1.710,7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189,8 m³ (11,1%)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15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1.520,9 m³ (88,9%)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$236.631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$1.896.587</a:t>
            </a:r>
          </a:p>
        </p:txBody>
      </p:sp>
      <p:pic>
        <p:nvPicPr>
          <p:cNvPr id="23" name="Picture 22" descr="temp_consumo_horario_max_000025-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Estanque Norte Locales Mall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1.030,7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205,6 m³ (19,9%)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26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825,1 m³ (80,1%)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$256.383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$1.028.900</a:t>
            </a:r>
          </a:p>
        </p:txBody>
      </p:sp>
      <p:pic>
        <p:nvPicPr>
          <p:cNvPr id="23" name="Picture 22" descr="temp_consumo_horario_max_000025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Anden 3-4 Restaurante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957,1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244,4 m³ (25,5%)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712,7 m³ (74,5%)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$304.742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$888.774</a:t>
            </a:r>
          </a:p>
        </p:txBody>
      </p:sp>
      <p:pic>
        <p:nvPicPr>
          <p:cNvPr id="23" name="Picture 22" descr="temp_consumo_horario_max_000025-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Placa Bancaria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889,3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 m³ (0,3%)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8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886,3 m³ (99,7%)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$3.704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$1.105.266</a:t>
            </a:r>
          </a:p>
        </p:txBody>
      </p:sp>
      <p:pic>
        <p:nvPicPr>
          <p:cNvPr id="23" name="Picture 22" descr="temp_consumo_horario_max_000025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835,2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37,8 m³ (4,5%)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25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797,4 m³ (95,5%)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$47.174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$994.308</a:t>
            </a:r>
          </a:p>
        </p:txBody>
      </p:sp>
      <p:pic>
        <p:nvPicPr>
          <p:cNvPr id="23" name="Picture 22" descr="temp_consumo_horario_max_000025-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PIZZA HUT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793,8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75,3 m³ (9,5%)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718,5 m³ (90,5%)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$93.874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$896.019</a:t>
            </a:r>
          </a:p>
        </p:txBody>
      </p:sp>
      <p:pic>
        <p:nvPicPr>
          <p:cNvPr id="23" name="Picture 22" descr="temp_consumo_horario_max_000025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Baños Públicos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630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28,5 m³ (4,5%)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601,6 m³ (95,5%)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$35.477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$750.145</a:t>
            </a:r>
          </a:p>
        </p:txBody>
      </p:sp>
      <p:pic>
        <p:nvPicPr>
          <p:cNvPr id="23" name="Picture 22" descr="temp_consumo_horario_max_000025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Anillo Plaza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558,2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237,8 m³ (42,6%)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320,4 m³ (57,4%)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$296.586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$399.489</a:t>
            </a:r>
          </a:p>
        </p:txBody>
      </p:sp>
      <p:pic>
        <p:nvPicPr>
          <p:cNvPr id="23" name="Picture 22" descr="temp_consumo_horario_max_000025-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213,7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2,4 m³ (1,1%)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211,2 m³ (98,9%)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$3.030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$263.404</a:t>
            </a:r>
          </a:p>
        </p:txBody>
      </p:sp>
      <p:pic>
        <p:nvPicPr>
          <p:cNvPr id="23" name="Picture 22" descr="temp_consumo_horario_max_000025-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Alimentación Baños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133,9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133,9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$166.986</a:t>
            </a:r>
          </a:p>
        </p:txBody>
      </p:sp>
      <p:pic>
        <p:nvPicPr>
          <p:cNvPr id="23" name="Picture 22" descr="temp_consumo_horario_max_000025-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111,3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4,9 m³ (4,4%)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8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106,3 m³ (95,6%)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$6.173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$132.581</a:t>
            </a:r>
          </a:p>
        </p:txBody>
      </p:sp>
      <p:pic>
        <p:nvPicPr>
          <p:cNvPr id="23" name="Picture 22" descr="temp_consumo_horario_max_000025-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103,5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1,1 m³ (1,1%)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102,4 m³ (98,9%)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$1.384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$127.730</a:t>
            </a:r>
          </a:p>
        </p:txBody>
      </p:sp>
      <p:pic>
        <p:nvPicPr>
          <p:cNvPr id="23" name="Picture 22" descr="temp_consumo_horario_max_000025-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 Cascada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35,1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10,2 m³ (29,1%)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24,9 m³ (70,9%)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$12.732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$30.988</a:t>
            </a:r>
          </a:p>
        </p:txBody>
      </p:sp>
      <p:pic>
        <p:nvPicPr>
          <p:cNvPr id="23" name="Picture 22" descr="temp_consumo_horario_max_000025-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Pasillo Tecnico Boulevard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30,1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7,7 m³ (25,4%)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22,5 m³ (74,6%)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$9.552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$27.995</a:t>
            </a:r>
          </a:p>
        </p:txBody>
      </p:sp>
      <p:pic>
        <p:nvPicPr>
          <p:cNvPr id="23" name="Picture 22" descr="temp_consumo_horario_max_000025-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11,8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11,8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$14.690</a:t>
            </a:r>
          </a:p>
        </p:txBody>
      </p:sp>
      <p:pic>
        <p:nvPicPr>
          <p:cNvPr id="23" name="Picture 22" descr="temp_consumo_horario_max_000025-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 N°5 Damas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0,6 m³ (7,8%)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21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6,9 m³ (92,2%)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$736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$8.642</a:t>
            </a:r>
          </a:p>
        </p:txBody>
      </p:sp>
      <p:pic>
        <p:nvPicPr>
          <p:cNvPr id="23" name="Picture 22" descr="temp_consumo_horario_max_000025-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 N°6 Varones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1,6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$1.945</a:t>
            </a:r>
          </a:p>
        </p:txBody>
      </p:sp>
      <p:pic>
        <p:nvPicPr>
          <p:cNvPr id="23" name="Picture 22" descr="temp_consumo_horario_max_000025-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Salida de emergencia pasillo 1 ARROW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1,2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$1.434</a:t>
            </a:r>
          </a:p>
        </p:txBody>
      </p:sp>
      <p:pic>
        <p:nvPicPr>
          <p:cNvPr id="23" name="Picture 22" descr="temp_consumo_horario_max_000025-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PAK DL KENNEDY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0,2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$249</a:t>
            </a:r>
          </a:p>
        </p:txBody>
      </p:sp>
      <p:pic>
        <p:nvPicPr>
          <p:cNvPr id="23" name="Picture 22" descr="temp_consumo_horario_max_000025-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Locales de Comida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KFC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 1°piso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Red de Incendio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PAK BAZAR GOURMET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pic>
        <p:nvPicPr>
          <p:cNvPr id="23" name="Picture 22" descr="temp_consumo_horario_max_000025-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