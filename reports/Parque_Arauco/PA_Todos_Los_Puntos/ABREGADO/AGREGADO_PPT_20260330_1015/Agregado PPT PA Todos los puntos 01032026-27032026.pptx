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3.png"/><Relationship Id="rId4" Type="http://schemas.openxmlformats.org/officeDocument/2006/relationships/image" Target="../media/image122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PA - Todos los puntos</a:t>
            </a:r>
          </a:p>
          <a:p>
            <a:pPr algn="ctr">
              <a:defRPr sz="1800"/>
            </a:pPr>
            <a:r>
              <a:t>Período analizado: 01/03/2026 - 27/03/2026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27 días de consumo hídrico revela patrones críticos y detección de fuga significativa. Se registró un pico de consumo el 08/03/2026 (963,3 m³), un -63,1% por encima del promedio. Se detectaron 279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70.460,6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2.610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963,3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279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12.994,5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(18,4%)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27 días consumo Noc. de 27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57.466,2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(81,6%)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$16.204.092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$71.660.302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PA - Todos los puntos, ordenado de mayor a menor consumo. El monitoreo con mayor consumo durante el período fue 'Distrito de lujo DL' con 16.982,5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Distrito de lujo DL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16.982,5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4.380,7 m³ (25,8%)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12.601,8 m³ (74,2%)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$5.462.733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$15.714.445</a:t>
            </a:r>
          </a:p>
        </p:txBody>
      </p:sp>
      <p:pic>
        <p:nvPicPr>
          <p:cNvPr id="23" name="Picture 22" descr="temp_consumo_horario_max_000025-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Sandia Baños 2-3-6-7 Fredo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15.202,3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3.911 m³ (25,7%)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11.291,3 m³ (74,3%)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$4.877.017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$14.080.251</a:t>
            </a:r>
          </a:p>
        </p:txBody>
      </p:sp>
      <p:pic>
        <p:nvPicPr>
          <p:cNvPr id="23" name="Picture 22" descr="temp_consumo_horario_max_000025-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Mall 1 Piso-4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7.520,8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1.219,6 m³ (16,2%)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6.301,2 m³ (83,8%)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$1.520.841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$7.857.596</a:t>
            </a:r>
          </a:p>
        </p:txBody>
      </p:sp>
      <p:pic>
        <p:nvPicPr>
          <p:cNvPr id="23" name="Picture 22" descr="temp_consumo_horario_max_000025-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Ander3-4 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4.951,6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619,4 m³ (12,5%)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19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4.332,2 m³ (87,5%)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$772.392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$5.402.253</a:t>
            </a:r>
          </a:p>
        </p:txBody>
      </p:sp>
      <p:pic>
        <p:nvPicPr>
          <p:cNvPr id="23" name="Picture 22" descr="temp_consumo_horario_max_000025-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Falabella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3.497,1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569,4 m³ (16,3%)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2.927,7 m³ (83,7%)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$710.067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$3.650.817</a:t>
            </a:r>
          </a:p>
        </p:txBody>
      </p:sp>
      <p:pic>
        <p:nvPicPr>
          <p:cNvPr id="23" name="Picture 22" descr="temp_consumo_horario_max_000025-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Ander3-4 Locales Gast.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3.383,4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236,5 m³ (7%)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14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3.146,9 m³ (93%)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$294.915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$3.924.184</a:t>
            </a:r>
          </a:p>
        </p:txBody>
      </p:sp>
      <p:pic>
        <p:nvPicPr>
          <p:cNvPr id="23" name="Picture 22" descr="temp_consumo_horario_max_000025-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Abastecimiento Sur Terminal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3.352,3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179,9 m³ (5,4%)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7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3.172,4 m³ (94,6%)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$224.298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$3.956.008</a:t>
            </a:r>
          </a:p>
        </p:txBody>
      </p:sp>
      <p:pic>
        <p:nvPicPr>
          <p:cNvPr id="23" name="Picture 22" descr="temp_consumo_horario_max_000025-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Sala de Bomba Estanque Sur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2.950,8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156,1 m³ (5,3%)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2.794,7 m³ (94,7%)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$194.632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$3.484.966</a:t>
            </a:r>
          </a:p>
        </p:txBody>
      </p:sp>
      <p:pic>
        <p:nvPicPr>
          <p:cNvPr id="23" name="Picture 22" descr="temp_consumo_horario_max_000025-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2.519,9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299,3 m³ (11,9%)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2.220,6 m³ (88,1%)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$373.265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$2.769.038</a:t>
            </a:r>
          </a:p>
        </p:txBody>
      </p:sp>
      <p:pic>
        <p:nvPicPr>
          <p:cNvPr id="23" name="Picture 22" descr="temp_consumo_horario_max_000025-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A.A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2.045,2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373,5 m³ (18,3%)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1.671,7 m³ (81,7%)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$465.754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$2.084.610</a:t>
            </a:r>
          </a:p>
        </p:txBody>
      </p:sp>
      <p:pic>
        <p:nvPicPr>
          <p:cNvPr id="23" name="Picture 22" descr="temp_consumo_horario_max_000025-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Ripley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1.710,7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189,8 m³ (11,1%)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15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1.520,9 m³ (88,9%)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$236.631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$1.896.587</a:t>
            </a:r>
          </a:p>
        </p:txBody>
      </p:sp>
      <p:pic>
        <p:nvPicPr>
          <p:cNvPr id="23" name="Picture 22" descr="temp_consumo_horario_max_000025-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Estanque Norte Locales Mall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1.030,7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205,6 m³ (19,9%)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26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4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825,1 m³ (80,1%)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$256.383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$1.028.900</a:t>
            </a:r>
          </a:p>
        </p:txBody>
      </p:sp>
      <p:pic>
        <p:nvPicPr>
          <p:cNvPr id="23" name="Picture 22" descr="temp_consumo_horario_max_000025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Anden 3-4 Restaurante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957,1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244,4 m³ (25,5%)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712,7 m³ (74,5%)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$304.742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$888.774</a:t>
            </a:r>
          </a:p>
        </p:txBody>
      </p:sp>
      <p:pic>
        <p:nvPicPr>
          <p:cNvPr id="23" name="Picture 22" descr="temp_consumo_horario_max_000025-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Placa Bancaria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889,3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 m³ (0,3%)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8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886,3 m³ (99,7%)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$3.704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$1.105.266</a:t>
            </a:r>
          </a:p>
        </p:txBody>
      </p:sp>
      <p:pic>
        <p:nvPicPr>
          <p:cNvPr id="23" name="Picture 22" descr="temp_consumo_horario_max_000025-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San Ignacio 500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835,2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37,8 m³ (4,5%)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25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797,4 m³ (95,5%)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$47.174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$994.308</a:t>
            </a:r>
          </a:p>
        </p:txBody>
      </p:sp>
      <p:pic>
        <p:nvPicPr>
          <p:cNvPr id="23" name="Picture 22" descr="temp_consumo_horario_max_000025-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PIZZA HUT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793,8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75,3 m³ (9,5%)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718,5 m³ (90,5%)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$93.874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$896.019</a:t>
            </a:r>
          </a:p>
        </p:txBody>
      </p:sp>
      <p:pic>
        <p:nvPicPr>
          <p:cNvPr id="23" name="Picture 22" descr="temp_consumo_horario_max_000025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Baños Públicos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630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28,5 m³ (4,5%)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601,6 m³ (95,5%)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$35.477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$750.145</a:t>
            </a:r>
          </a:p>
        </p:txBody>
      </p:sp>
      <p:pic>
        <p:nvPicPr>
          <p:cNvPr id="23" name="Picture 22" descr="temp_consumo_horario_max_000025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Anillo Plaza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558,2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237,8 m³ (42,6%)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320,4 m³ (57,4%)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$296.586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$399.489</a:t>
            </a:r>
          </a:p>
        </p:txBody>
      </p:sp>
      <p:pic>
        <p:nvPicPr>
          <p:cNvPr id="23" name="Picture 22" descr="temp_consumo_horario_max_000025-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San Ignacio 300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213,7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2,4 m³ (1,1%)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26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211,2 m³ (98,9%)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$3.030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$263.404</a:t>
            </a:r>
          </a:p>
        </p:txBody>
      </p:sp>
      <p:pic>
        <p:nvPicPr>
          <p:cNvPr id="23" name="Picture 22" descr="temp_consumo_horario_max_000025-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Alimentación Baños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133,9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133,9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$166.986</a:t>
            </a:r>
          </a:p>
        </p:txBody>
      </p:sp>
      <p:pic>
        <p:nvPicPr>
          <p:cNvPr id="23" name="Picture 22" descr="temp_consumo_horario_max_000025-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111,3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4,9 m³ (4,4%)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8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106,3 m³ (95,6%)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$6.173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$132.581</a:t>
            </a:r>
          </a:p>
        </p:txBody>
      </p:sp>
      <p:pic>
        <p:nvPicPr>
          <p:cNvPr id="23" name="Picture 22" descr="temp_consumo_horario_max_000025-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Llenado Pileta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103,5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1,1 m³ (1,1%)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16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102,4 m³ (98,9%)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$1.384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$127.730</a:t>
            </a:r>
          </a:p>
        </p:txBody>
      </p:sp>
      <p:pic>
        <p:nvPicPr>
          <p:cNvPr id="23" name="Picture 22" descr="temp_consumo_horario_max_000025-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Llenado Pileta Cascada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35,1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10,2 m³ (29,1%)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24,9 m³ (70,9%)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$12.732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$30.988</a:t>
            </a:r>
          </a:p>
        </p:txBody>
      </p:sp>
      <p:pic>
        <p:nvPicPr>
          <p:cNvPr id="23" name="Picture 22" descr="temp_consumo_horario_max_000025-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Pasillo Tecnico Boulevard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30,1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7,7 m³ (25,4%)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17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22,5 m³ (74,6%)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$9.552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$27.995</a:t>
            </a:r>
          </a:p>
        </p:txBody>
      </p:sp>
      <p:pic>
        <p:nvPicPr>
          <p:cNvPr id="23" name="Picture 22" descr="temp_consumo_horario_max_000025-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11,8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11,8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$14.690</a:t>
            </a:r>
          </a:p>
        </p:txBody>
      </p:sp>
      <p:pic>
        <p:nvPicPr>
          <p:cNvPr id="23" name="Picture 22" descr="temp_consumo_horario_max_000025-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 N°5 Damas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0,6 m³ (7,8%)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21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24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6,9 m³ (92,2%)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$736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$8.642</a:t>
            </a:r>
          </a:p>
        </p:txBody>
      </p:sp>
      <p:pic>
        <p:nvPicPr>
          <p:cNvPr id="23" name="Picture 22" descr="temp_consumo_horario_max_000025-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 N°6 Varones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6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1,6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$1.945</a:t>
            </a:r>
          </a:p>
        </p:txBody>
      </p:sp>
      <p:pic>
        <p:nvPicPr>
          <p:cNvPr id="23" name="Picture 22" descr="temp_consumo_horario_max_000025-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Salida de emergencia pasillo 1 ARROW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1,2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$1.434</a:t>
            </a:r>
          </a:p>
        </p:txBody>
      </p:sp>
      <p:pic>
        <p:nvPicPr>
          <p:cNvPr id="23" name="Picture 22" descr="temp_consumo_horario_max_000025-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PAK DL KENNEDY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0,2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$249</a:t>
            </a:r>
          </a:p>
        </p:txBody>
      </p:sp>
      <p:pic>
        <p:nvPicPr>
          <p:cNvPr id="23" name="Picture 22" descr="temp_consumo_horario_max_000025-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Poniente 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Locales de Comida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KFC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 1°piso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Red de Incendio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PAK BAZAR GOURMET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pic>
        <p:nvPicPr>
          <p:cNvPr id="23" name="Picture 22" descr="temp_consumo_horario_max_000025-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FF"/>
                </a:solidFill>
              </a:defRPr>
            </a:pPr>
            <a:r>
              <a:t>Notas y hallazgos (PA - todos los puntos)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Período: 01/03/2026 a 27/03/2026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Consumo total agregado: 70.460,6 m³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Instalado (referencia API KPI):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- 000025-01: Estanque Norte Locales Mall (KPI creationDate: 2025-01-06)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- 000025-02: Abastecimiento Sur Terminal (KPI creationDate: 2025-01-07)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- 000025-03: Poniente 7 (KPI creationDate: 2025-01-07)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- 000025-04: Baños Públicos (KPI creationDate: 2025-01-07)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- 000025-05: Locales de Comida (KPI creationDate: 2025-01-07)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- 000025-06: KFC (KPI creationDate: 2025-04-06)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- 000025-07: PIZZA HUT (KPI creationDate: 2024-04-14)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- 000025-08: Placa Bancaria (KPI creationDate: 2020-02-01)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… y 27 punto(s) más (ver Word agregado para el listado completo)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Habilitados: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La API usada en scripts no expone usuarios habilitados; confirmar en backoffice WES.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Hallazgos (resumen):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Síntesis ejecutiva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En el período considerado, la red Parque Arauco (todos los puntos de monitoreo incluidos en este reporte) acumuló un volumen total de 70.460,6 m³. Contando días con medición a nivel agregado, se observan 27 día(s) con datos; el promedio diario agregado resulta de 2.609,7 m³/día (total de consumo diario sumado entre puntos, dividido por días con registro). El día de mayor consumo global (suma de todos los puntos) fue 08-03-2026 con 963,3 m³; el día de menor consumo global fue 05-03-2026 con 0 m³.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Distribución por punto de monitoreo (universo: 35 puntos). Los cinco mayores aportes acumulados del período son: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1) Distrito de lujo DL (000025-27): 16.982,5 m³ (24,1 % del total agregado)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2) Impulsión Sandia Baños 2-3-6-7 Fredo (000025-22): 15.202,3 m³ (21,6 % del total agregado)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3) Impulsión Mall 1 Piso-4 (000025-28): 7.520,8 m³ (10,7 % del total agregado)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4) Impulsión Ander3-4 Matriz Principal (000025-20): 4.951,6 m³ (7 % del total agregado)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5) Impulsión Falabella (000025-09): 3.497,1 m³ (5 % del total agregado)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Los puntos con menor consumo acumulado en el período (referencia para priorizar revisión o confirmar operación en cero / sin datos) son: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Poniente 7 (000025-03): 0 m³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Locales de Comida (000025-05): 0 m³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KFC (000025-06): 0 m³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