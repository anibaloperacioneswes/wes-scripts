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Parque Arauco Kennedy</a:t>
            </a:r>
          </a:p>
          <a:p>
            <a:pPr algn="ctr">
              <a:defRPr sz="1800"/>
            </a:pPr>
            <a:r>
              <a:t>Período analizado: 01/02/2026 - 25/03/2026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Análisis de Consumo Hídrico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2004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>
                <a:solidFill>
                  <a:srgbClr val="0000FF"/>
                </a:solidFill>
              </a:defRPr>
            </a:pPr>
            <a:r>
              <a:t>Análisis de 53 días de consumo hídrico revela patrones críticos y detección de fuga significativa. Se registró un pico de consumo el 07/02/2026 (1.147,1 m³), un -48% por encima del promedio. Se detectaron 251 alertas de consumo nocturno, indicando actividad hídrica anómala. Se recomienda realizar una inspección exhaustiva para localizar la fuente de la filtración.</a:t>
            </a:r>
          </a:p>
        </p:txBody>
      </p:sp>
      <p:pic>
        <p:nvPicPr>
          <p:cNvPr id="6" name="Picture 5" descr="temp_anillo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Métricas Críticas - Agregado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Total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116.902,6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Promedio Diario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2.206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Día Mayor Consumo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1.147,1 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Alertas Nocturnas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251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25.176,6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(21,5%)</a:t>
            </a:r>
          </a:p>
          <a:p>
            <a:pPr>
              <a:defRPr sz="700">
                <a:solidFill>
                  <a:srgbClr val="505050"/>
                </a:solidFill>
              </a:defRPr>
            </a:pPr>
            <a:r>
              <a:t>53 días consumo Noc. de 53 días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94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91.726,1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(78,5%)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$31.395.158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$114.382.384</a:t>
            </a:r>
          </a:p>
        </p:txBody>
      </p:sp>
      <p:pic>
        <p:nvPicPr>
          <p:cNvPr id="32" name="Picture 31" descr="temp_consumo_nocturno_pu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4663440"/>
            <a:ext cx="31089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Ranking de Consumo</a:t>
            </a:r>
          </a:p>
        </p:txBody>
      </p:sp>
      <p:pic>
        <p:nvPicPr>
          <p:cNvPr id="4" name="Picture 3" descr="temp_ranking_n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Análisis: Este gráfico muestra el ranking de consumo total de cada monitoreo de Parque Arauco Kennedy, ordenado de mayor a menor consumo. El monitoreo con mayor consumo durante el período fue 'Distrito de lujo DL' con 44.430,9 m³. Este ranking permite identificar los puntos de mayor consumo y priorizar acciones de optimización.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Distrito de lujo DL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44.430,9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10.990,4 m³ (24,7%)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53 días de 53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33.440,5 m³ (75,3%)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$13.705.029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$41.700.304</a:t>
            </a:r>
          </a:p>
        </p:txBody>
      </p:sp>
      <p:pic>
        <p:nvPicPr>
          <p:cNvPr id="23" name="Picture 22" descr="temp_consumo_horario_max_000025-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Sandia Baños 2-3-6-7 Fredo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39.884,4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9.846,7 m³ (24,7%)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53 días de 53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30.037,7 m³ (75,3%)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$12.278.835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$37.457.012</a:t>
            </a:r>
          </a:p>
        </p:txBody>
      </p:sp>
      <p:pic>
        <p:nvPicPr>
          <p:cNvPr id="23" name="Picture 22" descr="temp_consumo_horario_max_000025-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Mall 1 Piso-4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13.361,5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2.062,1 m³ (15,4%)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53 días de 53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11.299,4 m³ (84,6%)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$2.571.439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$14.090.352</a:t>
            </a:r>
          </a:p>
        </p:txBody>
      </p:sp>
      <p:pic>
        <p:nvPicPr>
          <p:cNvPr id="23" name="Picture 22" descr="temp_consumo_horario_max_000025-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Ander3-4 Matriz Principal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10.124,1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1.224,4 m³ (12,1%)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53 días de 53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37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8.899,7 m³ (87,9%)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$1.526.827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$11.097.926</a:t>
            </a:r>
          </a:p>
        </p:txBody>
      </p:sp>
      <p:pic>
        <p:nvPicPr>
          <p:cNvPr id="23" name="Picture 22" descr="temp_consumo_horario_max_000025-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Ander3-4 Locales Gast.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6.841,8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495,6 m³ (7,2%)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53 días de 53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28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6.346,2 m³ (92,8%)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$618.013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$7.913.711</a:t>
            </a:r>
          </a:p>
        </p:txBody>
      </p:sp>
      <p:pic>
        <p:nvPicPr>
          <p:cNvPr id="23" name="Picture 22" descr="temp_consumo_horario_max_000025-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Anden 3-4 Restaurante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1.982,5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526,4 m³ (26,6%)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53 días de 53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1.456,1 m³ (73,4%)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$656.408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$1.815.757</a:t>
            </a:r>
          </a:p>
        </p:txBody>
      </p:sp>
      <p:pic>
        <p:nvPicPr>
          <p:cNvPr id="23" name="Picture 22" descr="temp_consumo_horario_max_000025-2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Llenado Pileta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140,8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3,1 m³ (2,2%)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53 días de 53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45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137,7 m³ (97,8%)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$3.866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$171.774</a:t>
            </a:r>
          </a:p>
        </p:txBody>
      </p:sp>
      <p:pic>
        <p:nvPicPr>
          <p:cNvPr id="23" name="Picture 22" descr="temp_consumo_horario_max_000025-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Llenado Pileta Cascada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108,5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27,6 m³ (25,5%)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53 días de 53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57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80,8 m³ (74,5%)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$34.476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$100.761</a:t>
            </a:r>
          </a:p>
        </p:txBody>
      </p:sp>
      <p:pic>
        <p:nvPicPr>
          <p:cNvPr id="23" name="Picture 22" descr="temp_consumo_horario_max_000025-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Baño N°5 Damas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25,9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0,6 m³ (2,4%)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28 días de 53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47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25,3 m³ (97,6%)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$773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$31.537</a:t>
            </a:r>
          </a:p>
        </p:txBody>
      </p:sp>
      <p:pic>
        <p:nvPicPr>
          <p:cNvPr id="23" name="Picture 22" descr="temp_consumo_horario_max_000025-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Baño N°6 Varones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2,2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(0,5%)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1 días de 53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2,2 m³ (99,5%)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$2.731</a:t>
            </a:r>
          </a:p>
        </p:txBody>
      </p:sp>
      <p:pic>
        <p:nvPicPr>
          <p:cNvPr id="23" name="Picture 22" descr="temp_consumo_horario_max_000025-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