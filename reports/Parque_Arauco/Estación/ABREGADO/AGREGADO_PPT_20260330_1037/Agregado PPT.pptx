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bmp" ContentType="image/bmp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bmp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bmp"/><Relationship Id="rId3" Type="http://schemas.openxmlformats.org/officeDocument/2006/relationships/image" Target="../media/image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bmp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bmp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bmp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Relationship Id="rId6" Type="http://schemas.openxmlformats.org/officeDocument/2006/relationships/image" Target="../media/image1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bmp"/><Relationship Id="rId3" Type="http://schemas.openxmlformats.org/officeDocument/2006/relationships/image" Target="../media/image18.png"/><Relationship Id="rId4" Type="http://schemas.openxmlformats.org/officeDocument/2006/relationships/image" Target="../media/image19.png"/><Relationship Id="rId5" Type="http://schemas.openxmlformats.org/officeDocument/2006/relationships/image" Target="../media/image20.png"/><Relationship Id="rId6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rque arauco fond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39319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/>
            </a:pPr>
            <a:r>
              <a:t>Parque Arauco Estación</a:t>
            </a:r>
          </a:p>
          <a:p>
            <a:pPr algn="ctr">
              <a:defRPr sz="1800"/>
            </a:pPr>
            <a:r>
              <a:t>Período analizado: 01/03/2026 - 27/03/2026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 wes.bm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82880"/>
            <a:ext cx="1828800" cy="3657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914400"/>
            <a:ext cx="3840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Análisis de Consumo Hídrico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32004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3840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Aft>
                <a:spcPts val="400"/>
              </a:spcAft>
              <a:defRPr sz="1300">
                <a:solidFill>
                  <a:srgbClr val="0000FF"/>
                </a:solidFill>
              </a:defRPr>
            </a:pPr>
            <a:r>
              <a:t>Análisis de 27 días de consumo hídrico revela patrones críticos y detección de fuga significativa. Se registró un pico de consumo el 02/03/2026 (144 m³), un -28,1% por encima del promedio. Se detectaron 14 alertas de consumo nocturno, indicando actividad hídrica anómala. Se recomienda realizar una inspección exhaustiva para localizar la fuente de la filtración.</a:t>
            </a:r>
          </a:p>
        </p:txBody>
      </p:sp>
      <p:pic>
        <p:nvPicPr>
          <p:cNvPr id="6" name="Picture 5" descr="temp_anillo_consum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017520"/>
            <a:ext cx="3200400" cy="32004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0" y="914400"/>
            <a:ext cx="4114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Métricas Críticas - Agregado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0" y="1554480"/>
            <a:ext cx="1463040" cy="64008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0" y="2169160"/>
            <a:ext cx="146304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66360" y="1645920"/>
            <a:ext cx="1188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464"/>
                </a:solidFill>
              </a:defRPr>
            </a:pPr>
            <a:r>
              <a:t>Consumo Total</a:t>
            </a:r>
          </a:p>
          <a:p>
            <a:pPr>
              <a:defRPr sz="1100" b="1">
                <a:solidFill>
                  <a:srgbClr val="323232"/>
                </a:solidFill>
              </a:defRPr>
            </a:pPr>
            <a:r>
              <a:t>5.405,3 m³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29400" y="1554480"/>
            <a:ext cx="1463040" cy="64008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629400" y="2169160"/>
            <a:ext cx="146304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0" y="1645920"/>
            <a:ext cx="1188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464"/>
                </a:solidFill>
              </a:defRPr>
            </a:pPr>
            <a:r>
              <a:t>Promedio Diario</a:t>
            </a:r>
          </a:p>
          <a:p>
            <a:pPr>
              <a:defRPr sz="1100" b="1">
                <a:solidFill>
                  <a:srgbClr val="323232"/>
                </a:solidFill>
              </a:defRPr>
            </a:pPr>
            <a:r>
              <a:t>200 m³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0" y="2286000"/>
            <a:ext cx="1463040" cy="64008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29200" y="2900680"/>
            <a:ext cx="146304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66360" y="2377440"/>
            <a:ext cx="1188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464"/>
                </a:solidFill>
              </a:defRPr>
            </a:pPr>
            <a:r>
              <a:t>Día Mayor Consumo</a:t>
            </a:r>
          </a:p>
          <a:p>
            <a:pPr>
              <a:defRPr sz="1100" b="1">
                <a:solidFill>
                  <a:srgbClr val="323232"/>
                </a:solidFill>
              </a:defRPr>
            </a:pPr>
            <a:r>
              <a:t>144 m³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629400" y="2286000"/>
            <a:ext cx="1463040" cy="64008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29400" y="2900680"/>
            <a:ext cx="146304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0" y="2377440"/>
            <a:ext cx="1188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464"/>
                </a:solidFill>
              </a:defRPr>
            </a:pPr>
            <a:r>
              <a:t>Alertas Nocturnas</a:t>
            </a:r>
          </a:p>
          <a:p>
            <a:pPr>
              <a:defRPr sz="1100" b="1">
                <a:solidFill>
                  <a:srgbClr val="323232"/>
                </a:solidFill>
              </a:defRPr>
            </a:pPr>
            <a:r>
              <a:t>14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0" y="3017520"/>
            <a:ext cx="1463040" cy="64008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029200" y="3632200"/>
            <a:ext cx="146304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166360" y="3108960"/>
            <a:ext cx="1188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464"/>
                </a:solidFill>
              </a:defRPr>
            </a:pPr>
            <a:r>
              <a:t>Consumo Nocturno</a:t>
            </a:r>
          </a:p>
          <a:p>
            <a:pPr>
              <a:defRPr sz="1000" b="1">
                <a:solidFill>
                  <a:srgbClr val="323232"/>
                </a:solidFill>
              </a:defRPr>
            </a:pPr>
            <a:r>
              <a:t>465,4 m³</a:t>
            </a:r>
          </a:p>
          <a:p>
            <a:pPr>
              <a:defRPr sz="900" b="1">
                <a:solidFill>
                  <a:srgbClr val="323232"/>
                </a:solidFill>
              </a:defRPr>
            </a:pPr>
            <a:r>
              <a:t>(8,6%)</a:t>
            </a:r>
          </a:p>
          <a:p>
            <a:pPr>
              <a:defRPr sz="700">
                <a:solidFill>
                  <a:srgbClr val="505050"/>
                </a:solidFill>
              </a:defRPr>
            </a:pPr>
            <a:r>
              <a:t>27 días consumo Noc. de 27 días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629400" y="3017520"/>
            <a:ext cx="1463040" cy="64008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629400" y="3632200"/>
            <a:ext cx="146304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0" y="3108960"/>
            <a:ext cx="1188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464"/>
                </a:solidFill>
              </a:defRPr>
            </a:pPr>
            <a:r>
              <a:t>Consumo Efectivo</a:t>
            </a:r>
          </a:p>
          <a:p>
            <a:pPr>
              <a:defRPr sz="1000" b="1">
                <a:solidFill>
                  <a:srgbClr val="323232"/>
                </a:solidFill>
              </a:defRPr>
            </a:pPr>
            <a:r>
              <a:t>4.939,9 m³</a:t>
            </a:r>
          </a:p>
          <a:p>
            <a:pPr>
              <a:defRPr sz="900" b="1">
                <a:solidFill>
                  <a:srgbClr val="323232"/>
                </a:solidFill>
              </a:defRPr>
            </a:pPr>
            <a:r>
              <a:t>(91,4%)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29200" y="3749040"/>
            <a:ext cx="1463040" cy="64008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029200" y="4363720"/>
            <a:ext cx="146304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166360" y="3840480"/>
            <a:ext cx="1188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464"/>
                </a:solidFill>
              </a:defRPr>
            </a:pPr>
            <a:r>
              <a:t>Valorización Consumo Nocturno</a:t>
            </a:r>
          </a:p>
          <a:p>
            <a:pPr>
              <a:defRPr sz="1000" b="1">
                <a:solidFill>
                  <a:srgbClr val="323232"/>
                </a:solidFill>
              </a:defRPr>
            </a:pPr>
            <a:r>
              <a:t>$580.366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629400" y="3749040"/>
            <a:ext cx="1463040" cy="64008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629400" y="4363720"/>
            <a:ext cx="146304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0" y="3840480"/>
            <a:ext cx="1188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464"/>
                </a:solidFill>
              </a:defRPr>
            </a:pPr>
            <a:r>
              <a:t>Valorización Consumo Efectivo</a:t>
            </a:r>
          </a:p>
          <a:p>
            <a:pPr>
              <a:defRPr sz="1000" b="1">
                <a:solidFill>
                  <a:srgbClr val="323232"/>
                </a:solidFill>
              </a:defRPr>
            </a:pPr>
            <a:r>
              <a:t>$6.160.030</a:t>
            </a:r>
          </a:p>
        </p:txBody>
      </p:sp>
      <p:pic>
        <p:nvPicPr>
          <p:cNvPr id="32" name="Picture 31" descr="temp_consumo_nocturno_punto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06340" y="4663440"/>
            <a:ext cx="3108960" cy="1828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 wes.bm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82880"/>
            <a:ext cx="1828800" cy="3657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45720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00FF"/>
                </a:solidFill>
              </a:defRPr>
            </a:pPr>
            <a:r>
              <a:t>Ranking de Consumo</a:t>
            </a:r>
          </a:p>
        </p:txBody>
      </p:sp>
      <p:pic>
        <p:nvPicPr>
          <p:cNvPr id="4" name="Picture 3" descr="temp_ranking_nodo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188720"/>
            <a:ext cx="7315200" cy="38404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5120640"/>
            <a:ext cx="7315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/>
            </a:pPr>
            <a:r>
              <a:t>Análisis: Este gráfico muestra el ranking de consumo total de cada monitoreo de Parque Arauco Estación, ordenado de mayor a menor consumo. El monitoreo con mayor consumo durante el período fue 'Sala de Bomba Estanque Sur' con 2.950,8 m³. Este ranking permite identificar los puntos de mayor consumo y priorizar acciones de optimización.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 wes.bm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82880"/>
            <a:ext cx="1828800" cy="3657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914400"/>
            <a:ext cx="3840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Sala de Bomba Estanque Sur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384048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emp_consumo_linea_000025-1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645920"/>
            <a:ext cx="3657600" cy="2286000"/>
          </a:xfrm>
          <a:prstGeom prst="rect">
            <a:avLst/>
          </a:prstGeom>
        </p:spPr>
      </p:pic>
      <p:pic>
        <p:nvPicPr>
          <p:cNvPr id="6" name="Picture 5" descr="temp_consumo_dia_semana_000025-1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4114800"/>
            <a:ext cx="3657600" cy="2286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0" y="914400"/>
            <a:ext cx="4114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Indicadores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0" y="1554480"/>
            <a:ext cx="4023360" cy="685800"/>
          </a:xfrm>
          <a:prstGeom prst="roundRect">
            <a:avLst/>
          </a:prstGeom>
          <a:solidFill>
            <a:srgbClr val="C8DCFF"/>
          </a:solidFill>
          <a:ln w="25400">
            <a:solidFill>
              <a:srgbClr val="AD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0" y="2214880"/>
            <a:ext cx="4023360" cy="25400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66360" y="1645920"/>
            <a:ext cx="3749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0096"/>
                </a:solidFill>
              </a:defRPr>
            </a:pPr>
            <a:r>
              <a:t>Consumo Total del Período</a:t>
            </a:r>
          </a:p>
          <a:p>
            <a:pPr algn="ctr">
              <a:defRPr sz="1600" b="1">
                <a:solidFill>
                  <a:srgbClr val="0000FF"/>
                </a:solidFill>
              </a:defRPr>
            </a:pPr>
            <a:r>
              <a:t>2.950,8 m³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6636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Nocturno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156,1 m³ (5,3%)</a:t>
            </a:r>
          </a:p>
          <a:p>
            <a:pPr algn="ctr">
              <a:defRPr sz="900">
                <a:solidFill>
                  <a:srgbClr val="505050"/>
                </a:solidFill>
              </a:defRPr>
            </a:pPr>
            <a:r>
              <a:t>27 días de 27</a:t>
            </a:r>
          </a:p>
          <a:p>
            <a:pPr algn="ctr">
              <a:defRPr sz="900" b="1">
                <a:solidFill>
                  <a:srgbClr val="C80000"/>
                </a:solidFill>
              </a:defRPr>
            </a:pPr>
            <a:r>
              <a:t>1 alertas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04088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04088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7804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Diurno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2.794,7 m³ (94,7%)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6636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Nocturno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$194.632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04088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04088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7804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Diurno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$3.484.966</a:t>
            </a:r>
          </a:p>
        </p:txBody>
      </p:sp>
      <p:pic>
        <p:nvPicPr>
          <p:cNvPr id="23" name="Picture 22" descr="temp_consumo_horario_max_000025-19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0" y="4297680"/>
            <a:ext cx="1828800" cy="1463040"/>
          </a:xfrm>
          <a:prstGeom prst="rect">
            <a:avLst/>
          </a:prstGeom>
        </p:spPr>
      </p:pic>
      <p:pic>
        <p:nvPicPr>
          <p:cNvPr id="24" name="Picture 23" descr="temp_consumo_horario_min_000025-19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0" y="4297680"/>
            <a:ext cx="1828800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 wes.bm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82880"/>
            <a:ext cx="1828800" cy="3657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914400"/>
            <a:ext cx="3840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Estanque Norte Locales Mall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384048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emp_consumo_linea_000025-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645920"/>
            <a:ext cx="3657600" cy="2286000"/>
          </a:xfrm>
          <a:prstGeom prst="rect">
            <a:avLst/>
          </a:prstGeom>
        </p:spPr>
      </p:pic>
      <p:pic>
        <p:nvPicPr>
          <p:cNvPr id="6" name="Picture 5" descr="temp_consumo_dia_semana_000025-0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4114800"/>
            <a:ext cx="3657600" cy="2286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0" y="914400"/>
            <a:ext cx="4114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Indicadores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0" y="1554480"/>
            <a:ext cx="4023360" cy="685800"/>
          </a:xfrm>
          <a:prstGeom prst="roundRect">
            <a:avLst/>
          </a:prstGeom>
          <a:solidFill>
            <a:srgbClr val="C8DCFF"/>
          </a:solidFill>
          <a:ln w="25400">
            <a:solidFill>
              <a:srgbClr val="AD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0" y="2214880"/>
            <a:ext cx="4023360" cy="25400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66360" y="1645920"/>
            <a:ext cx="3749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0096"/>
                </a:solidFill>
              </a:defRPr>
            </a:pPr>
            <a:r>
              <a:t>Consumo Total del Período</a:t>
            </a:r>
          </a:p>
          <a:p>
            <a:pPr algn="ctr">
              <a:defRPr sz="1600" b="1">
                <a:solidFill>
                  <a:srgbClr val="0000FF"/>
                </a:solidFill>
              </a:defRPr>
            </a:pPr>
            <a:r>
              <a:t>1.030,7 m³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6636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Nocturno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205,6 m³ (19,9%)</a:t>
            </a:r>
          </a:p>
          <a:p>
            <a:pPr algn="ctr">
              <a:defRPr sz="900">
                <a:solidFill>
                  <a:srgbClr val="505050"/>
                </a:solidFill>
              </a:defRPr>
            </a:pPr>
            <a:r>
              <a:t>26 días de 27</a:t>
            </a:r>
          </a:p>
          <a:p>
            <a:pPr algn="ctr">
              <a:defRPr sz="900" b="1">
                <a:solidFill>
                  <a:srgbClr val="C80000"/>
                </a:solidFill>
              </a:defRPr>
            </a:pPr>
            <a:r>
              <a:t>4 alertas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04088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04088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7804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Diurno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825,1 m³ (80,1%)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6636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Nocturno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$256.383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04088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04088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7804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Diurno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$1.028.900</a:t>
            </a:r>
          </a:p>
        </p:txBody>
      </p:sp>
      <p:pic>
        <p:nvPicPr>
          <p:cNvPr id="23" name="Picture 22" descr="temp_consumo_horario_max_000025-0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0" y="4297680"/>
            <a:ext cx="1828800" cy="1463040"/>
          </a:xfrm>
          <a:prstGeom prst="rect">
            <a:avLst/>
          </a:prstGeom>
        </p:spPr>
      </p:pic>
      <p:pic>
        <p:nvPicPr>
          <p:cNvPr id="24" name="Picture 23" descr="temp_consumo_horario_min_000025-0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0" y="4297680"/>
            <a:ext cx="1828800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 wes.bm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82880"/>
            <a:ext cx="1828800" cy="3657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914400"/>
            <a:ext cx="3840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PIZZA HUT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384048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emp_consumo_linea_000025-0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645920"/>
            <a:ext cx="3657600" cy="2286000"/>
          </a:xfrm>
          <a:prstGeom prst="rect">
            <a:avLst/>
          </a:prstGeom>
        </p:spPr>
      </p:pic>
      <p:pic>
        <p:nvPicPr>
          <p:cNvPr id="6" name="Picture 5" descr="temp_consumo_dia_semana_000025-0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4114800"/>
            <a:ext cx="3657600" cy="2286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0" y="914400"/>
            <a:ext cx="4114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Indicadores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0" y="1554480"/>
            <a:ext cx="4023360" cy="685800"/>
          </a:xfrm>
          <a:prstGeom prst="roundRect">
            <a:avLst/>
          </a:prstGeom>
          <a:solidFill>
            <a:srgbClr val="C8DCFF"/>
          </a:solidFill>
          <a:ln w="25400">
            <a:solidFill>
              <a:srgbClr val="AD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0" y="2214880"/>
            <a:ext cx="4023360" cy="25400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66360" y="1645920"/>
            <a:ext cx="3749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0096"/>
                </a:solidFill>
              </a:defRPr>
            </a:pPr>
            <a:r>
              <a:t>Consumo Total del Período</a:t>
            </a:r>
          </a:p>
          <a:p>
            <a:pPr algn="ctr">
              <a:defRPr sz="1600" b="1">
                <a:solidFill>
                  <a:srgbClr val="0000FF"/>
                </a:solidFill>
              </a:defRPr>
            </a:pPr>
            <a:r>
              <a:t>793,8 m³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6636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Nocturno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75,3 m³ (9,5%)</a:t>
            </a:r>
          </a:p>
          <a:p>
            <a:pPr algn="ctr">
              <a:defRPr sz="900">
                <a:solidFill>
                  <a:srgbClr val="505050"/>
                </a:solidFill>
              </a:defRPr>
            </a:pPr>
            <a:r>
              <a:t>27 días de 27</a:t>
            </a:r>
          </a:p>
          <a:p>
            <a:pPr algn="ctr">
              <a:defRPr sz="900" b="1">
                <a:solidFill>
                  <a:srgbClr val="C80000"/>
                </a:solidFill>
              </a:defRPr>
            </a:pPr>
            <a:r>
              <a:t>1 alertas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04088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04088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7804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Diurno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718,5 m³ (90,5%)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6636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Nocturno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$93.874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04088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04088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7804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Diurno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$896.019</a:t>
            </a:r>
          </a:p>
        </p:txBody>
      </p:sp>
      <p:pic>
        <p:nvPicPr>
          <p:cNvPr id="23" name="Picture 22" descr="temp_consumo_horario_max_000025-07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0" y="4297680"/>
            <a:ext cx="1828800" cy="1463040"/>
          </a:xfrm>
          <a:prstGeom prst="rect">
            <a:avLst/>
          </a:prstGeom>
        </p:spPr>
      </p:pic>
      <p:pic>
        <p:nvPicPr>
          <p:cNvPr id="24" name="Picture 23" descr="temp_consumo_horario_min_000025-07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0" y="4297680"/>
            <a:ext cx="1828800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 wes.bm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82880"/>
            <a:ext cx="1828800" cy="3657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914400"/>
            <a:ext cx="3840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Baños Públicos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384048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emp_consumo_linea_000025-0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645920"/>
            <a:ext cx="3657600" cy="2286000"/>
          </a:xfrm>
          <a:prstGeom prst="rect">
            <a:avLst/>
          </a:prstGeom>
        </p:spPr>
      </p:pic>
      <p:pic>
        <p:nvPicPr>
          <p:cNvPr id="6" name="Picture 5" descr="temp_consumo_dia_semana_000025-0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4114800"/>
            <a:ext cx="3657600" cy="2286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0" y="914400"/>
            <a:ext cx="4114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Indicadores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0" y="1554480"/>
            <a:ext cx="4023360" cy="685800"/>
          </a:xfrm>
          <a:prstGeom prst="roundRect">
            <a:avLst/>
          </a:prstGeom>
          <a:solidFill>
            <a:srgbClr val="C8DCFF"/>
          </a:solidFill>
          <a:ln w="25400">
            <a:solidFill>
              <a:srgbClr val="AD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0" y="2214880"/>
            <a:ext cx="4023360" cy="25400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66360" y="1645920"/>
            <a:ext cx="3749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0096"/>
                </a:solidFill>
              </a:defRPr>
            </a:pPr>
            <a:r>
              <a:t>Consumo Total del Período</a:t>
            </a:r>
          </a:p>
          <a:p>
            <a:pPr algn="ctr">
              <a:defRPr sz="1600" b="1">
                <a:solidFill>
                  <a:srgbClr val="0000FF"/>
                </a:solidFill>
              </a:defRPr>
            </a:pPr>
            <a:r>
              <a:t>630 m³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6636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Nocturno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28,5 m³ (4,5%)</a:t>
            </a:r>
          </a:p>
          <a:p>
            <a:pPr algn="ctr">
              <a:defRPr sz="900">
                <a:solidFill>
                  <a:srgbClr val="505050"/>
                </a:solidFill>
              </a:defRPr>
            </a:pPr>
            <a:r>
              <a:t>27 días de 27</a:t>
            </a:r>
          </a:p>
          <a:p>
            <a:pPr algn="ctr">
              <a:defRPr sz="900" b="1">
                <a:solidFill>
                  <a:srgbClr val="C80000"/>
                </a:solidFill>
              </a:defRPr>
            </a:pPr>
            <a:r>
              <a:t>8 alertas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04088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04088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7804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Diurno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601,6 m³ (95,5%)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6636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Nocturno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$35.477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04088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04088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7804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Diurno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$750.145</a:t>
            </a:r>
          </a:p>
        </p:txBody>
      </p:sp>
      <p:pic>
        <p:nvPicPr>
          <p:cNvPr id="23" name="Picture 22" descr="temp_consumo_horario_max_000025-0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0" y="4297680"/>
            <a:ext cx="1828800" cy="1463040"/>
          </a:xfrm>
          <a:prstGeom prst="rect">
            <a:avLst/>
          </a:prstGeom>
        </p:spPr>
      </p:pic>
      <p:pic>
        <p:nvPicPr>
          <p:cNvPr id="24" name="Picture 23" descr="temp_consumo_horario_min_000025-0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0" y="4297680"/>
            <a:ext cx="1828800" cy="146304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