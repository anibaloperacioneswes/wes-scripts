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Fichas ejecutivas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Período 01/06/2026 – 16/08/2026   |   Emisión 17 agosto 2026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DCE6F0"/>
                </a:solidFill>
                <a:latin typeface="Calibri"/>
              </a:rPr>
              <a:t>6 variables por mall  ·  umbrales a proponer en reunión  ·  noche con control ≠ fuga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Calibri"/>
              </a:rPr>
              <a:t>MAE · MAM · MAQ · BOM · AEB · CUR · PAK   |   Puntos activos WES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Cómo leer las fichas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Misma lógica del PPT 7 Malls (entrega Diego / Aníbal), actualizado a agosto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87552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Puntos WES activos del recinto. Se excluyen relocalizados en cero (Red de Incendio, Matriz/Baños CUR antiguos, Baños 5/6 PAK, KFC/Poniente 7/Locales comida). Impulsión Falabella (MAM) quedó activa el 11/08/2026.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83664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2. Consumo mensualizado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Suma de puntos WES del recinto: junio, julio y agosto 1–16, más proyección lineal a 31 días. En Kennedy no se suma la cadena DL (doble conteo).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779776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3. Hallazgos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72384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Tendencia jun–ago y puntos de mayor aporte. La noche de un punto CON control no se lee como fuga.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75887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30751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68496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Lo que queremos pasar al JO / mantención / medioambiente del mall.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572000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26864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Si el punto tiene control on/off (o corte de mantención), el caudal de madrugada no se interpreta como fuga. San Ignacio 500 desde 16/07 · Pizza Hut desde 01/07 · Estanque Norte desde 05/08 · Estanque Sur: corte de mantención nocturna.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468112"/>
            <a:ext cx="1152144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22976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6. Alertas de umbral (reunión)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 o 2 cortes por mall para cargar en WES. Diario = promedio operativo × 1,25. Nocturno = m³ en 00:00–06:00. No se propone umbral de madrugada en puntos que ya tienen control (esa noche no se lee como fuga).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Mall Arauco Estación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4 puntos activos + 1 adicional   |   01/06/2026 – 16/08/2026   |   Recepción 20/10/2025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Estanque Norte Locales Mall (000025-01)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Baños Públicos (000025-04)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PIZZA HUT (000025-07)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Sala de Bomba Estanque Sur (000025-19)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Abastecimiento Sur Terminal (000025-02) — activo, fuera del deck 7 Malls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3.178,7 m³  (106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3.073,5 m³  (99,1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1.576,5 m³  (98,5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3.054,5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Sala de Bomba Estanque Sur — jun 1.365,2 / jul 801,9 / ago 463,4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-6%  ·  ago vs jul -1%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Suma de los 4 puntos del deck (sin 000025-02).</a:t>
            </a:r>
          </a:p>
        </p:txBody>
      </p:sp>
      <p:pic>
        <p:nvPicPr>
          <p:cNvPr id="13" name="Picture 12" descr="mensual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Reparación 10/06 en red Sur (validada con mantención): Estanque Sur pasó de 83,1 a 28,9 m³/día y se mantiene (25,9 jul / 29 ago m³/día). No es fuga residual.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Pizza Hut: control nocturno desde 01/07 funciona (noche 0 m³ el 10/08). El alza de julio (23,8 → 37,7 m³/día) es diurna; agosto baja a 14 m³/día. Esa noche no se lee como fuga.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Estanque Norte: control desde 05/08. La noche no explica el alza (ago 1–4: 41,1 m³/día; 5–16: 55,9 m³/día). Revisar locales mall en horario hábil.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Baños Públicos: 16,3 → 7 → 3,4 m³/día. Noches ya ~0. Control instalado sin funcionamiento: no es prioridad.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Confirmar que el corte on/off de Estanque Sur queda a cargo permanente de mantención nocturna.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No abrir orden de fuga por noches de Norte / Pizza Hut / Sur: controles activos o corte operativo.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Revisar alza diurna de Estanque Norte en agosto (locales mall).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Estanque Norte (000025-01): umbral diario 40 m³/día. Base jun–jul ~25; agosto ~52 y el 16/08 = 93. Marca el alza diurna de locales (la noche ya tiene control).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Pizza Hut (000025-07): umbral diario 25 m³/día. Agosto ~14 m³/día; julio se disparó (hasta 195). Avisa si vuelve el alza diurna. Sin umbral de madrugada: control 00:00–06:00 activo.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Estanque Sur (000025-19): corte on/off de mantención nocturna. 10/08 noche 0,19 m³. La madrugada NO se lee como fuga.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Pizza Hut (000025-07): control 00:00–06:00 desde 01/07. Noche OK (10/08: 0 m³). No se lee como fuga.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Estanque Norte (000025-01): control desde 05/08. La madrugada NO se lee como fuga (el alza de agosto es diurna).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Mall Arauco Maipú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5 puntos activos   |   01/06/2026 – 16/08/2026   |   Recepción 06/11/2025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Placa Bancaria (000025-08)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Impulsión Falabella (000025-09) — activo desde 11/08/2026 (OC / cambio de equipo)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Impulsión Ripley (000025-10)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Pasillo Tecnico Boulevard (000025-32)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Salida de emergencia pasillo 1 ARROW (000025-33)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10.014,1 m³  (333,8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10.356,1 m³  (334,1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4.005,1 m³  (250,3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7.759,8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Placa Bancaria — jun 7.241,6 / jul 7.083,9 / ago 1.972,6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0%  ·  ago vs jul -25%</a:t>
            </a:r>
          </a:p>
        </p:txBody>
      </p:sp>
      <p:pic>
        <p:nvPicPr>
          <p:cNvPr id="13" name="Picture 12" descr="mensual_M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Placa Bancaria concentra ~67% del volumen monitoreado (jun–ago).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Auditoría 18/06: Placa subió de 137,8 a 152,3 m³/día. Julio 228,5 m³/día. Agosto 1–16 vuelve a 123,3 m³/día (bajo el nivel pre-auditoría). Noche 10/08 = 0 m³.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Ripley: noches tendiendo a cero (lámina 9 del deck); volumen jul 3.245 m³, estable en agosto (~101,2 m³/día).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Pasillo Técnico Boulevard y salida ARROW: consumo residual (71,7 y 1,2 m³ en el período).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Incorporar Impulsión Falabella al tablero diario: ya no está en espera de OC; activo desde el 11/08.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No comparar Falabella con junio–julio (serie en cero). Seguir 2–3 semanas para fijar baseline diurno y nocturno.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Mantener seguimiento de Placa Bancaria: el alza del 18/06 se revirtió en agosto; no reabrir como fuga nocturna.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Placa Bancaria (000025-08): umbral diario 155 m³/día (agosto ~123 × 1,25). El 18/06 llegó a ~410; WES avisa si se repite el salto, sin usar la media inflada de junio.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Ripley (000025-10): umbral diario 125 m³/día (promedio ~99 × 1,25). Segundo volumen del recinto; noches ya ~0. Falabella: aún sin umbral fijo (2–3 semanas de baseline).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Sin control nocturno WES declarado en este recinto.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Ripley y Placa: patrón nocturno del deck ya era ~0; esa madrugada no se lee como fuga.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Falabella: las noches desde el 12/08 (7–11 m³ en 0–6 h) SÍ entran al análisis; el punto recién entra en medición.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Mall Arauco Quilicura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16/08/2026   |   Recepción 06/11/2025 (original) / 17/02/2026 (relocalizado)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Principal (000025-13)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Alimentación Baños (000025-34)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4.033,3 m³  (134,4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6.056 m³  (195,4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3.275,1 m³  (204,7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6.345,6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Matriz Principal — jun 3.930,8 / jul 5.993,6 / ago 3.226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45%  ·  ago vs jul 5%</a:t>
            </a:r>
          </a:p>
        </p:txBody>
      </p:sp>
      <p:pic>
        <p:nvPicPr>
          <p:cNvPr id="13" name="Picture 12" descr="mensual_M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Matriz Principal = 98,4% del recinto. Baños = 1,6%.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Alza clara: 131 m³/día en junio → 193 m³/día en julio y 201,6 m³/día en agosto (1–16).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10/08 Matriz: 21 m³ en 0–6 h (de 198 m³ del día). Sigue el patrón del deck (sin noches en cero).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Alimentación Baños: bajo y estable (jun 102 / jul 62 / ago 49 m³); uso hábil.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Implementar control on/off 00:00–08:00 en Matriz Principal (igual que estanques MAE).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Oportunidad de orden de magnitud: ~21 m³/noche × 30 ≈ 629 m³/mes si se corta el caudal inhábil.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No hay control nocturno activo: este es el hallazgo principal del recinto.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Matriz Principal (000025-13) — nocturno: alerta si 00:00–06:00 &gt; 8 m³ (hoy 21–26 m³). Es lo que hay que ver en sala hasta que exista on/off.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Matriz Principal — diario: umbral 230 m³/día (mediana ~187 × 1,25). Agosto ~202; avisa si el alza jun→ago sigue. Baños: no priorizar.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hay control nocturno activo en Quilicura.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El consumo de madrugada de Matriz Principal SÍ entra al análisis: es la variable a gestionar.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Buenaventura (San Ignacio)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16/08/2026   |   Recepción 18/11/2025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300 (000025-17)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San Ignacio 500 (000025-18)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1.761,6 m³  (58,7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5.115,6 m³  (165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2.549,6 m³  (159,3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4.939,8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San Ignacio 500 — jun 1.415,3 / jul 4.066,5 / ago 1.851,9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181%  ·  ago vs jul -3%</a:t>
            </a:r>
          </a:p>
        </p:txBody>
      </p:sp>
      <p:pic>
        <p:nvPicPr>
          <p:cNvPr id="13" name="Picture 12" descr="mensual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San Ignacio 500 = ~78% del recinto. Alza desde el 26/06 (36,7 → 99,6 m³/día) y 1–15/07 en 148,7 m³/día.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Control nocturno 500 desde 16/07 FUNCIONA: 15/07 noche 36,3 m³ → 20/07 3,3 m³ → 10/08 2,3 m³. Esa noche no se lee como fuga.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El volumen diurno no volvió a la base de junio: 16–31/07 114,8 m³/día y 1–16/08 115,7 m³/día vs 36,7 m³/día (1–25/06). Queda alza operacional de día.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San Ignacio 300 (solo monitoreo): 11,5 → 33,8 → 43,6 m³/día. El 10/08, 9,9 m³ de 22,6 m³ fueron en 0–6 h (~44% nocturno). Sin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500: no reabrir fuga nocturna. Pedir a operaciones la causa del caudal diurno/vespertino que quedó alto desde el 26/06.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300: revisar consumo de madrugada sostenido e implementar control on/off (no está cubierto).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Mensaje al JO (Aliro Cortés): el control de 500 ya aporta; el ahorro grande ahora está en el día y en el 300.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500 (000025-18) — diario: umbral 145 m³/día (agosto ~116 × 1,25). La noche ya está controlada; el umbral vigila el caudal diurno que no volvió a junio.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300 (000025-17) — nocturno: alerta si 00:00–06:00 &gt; 4 m³ (el 10/08 fueron ~10 m³, ~51% del día). Sin control: esta es la alerta de madrugada del recinto.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500 (000025-18): control desde 16/07. Noche 42 → 2 m³. Esa madrugada NO se lee como fuga.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San Ignacio 300: sin control. La noche SÍ entra al análisis (el 10/08 fue ~51% nocturna).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Arauco El Bosque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16/08/2026   |   Recepción 29/10/2025 (original) / 16/01/2026 (relocalizado)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Matriz principal 1°piso (000025-11)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Anillo Plaza (000025-12)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2.116,3 m³  (70,5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2.370,9 m³  (76,5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1.144,3 m³  (71,5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2.217,2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Matriz principal 1°piso — jun 1.651,6 / jul 1.724,2 / ago 930,7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8%  ·  ago vs jul -6%</a:t>
            </a:r>
          </a:p>
        </p:txBody>
      </p:sp>
      <p:pic>
        <p:nvPicPr>
          <p:cNvPr id="13" name="Picture 12" descr="mensual_A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Puntos activos: Matriz principal 1° piso (000025-11) y Anillo Plaza (000025-12). Matriz A.A. (000025-30) = 0 m³ en el período (no operativo).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Matriz 11: jun 1.651,6 / jul 1.724,2 / ago 930,7 m³ (~55,9 m³/día, estable).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10/08 Matriz: 6,5 m³ en 0–6 h (día 55,4 m³). Sin control.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Anillo Plaza: jul 646,7 m³ (alza vs jun 464,7); 10/08 noche 2,3 de 12,2 m³.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Replicar control on/off 00:00–08:00 en Matriz (como estanques MAE). Oportunidad ~6 m³/noche.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Revisar llaves / equipos del Anillo Plaza para bajar la base nocturna.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Actualizar el listado del recinto: activo 11+12; 30 en cero.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Matriz 1° piso (000025-11) — nocturno: alerta si 00:00–06:00 &gt; 3 m³ (el 10/08 = 6,5 m³). De día está estable (~56 m³); la madrugada es lo que hay que gestionar.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Anillo Plaza (000025-12): umbral diario 22 m³/día (promedio ~17 × 1,25). Julio tuvo un pico de 58; agosto bajó a ~13. Avisa si se reabre esa alza.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hay control nocturno activo en El Bosque.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La noche de Matriz y Anillo SÍ entra al análisis: es la oportunidad de ahorro del recinto.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CUR  ·  Arauco Curauma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2 puntos activos   |   01/06/2026 – 16/08/2026   |   Recepción 29/04/2026 (Anillo Norte / Anillo Sur)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CUR Anillo Sur (000025-37)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• CUR Anillo Norte (000025-38)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663,8 m³  (22,1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618,5 m³  (20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349,4 m³  (21,8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677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aporte: CUR Anillo Sur — jun 342,3 / jul 331,9 / ago 182,4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-10%  ·  ago vs jul 9%</a:t>
            </a:r>
          </a:p>
        </p:txBody>
      </p:sp>
      <p:pic>
        <p:nvPicPr>
          <p:cNvPr id="13" name="Picture 12" descr="mensual_C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Red reconfigurada: Anillo Norte (000025-38) y Anillo Sur (000025-37). Matriz/Baños 15–16 = 0 m³ (no comparables).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Volumen conjunto estable: jun 663,8 / jul 618,5 / ago 349,4 m³ (~20–22 m³/día).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Ambos anillos aportan en partes similares (Sur levemente mayor).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En el deck se cuadró WES vs boleta Esval N° 2368516 (18/05–16/06); la diferencia se explicó por desfase de lecturas, no por pérdida.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Enviar la(s) boleta(s) Esval de junio–agosto para repetir el cuadre WES vs cuenta.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No hay control nocturno que activar como prioridad: el recinto está estable y acotado.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Mantener a Joceline Lazo / medioambiente.dcl en el tablero de los dos anillos.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Anillo Sur (000025-37): umbral diario 14 m³/día (promedio ~11 × 1,25). Recinto estable; es el anillo de mayor volumen.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Anillo Norte (000025-38): umbral diario 13 m³/día (promedio ~10 × 1,25). Los dos anillos cubren el mall; no hay un tercer punto que priorizar.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Sin control nocturno WES en Curauma.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No se declara fuga nocturna en este recinto para el período.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Parque Arauco Kennedy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10 puntos activos   |   01/06/2026 – 16/08/2026   |   Recepción 12/12/2025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024128"/>
            <a:ext cx="3977639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607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1. EQUIPOS INSTALADOS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3749039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Matriz Principal (000025-20)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Locales Gast. (000025-21)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Sala de Bomba Sandia Antigua (000025-22)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Llenado Pileta (000025-23)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Llenado Pileta Cascada (000025-24)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Distrito de lujo DL (000025-27)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Sala de Bomba Sandia Nueva (000025-28)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Impulsión Anden 3-4 Restaurante (000025-29)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PAK BAZAR GOURMET (000025-35)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PAK DL KENNEDY (000025-36)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24128"/>
            <a:ext cx="7635240" cy="22128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2. CONSUMO MENSUALIZADO (PUNTOS WES)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16736"/>
            <a:ext cx="36118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Junio: 20.927,5 m³  (697,6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Julio: 31.239 m³  (1.007,7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Agosto 1–16: 20.372,9 m³  (1.273,3 m³/día)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Proyección agosto: 39.472,5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Cifras de cabecera (20+21+22+23+24+28+29). DL/Bazar/Kennedy no se suman.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Mayor cabecera: Sala de Bomba Sandia Antigua — jun 8.532,6 / jul 13.661,2 / ago 8.588,8 m³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Variación m³/día: jul vs jun 44%  ·  ago vs jul 26%</a:t>
            </a:r>
          </a:p>
        </p:txBody>
      </p:sp>
      <p:pic>
        <p:nvPicPr>
          <p:cNvPr id="13" name="Picture 12" descr="mensual_P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611880" cy="14886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28600" y="3310128"/>
            <a:ext cx="585216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92D30"/>
                </a:solidFill>
                <a:latin typeface="Calibri"/>
              </a:rPr>
              <a:t>3. HALLAZGOS / 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602736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10 puntos activos. Baños 5/6 (25–26) relocalizados a Bazar Gourmet (35) y DL Kennedy (36).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Cadena: Sandía Antigua (22) y Sandía Nueva (28) alimentan DL (27), que se reparte en Bazar (35) y DL Kennedy (36). No sumar la cadena para facturar.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Consumo de cabecera (sin doble conteo): jun 20.927,5 / jul 31.239 / ago 20.372,9 m³.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10/08 DL: 41,2 m³ en 0–6 h (de 221 m³ del día). El deck ya marcaba al DL como el mayor nocturno de la cadena.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10128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346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7C5B"/>
                </a:solidFill>
                <a:latin typeface="Calibri"/>
              </a:rPr>
              <a:t>4. SOLICITUDES / MENSAJES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602736"/>
            <a:ext cx="5468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Evaluar control on/off 00:00–08:00 en Distrito de Lujo y salas de bomba Sandía (mismo criterio MAE).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No usar la suma de los 10 puntos como consumo del mall: hay doble conteo de la cadena DL.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D3B66"/>
                </a:solidFill>
                <a:latin typeface="Calibri"/>
              </a:rPr>
              <a:t>• Mensaje a JO (Francisco Jeldres) / mantención: la noche del DL es la variable de mayor impacto.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828032"/>
            <a:ext cx="11704320" cy="1115568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646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6. ALERTAS DE UMBRAL — PROPONER EN LA REUNIÓN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120640"/>
            <a:ext cx="11430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Distrito de Lujo (000025-27) — nocturno: alerta si 00:00–06:00 &gt; 15 m³ (el 10/08 = 41 m³). Es el mayor impacto de madrugada de Kennedy.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Andén Locales Gastronómicos (000025-21): umbral diario 180 m³/día (promedio ~144 × 1,25). Agosto ~219: confirma el alza. No umbral en Sandía: es bomba de la cadena DL.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6016752"/>
            <a:ext cx="11704320" cy="73152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6035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5. NOCHE CON CONTROL: NO SE LEE COMO FUGA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Sin control nocturno WES activo en Kennedy.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D3B66"/>
                </a:solidFill>
                <a:latin typeface="Calibri"/>
              </a:rPr>
              <a:t>• El patrón 0–8 h del DL SÍ entra al análisis: es el hallazgo a gestionar.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Consolidado  ·  mensaje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Puntos WES  |  01/06/2026 – 16/08/2026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1097280"/>
          <a:ext cx="11658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"/>
                <a:gridCol w="1234440"/>
                <a:gridCol w="1234440"/>
                <a:gridCol w="1371600"/>
                <a:gridCol w="1097280"/>
                <a:gridCol w="420624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Mall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Puntos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Junio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Julio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Ago 1–16 m³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m³/día ago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Mensaje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MAE Estación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3.179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3.074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1.577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98,5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Norte/Pizza/Sur: noche con control, no es fuga. Norte: alza diurna ago.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MAM Maipú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10.356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4.005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250,3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Placa se revirtió en ago. Falabella activa desde 11/08.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MAQ Quilicura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4.033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6.056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3.275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204,7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Matriz ~24 m³/noche — pedir control on/off.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BOM Buenaventura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159,3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500 noche OK desde 16/07; queda alza diurna + noche del 300.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AEB El Bosque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2.371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1.144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71,5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Activo 11+12. Pedir control inhábil en Matriz.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CUR Curauma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21,8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Estable. Pedir boletas Esval jun–ago.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PAK Kennedy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20.927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31.239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20.373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1.273,3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Cifras de cabecera (sin DL). Noche DL ~47 m³ (10/08) — control.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" y="6355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Fuente: API WES. Controles informados por operación (16/07 SI500, 01/07 Pizza Hut, 05/08 Estanque Norte, corte Sur por mantención nocturna).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2392226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Para la reunión  ·  umbrales a cargar en WES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1 o 2 por mall. Diario = promedio operativo × 1,25. Nocturno = m³ 00:00–06:00. Sin umbral de madrugada si ya hay control.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1078992"/>
          <a:ext cx="116586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794760"/>
                <a:gridCol w="3794760"/>
                <a:gridCol w="2377440"/>
              </a:tblGrid>
              <a:tr h="6343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Mall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Umbral 1 (prioridad)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Umbral 2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 qué este corte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MAE Estación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Estanque Norte (01): 40 m³/día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Pizza Hut (07): 25 m³/día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Alza diurna ago; noche ya controlada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MAM Maipú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Placa Bancaria (08): 155 m³/día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Ripley (10): 125 m³/día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Atrapa otro 18/06 (~410) sin media inflada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MAQ Quilicura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Nocturno · Matriz Principal (13): &gt; 8 m³ 00–06 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Matriz Principal (13): 230 m³/día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Hoy 21–26 m³; sin on/off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BOM Buenaventura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San Ignacio 500 (18): 145 m³/día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Nocturno · San Ignacio 300 (17): &gt; 4 m³ 00–06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Noche ya controlada; vigila el 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AEB El Bosque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Nocturno · Matriz 1° piso (11): &gt; 3 m³ 00–06 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Anillo Plaza (12): 22 m³/día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10/08 = 6,5 m³; día estable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CUR Curauma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Anillo Sur (37): 14 m³/día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Anillo Norte (38): 13 m³/día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Recinto estable; mayor volumen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PAK Kennedy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Nocturno · Distrito de Lujo (27): &gt; 15 m³ 00–06 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Diario · Andén Locales Gastro (21): 180 m³/día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D3B66"/>
                          </a:solidFill>
                          <a:latin typeface="Calibri"/>
                        </a:defRPr>
                      </a:pPr>
                      <a:r>
                        <a:t>10/08 = 41 m³; mayor impacto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" y="6291072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No se propone umbral nocturno en SI500, Pizza Hut, Estanque Norte ni Estanque Sur: esa madrugada no se lee como fuga. Falabella (MAM) y Sandía (PAK): sin umbral fijo aún.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