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31"/>
  </p:notesMasterIdLst>
  <p:sldIdLst>
    <p:sldId id="256" r:id="rId3"/>
    <p:sldId id="257" r:id="rId4"/>
    <p:sldId id="296" r:id="rId5"/>
    <p:sldId id="259" r:id="rId6"/>
    <p:sldId id="260" r:id="rId7"/>
    <p:sldId id="313" r:id="rId51"/>
    <p:sldId id="280" r:id="rId8"/>
    <p:sldId id="261" r:id="rId9"/>
    <p:sldId id="283" r:id="rId10"/>
    <p:sldId id="263" r:id="rId11"/>
    <p:sldId id="285" r:id="rId12"/>
    <p:sldId id="287" r:id="rId13"/>
    <p:sldId id="289" r:id="rId14"/>
    <p:sldId id="267" r:id="rId15"/>
    <p:sldId id="291" r:id="rId16"/>
    <p:sldId id="270" r:id="rId17"/>
    <p:sldId id="294" r:id="rId18"/>
    <p:sldId id="298" r:id="rId19"/>
    <p:sldId id="271" r:id="rId20"/>
    <p:sldId id="272" r:id="rId21"/>
    <p:sldId id="301" r:id="rId22"/>
    <p:sldId id="302" r:id="rId23"/>
    <p:sldId id="273" r:id="rId24"/>
    <p:sldId id="308" r:id="rId25"/>
    <p:sldId id="314" r:id="rId52"/>
    <p:sldId id="309" r:id="rId27"/>
    <p:sldId id="310" r:id="rId28"/>
    <p:sldId id="311" r:id="rId29"/>
    <p:sldId id="315" r:id="rId53"/>
    <p:sldId id="275" r:id="rId30"/>
  </p:sldIdLst>
  <p:sldSz cx="12192000" cy="6858000"/>
  <p:notesSz cx="12192000" cy="6858000"/>
  <p:embeddedFontLst>
    <p:embeddedFont>
      <p:font typeface="Helvetica Neue" panose="020B0604020202020204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Nunito" pitchFamily="2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jlLpPneBqVyNyVwIYWQkDox4T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A4C8D2-CCC5-4FB2-8A6F-C8E2A98DBC98}">
  <a:tblStyle styleId="{02A4C8D2-CCC5-4FB2-8A6F-C8E2A98DB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1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customschemas.google.com/relationships/presentationmetadata" Target="meta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6.xml"/><Relationship Id="rId52" Type="http://schemas.openxmlformats.org/officeDocument/2006/relationships/slide" Target="slides/slide25.xml"/><Relationship Id="rId53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176a252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176a2522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6176a2522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828565411_0_10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7828565411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bdbb4df6_0_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96bdbb4d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c1ba0591_0_1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96c1ba059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1792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6bdbb4df6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96bdbb4df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765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6837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bdbb4df6_0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396bdbb4df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4117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3369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bdbb4df6_0_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396bdbb4df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567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bbc299a0_0_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96bbc299a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4536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44008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1150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769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6bbc299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96bbc299a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g396bbc299a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df26862f2_0_40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2edf26862f2_0_40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g2edf26862f2_0_4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edf26862f2_0_4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edf26862f2_0_4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3551501"/>
            <a:ext cx="6653530" cy="3307079"/>
          </a:xfrm>
          <a:custGeom>
            <a:avLst/>
            <a:gdLst/>
            <a:ahLst/>
            <a:cxnLst/>
            <a:rect l="l" t="t" r="r" b="b"/>
            <a:pathLst>
              <a:path w="6653530" h="3307079" extrusionOk="0">
                <a:moveTo>
                  <a:pt x="0" y="0"/>
                </a:moveTo>
                <a:lnTo>
                  <a:pt x="6653099" y="0"/>
                </a:lnTo>
                <a:lnTo>
                  <a:pt x="6653099" y="3306498"/>
                </a:lnTo>
                <a:lnTo>
                  <a:pt x="0" y="3306498"/>
                </a:lnTo>
                <a:lnTo>
                  <a:pt x="0" y="0"/>
                </a:lnTo>
                <a:close/>
              </a:path>
            </a:pathLst>
          </a:custGeom>
          <a:solidFill>
            <a:srgbClr val="AEDEF9">
              <a:alpha val="4705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828565411_0_9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7828565411_0_9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g27828565411_0_9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7828565411_0_9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7828565411_0_9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828565411_0_10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7828565411_0_10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27828565411_0_10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27828565411_0_10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828565411_0_10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27828565411_0_10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0" name="Google Shape;110;g27828565411_0_10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1" name="Google Shape;111;g27828565411_0_10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7828565411_0_10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7828565411_0_10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828565411_0_10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7828565411_0_10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g27828565411_0_10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g27828565411_0_10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7828565411_0_10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7828565411_0_10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828565411_0_10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27828565411_0_103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g27828565411_0_10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27828565411_0_10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27828565411_0_10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828565411_0_1036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7828565411_0_1036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g27828565411_0_10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7828565411_0_10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27828565411_0_10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 type="tx">
  <p:cSld name="TITLE_AND_BOD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828565411_0_1043"/>
          <p:cNvSpPr txBox="1">
            <a:spLocks noGrp="1"/>
          </p:cNvSpPr>
          <p:nvPr>
            <p:ph type="title"/>
          </p:nvPr>
        </p:nvSpPr>
        <p:spPr>
          <a:xfrm>
            <a:off x="1976437" y="1262062"/>
            <a:ext cx="8239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"/>
              <a:buNone/>
              <a:defRPr sz="43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7828565411_0_1043"/>
          <p:cNvSpPr txBox="1">
            <a:spLocks noGrp="1"/>
          </p:cNvSpPr>
          <p:nvPr>
            <p:ph type="body" idx="1"/>
          </p:nvPr>
        </p:nvSpPr>
        <p:spPr>
          <a:xfrm>
            <a:off x="1976437" y="1747111"/>
            <a:ext cx="8239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7828565411_0_1043"/>
          <p:cNvSpPr txBox="1">
            <a:spLocks noGrp="1"/>
          </p:cNvSpPr>
          <p:nvPr>
            <p:ph type="body" idx="2"/>
          </p:nvPr>
        </p:nvSpPr>
        <p:spPr>
          <a:xfrm>
            <a:off x="1976437" y="245043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1pPr>
            <a:lvl2pPr marL="914400" lvl="1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2pPr>
            <a:lvl3pPr marL="1371600" lvl="2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3pPr>
            <a:lvl4pPr marL="1828800" lvl="3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4pPr>
            <a:lvl5pPr marL="2286000" lvl="4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27828565411_0_1043"/>
          <p:cNvSpPr txBox="1">
            <a:spLocks noGrp="1"/>
          </p:cNvSpPr>
          <p:nvPr>
            <p:ph type="sldNum" idx="12"/>
          </p:nvPr>
        </p:nvSpPr>
        <p:spPr>
          <a:xfrm>
            <a:off x="6014942" y="5753545"/>
            <a:ext cx="157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1">
  <p:cSld name="Title and Content"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828565411_0_116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7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7828565411_0_116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7828565411_0_116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27828565411_0_116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7828565411_0_116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Relationship Id="rId7" Type="http://schemas.openxmlformats.org/officeDocument/2006/relationships/image" Target="../media/image2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8025" y="3363924"/>
            <a:ext cx="1944825" cy="349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5493626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1269958" y="2561280"/>
            <a:ext cx="4650105" cy="4297045"/>
          </a:xfrm>
          <a:custGeom>
            <a:avLst/>
            <a:gdLst/>
            <a:ahLst/>
            <a:cxnLst/>
            <a:rect l="l" t="t" r="r" b="b"/>
            <a:pathLst>
              <a:path w="4650105" h="4297045" extrusionOk="0">
                <a:moveTo>
                  <a:pt x="2068599" y="4296719"/>
                </a:moveTo>
                <a:lnTo>
                  <a:pt x="136958" y="4296719"/>
                </a:lnTo>
                <a:lnTo>
                  <a:pt x="121099" y="4270862"/>
                </a:lnTo>
                <a:lnTo>
                  <a:pt x="92010" y="4216169"/>
                </a:lnTo>
                <a:lnTo>
                  <a:pt x="66984" y="4158563"/>
                </a:lnTo>
                <a:lnTo>
                  <a:pt x="45984" y="4098155"/>
                </a:lnTo>
                <a:lnTo>
                  <a:pt x="28970" y="4035057"/>
                </a:lnTo>
                <a:lnTo>
                  <a:pt x="15904" y="3969383"/>
                </a:lnTo>
                <a:lnTo>
                  <a:pt x="6746" y="3901242"/>
                </a:lnTo>
                <a:lnTo>
                  <a:pt x="1457" y="3830749"/>
                </a:lnTo>
                <a:lnTo>
                  <a:pt x="0" y="3758014"/>
                </a:lnTo>
                <a:lnTo>
                  <a:pt x="695" y="3720841"/>
                </a:lnTo>
                <a:lnTo>
                  <a:pt x="4910" y="3644954"/>
                </a:lnTo>
                <a:lnTo>
                  <a:pt x="8421" y="3606269"/>
                </a:lnTo>
                <a:lnTo>
                  <a:pt x="12859" y="3567107"/>
                </a:lnTo>
                <a:lnTo>
                  <a:pt x="18222" y="3527482"/>
                </a:lnTo>
                <a:lnTo>
                  <a:pt x="24503" y="3487409"/>
                </a:lnTo>
                <a:lnTo>
                  <a:pt x="31698" y="3446902"/>
                </a:lnTo>
                <a:lnTo>
                  <a:pt x="39802" y="3405975"/>
                </a:lnTo>
                <a:lnTo>
                  <a:pt x="48810" y="3364641"/>
                </a:lnTo>
                <a:lnTo>
                  <a:pt x="58718" y="3322916"/>
                </a:lnTo>
                <a:lnTo>
                  <a:pt x="69520" y="3280811"/>
                </a:lnTo>
                <a:lnTo>
                  <a:pt x="81211" y="3238343"/>
                </a:lnTo>
                <a:lnTo>
                  <a:pt x="93788" y="3195524"/>
                </a:lnTo>
                <a:lnTo>
                  <a:pt x="107244" y="3152369"/>
                </a:lnTo>
                <a:lnTo>
                  <a:pt x="121576" y="3108892"/>
                </a:lnTo>
                <a:lnTo>
                  <a:pt x="136777" y="3065106"/>
                </a:lnTo>
                <a:lnTo>
                  <a:pt x="152844" y="3021027"/>
                </a:lnTo>
                <a:lnTo>
                  <a:pt x="169771" y="2976667"/>
                </a:lnTo>
                <a:lnTo>
                  <a:pt x="187554" y="2932040"/>
                </a:lnTo>
                <a:lnTo>
                  <a:pt x="206188" y="2887162"/>
                </a:lnTo>
                <a:lnTo>
                  <a:pt x="225667" y="2842045"/>
                </a:lnTo>
                <a:lnTo>
                  <a:pt x="245987" y="2796704"/>
                </a:lnTo>
                <a:lnTo>
                  <a:pt x="267144" y="2751153"/>
                </a:lnTo>
                <a:lnTo>
                  <a:pt x="289132" y="2705405"/>
                </a:lnTo>
                <a:lnTo>
                  <a:pt x="311946" y="2659476"/>
                </a:lnTo>
                <a:lnTo>
                  <a:pt x="335582" y="2613378"/>
                </a:lnTo>
                <a:lnTo>
                  <a:pt x="360034" y="2567125"/>
                </a:lnTo>
                <a:lnTo>
                  <a:pt x="385298" y="2520733"/>
                </a:lnTo>
                <a:lnTo>
                  <a:pt x="411369" y="2474215"/>
                </a:lnTo>
                <a:lnTo>
                  <a:pt x="438243" y="2427584"/>
                </a:lnTo>
                <a:lnTo>
                  <a:pt x="465913" y="2380855"/>
                </a:lnTo>
                <a:lnTo>
                  <a:pt x="494376" y="2334041"/>
                </a:lnTo>
                <a:lnTo>
                  <a:pt x="523627" y="2287158"/>
                </a:lnTo>
                <a:lnTo>
                  <a:pt x="553660" y="2240218"/>
                </a:lnTo>
                <a:lnTo>
                  <a:pt x="584470" y="2193237"/>
                </a:lnTo>
                <a:lnTo>
                  <a:pt x="616054" y="2146227"/>
                </a:lnTo>
                <a:lnTo>
                  <a:pt x="648406" y="2099202"/>
                </a:lnTo>
                <a:lnTo>
                  <a:pt x="681521" y="2052178"/>
                </a:lnTo>
                <a:lnTo>
                  <a:pt x="715395" y="2005168"/>
                </a:lnTo>
                <a:lnTo>
                  <a:pt x="750021" y="1958185"/>
                </a:lnTo>
                <a:lnTo>
                  <a:pt x="785397" y="1911244"/>
                </a:lnTo>
                <a:lnTo>
                  <a:pt x="821516" y="1864359"/>
                </a:lnTo>
                <a:lnTo>
                  <a:pt x="858374" y="1817544"/>
                </a:lnTo>
                <a:lnTo>
                  <a:pt x="895966" y="1770812"/>
                </a:lnTo>
                <a:lnTo>
                  <a:pt x="934288" y="1724179"/>
                </a:lnTo>
                <a:lnTo>
                  <a:pt x="973333" y="1677657"/>
                </a:lnTo>
                <a:lnTo>
                  <a:pt x="1013099" y="1631261"/>
                </a:lnTo>
                <a:lnTo>
                  <a:pt x="1053578" y="1585005"/>
                </a:lnTo>
                <a:lnTo>
                  <a:pt x="1094768" y="1538903"/>
                </a:lnTo>
                <a:lnTo>
                  <a:pt x="1136662" y="1492969"/>
                </a:lnTo>
                <a:lnTo>
                  <a:pt x="1179256" y="1447216"/>
                </a:lnTo>
                <a:lnTo>
                  <a:pt x="1222546" y="1401660"/>
                </a:lnTo>
                <a:lnTo>
                  <a:pt x="1266525" y="1356313"/>
                </a:lnTo>
                <a:lnTo>
                  <a:pt x="1311190" y="1311190"/>
                </a:lnTo>
                <a:lnTo>
                  <a:pt x="1356313" y="1266525"/>
                </a:lnTo>
                <a:lnTo>
                  <a:pt x="1401660" y="1222545"/>
                </a:lnTo>
                <a:lnTo>
                  <a:pt x="1447216" y="1179256"/>
                </a:lnTo>
                <a:lnTo>
                  <a:pt x="1492969" y="1136662"/>
                </a:lnTo>
                <a:lnTo>
                  <a:pt x="1538903" y="1094768"/>
                </a:lnTo>
                <a:lnTo>
                  <a:pt x="1585005" y="1053578"/>
                </a:lnTo>
                <a:lnTo>
                  <a:pt x="1631261" y="1013098"/>
                </a:lnTo>
                <a:lnTo>
                  <a:pt x="1677657" y="973333"/>
                </a:lnTo>
                <a:lnTo>
                  <a:pt x="1724179" y="934288"/>
                </a:lnTo>
                <a:lnTo>
                  <a:pt x="1770812" y="895966"/>
                </a:lnTo>
                <a:lnTo>
                  <a:pt x="1817544" y="858374"/>
                </a:lnTo>
                <a:lnTo>
                  <a:pt x="1864359" y="821516"/>
                </a:lnTo>
                <a:lnTo>
                  <a:pt x="1911244" y="785397"/>
                </a:lnTo>
                <a:lnTo>
                  <a:pt x="1958185" y="750021"/>
                </a:lnTo>
                <a:lnTo>
                  <a:pt x="2005168" y="715395"/>
                </a:lnTo>
                <a:lnTo>
                  <a:pt x="2052178" y="681521"/>
                </a:lnTo>
                <a:lnTo>
                  <a:pt x="2099202" y="648406"/>
                </a:lnTo>
                <a:lnTo>
                  <a:pt x="2146227" y="616054"/>
                </a:lnTo>
                <a:lnTo>
                  <a:pt x="2193237" y="584470"/>
                </a:lnTo>
                <a:lnTo>
                  <a:pt x="2240218" y="553660"/>
                </a:lnTo>
                <a:lnTo>
                  <a:pt x="2287158" y="523627"/>
                </a:lnTo>
                <a:lnTo>
                  <a:pt x="2334042" y="494376"/>
                </a:lnTo>
                <a:lnTo>
                  <a:pt x="2380855" y="465913"/>
                </a:lnTo>
                <a:lnTo>
                  <a:pt x="2427584" y="438243"/>
                </a:lnTo>
                <a:lnTo>
                  <a:pt x="2474215" y="411369"/>
                </a:lnTo>
                <a:lnTo>
                  <a:pt x="2520733" y="385298"/>
                </a:lnTo>
                <a:lnTo>
                  <a:pt x="2567126" y="360034"/>
                </a:lnTo>
                <a:lnTo>
                  <a:pt x="2613378" y="335582"/>
                </a:lnTo>
                <a:lnTo>
                  <a:pt x="2659476" y="311946"/>
                </a:lnTo>
                <a:lnTo>
                  <a:pt x="2705405" y="289132"/>
                </a:lnTo>
                <a:lnTo>
                  <a:pt x="2751153" y="267144"/>
                </a:lnTo>
                <a:lnTo>
                  <a:pt x="2796704" y="245987"/>
                </a:lnTo>
                <a:lnTo>
                  <a:pt x="2842045" y="225667"/>
                </a:lnTo>
                <a:lnTo>
                  <a:pt x="2887162" y="206188"/>
                </a:lnTo>
                <a:lnTo>
                  <a:pt x="2932040" y="187554"/>
                </a:lnTo>
                <a:lnTo>
                  <a:pt x="2976667" y="169771"/>
                </a:lnTo>
                <a:lnTo>
                  <a:pt x="3021027" y="152844"/>
                </a:lnTo>
                <a:lnTo>
                  <a:pt x="3065107" y="136777"/>
                </a:lnTo>
                <a:lnTo>
                  <a:pt x="3108892" y="121576"/>
                </a:lnTo>
                <a:lnTo>
                  <a:pt x="3152369" y="107244"/>
                </a:lnTo>
                <a:lnTo>
                  <a:pt x="3195524" y="93788"/>
                </a:lnTo>
                <a:lnTo>
                  <a:pt x="3238343" y="81211"/>
                </a:lnTo>
                <a:lnTo>
                  <a:pt x="3280811" y="69520"/>
                </a:lnTo>
                <a:lnTo>
                  <a:pt x="3322916" y="58718"/>
                </a:lnTo>
                <a:lnTo>
                  <a:pt x="3364642" y="48810"/>
                </a:lnTo>
                <a:lnTo>
                  <a:pt x="3405975" y="39802"/>
                </a:lnTo>
                <a:lnTo>
                  <a:pt x="3446902" y="31698"/>
                </a:lnTo>
                <a:lnTo>
                  <a:pt x="3487410" y="24503"/>
                </a:lnTo>
                <a:lnTo>
                  <a:pt x="3527482" y="18222"/>
                </a:lnTo>
                <a:lnTo>
                  <a:pt x="3567107" y="12859"/>
                </a:lnTo>
                <a:lnTo>
                  <a:pt x="3606269" y="8421"/>
                </a:lnTo>
                <a:lnTo>
                  <a:pt x="3644955" y="4910"/>
                </a:lnTo>
                <a:lnTo>
                  <a:pt x="3683150" y="2334"/>
                </a:lnTo>
                <a:lnTo>
                  <a:pt x="3758014" y="0"/>
                </a:lnTo>
                <a:lnTo>
                  <a:pt x="3794655" y="252"/>
                </a:lnTo>
                <a:lnTo>
                  <a:pt x="3866283" y="3620"/>
                </a:lnTo>
                <a:lnTo>
                  <a:pt x="3935614" y="10839"/>
                </a:lnTo>
                <a:lnTo>
                  <a:pt x="4002535" y="21946"/>
                </a:lnTo>
                <a:lnTo>
                  <a:pt x="4066936" y="36981"/>
                </a:lnTo>
                <a:lnTo>
                  <a:pt x="4128702" y="55983"/>
                </a:lnTo>
                <a:lnTo>
                  <a:pt x="4187724" y="78991"/>
                </a:lnTo>
                <a:lnTo>
                  <a:pt x="4243887" y="106044"/>
                </a:lnTo>
                <a:lnTo>
                  <a:pt x="4297082" y="137180"/>
                </a:lnTo>
                <a:lnTo>
                  <a:pt x="4347194" y="172438"/>
                </a:lnTo>
                <a:lnTo>
                  <a:pt x="4394114" y="211858"/>
                </a:lnTo>
                <a:lnTo>
                  <a:pt x="4437623" y="255368"/>
                </a:lnTo>
                <a:lnTo>
                  <a:pt x="4477043" y="302287"/>
                </a:lnTo>
                <a:lnTo>
                  <a:pt x="4512301" y="352400"/>
                </a:lnTo>
                <a:lnTo>
                  <a:pt x="4543437" y="405594"/>
                </a:lnTo>
                <a:lnTo>
                  <a:pt x="4570490" y="461758"/>
                </a:lnTo>
                <a:lnTo>
                  <a:pt x="4593498" y="520779"/>
                </a:lnTo>
                <a:lnTo>
                  <a:pt x="4612500" y="582546"/>
                </a:lnTo>
                <a:lnTo>
                  <a:pt x="4627535" y="646946"/>
                </a:lnTo>
                <a:lnTo>
                  <a:pt x="4638642" y="713867"/>
                </a:lnTo>
                <a:lnTo>
                  <a:pt x="4645861" y="783198"/>
                </a:lnTo>
                <a:lnTo>
                  <a:pt x="4649229" y="854826"/>
                </a:lnTo>
                <a:lnTo>
                  <a:pt x="4649481" y="891467"/>
                </a:lnTo>
                <a:lnTo>
                  <a:pt x="4648786" y="928640"/>
                </a:lnTo>
                <a:lnTo>
                  <a:pt x="4644571" y="1004526"/>
                </a:lnTo>
                <a:lnTo>
                  <a:pt x="4641060" y="1043212"/>
                </a:lnTo>
                <a:lnTo>
                  <a:pt x="4636622" y="1082374"/>
                </a:lnTo>
                <a:lnTo>
                  <a:pt x="4631259" y="1121999"/>
                </a:lnTo>
                <a:lnTo>
                  <a:pt x="4624978" y="1162072"/>
                </a:lnTo>
                <a:lnTo>
                  <a:pt x="4617783" y="1202579"/>
                </a:lnTo>
                <a:lnTo>
                  <a:pt x="4609679" y="1243506"/>
                </a:lnTo>
                <a:lnTo>
                  <a:pt x="4600671" y="1284839"/>
                </a:lnTo>
                <a:lnTo>
                  <a:pt x="4590763" y="1326565"/>
                </a:lnTo>
                <a:lnTo>
                  <a:pt x="4579961" y="1368670"/>
                </a:lnTo>
                <a:lnTo>
                  <a:pt x="4568269" y="1411138"/>
                </a:lnTo>
                <a:lnTo>
                  <a:pt x="4555693" y="1453957"/>
                </a:lnTo>
                <a:lnTo>
                  <a:pt x="4542237" y="1497112"/>
                </a:lnTo>
                <a:lnTo>
                  <a:pt x="4527905" y="1540589"/>
                </a:lnTo>
                <a:lnTo>
                  <a:pt x="4512704" y="1584374"/>
                </a:lnTo>
                <a:lnTo>
                  <a:pt x="4496637" y="1628454"/>
                </a:lnTo>
                <a:lnTo>
                  <a:pt x="4479710" y="1672814"/>
                </a:lnTo>
                <a:lnTo>
                  <a:pt x="4461927" y="1717441"/>
                </a:lnTo>
                <a:lnTo>
                  <a:pt x="4443293" y="1762319"/>
                </a:lnTo>
                <a:lnTo>
                  <a:pt x="4423814" y="1807436"/>
                </a:lnTo>
                <a:lnTo>
                  <a:pt x="4403494" y="1852777"/>
                </a:lnTo>
                <a:lnTo>
                  <a:pt x="4382337" y="1898328"/>
                </a:lnTo>
                <a:lnTo>
                  <a:pt x="4360349" y="1944076"/>
                </a:lnTo>
                <a:lnTo>
                  <a:pt x="4337535" y="1990005"/>
                </a:lnTo>
                <a:lnTo>
                  <a:pt x="4313899" y="2036103"/>
                </a:lnTo>
                <a:lnTo>
                  <a:pt x="4289447" y="2082355"/>
                </a:lnTo>
                <a:lnTo>
                  <a:pt x="4264183" y="2128748"/>
                </a:lnTo>
                <a:lnTo>
                  <a:pt x="4238112" y="2175266"/>
                </a:lnTo>
                <a:lnTo>
                  <a:pt x="4211238" y="2221897"/>
                </a:lnTo>
                <a:lnTo>
                  <a:pt x="4183568" y="2268626"/>
                </a:lnTo>
                <a:lnTo>
                  <a:pt x="4155105" y="2315439"/>
                </a:lnTo>
                <a:lnTo>
                  <a:pt x="4125854" y="2362323"/>
                </a:lnTo>
                <a:lnTo>
                  <a:pt x="4095821" y="2409262"/>
                </a:lnTo>
                <a:lnTo>
                  <a:pt x="4065010" y="2456244"/>
                </a:lnTo>
                <a:lnTo>
                  <a:pt x="4033427" y="2503254"/>
                </a:lnTo>
                <a:lnTo>
                  <a:pt x="4001075" y="2550278"/>
                </a:lnTo>
                <a:lnTo>
                  <a:pt x="3967960" y="2597303"/>
                </a:lnTo>
                <a:lnTo>
                  <a:pt x="3934086" y="2644313"/>
                </a:lnTo>
                <a:lnTo>
                  <a:pt x="3899460" y="2691296"/>
                </a:lnTo>
                <a:lnTo>
                  <a:pt x="3864084" y="2738237"/>
                </a:lnTo>
                <a:lnTo>
                  <a:pt x="3827965" y="2785122"/>
                </a:lnTo>
                <a:lnTo>
                  <a:pt x="3791107" y="2831937"/>
                </a:lnTo>
                <a:lnTo>
                  <a:pt x="3753514" y="2878668"/>
                </a:lnTo>
                <a:lnTo>
                  <a:pt x="3715193" y="2925302"/>
                </a:lnTo>
                <a:lnTo>
                  <a:pt x="3676147" y="2971824"/>
                </a:lnTo>
                <a:lnTo>
                  <a:pt x="3636382" y="3018219"/>
                </a:lnTo>
                <a:lnTo>
                  <a:pt x="3595903" y="3064475"/>
                </a:lnTo>
                <a:lnTo>
                  <a:pt x="3554713" y="3110578"/>
                </a:lnTo>
                <a:lnTo>
                  <a:pt x="3512819" y="3156512"/>
                </a:lnTo>
                <a:lnTo>
                  <a:pt x="3470225" y="3202264"/>
                </a:lnTo>
                <a:lnTo>
                  <a:pt x="3426935" y="3247821"/>
                </a:lnTo>
                <a:lnTo>
                  <a:pt x="3382956" y="3293167"/>
                </a:lnTo>
                <a:lnTo>
                  <a:pt x="3338291" y="3338290"/>
                </a:lnTo>
                <a:lnTo>
                  <a:pt x="3293168" y="3382955"/>
                </a:lnTo>
                <a:lnTo>
                  <a:pt x="3247821" y="3426935"/>
                </a:lnTo>
                <a:lnTo>
                  <a:pt x="3202265" y="3470224"/>
                </a:lnTo>
                <a:lnTo>
                  <a:pt x="3156512" y="3512819"/>
                </a:lnTo>
                <a:lnTo>
                  <a:pt x="3110578" y="3554713"/>
                </a:lnTo>
                <a:lnTo>
                  <a:pt x="3064476" y="3595902"/>
                </a:lnTo>
                <a:lnTo>
                  <a:pt x="3018220" y="3636382"/>
                </a:lnTo>
                <a:lnTo>
                  <a:pt x="2971824" y="3676147"/>
                </a:lnTo>
                <a:lnTo>
                  <a:pt x="2925302" y="3715193"/>
                </a:lnTo>
                <a:lnTo>
                  <a:pt x="2878669" y="3753514"/>
                </a:lnTo>
                <a:lnTo>
                  <a:pt x="2831937" y="3791106"/>
                </a:lnTo>
                <a:lnTo>
                  <a:pt x="2785122" y="3827965"/>
                </a:lnTo>
                <a:lnTo>
                  <a:pt x="2738237" y="3864084"/>
                </a:lnTo>
                <a:lnTo>
                  <a:pt x="2691296" y="3899459"/>
                </a:lnTo>
                <a:lnTo>
                  <a:pt x="2644313" y="3934086"/>
                </a:lnTo>
                <a:lnTo>
                  <a:pt x="2597303" y="3967960"/>
                </a:lnTo>
                <a:lnTo>
                  <a:pt x="2550278" y="4001075"/>
                </a:lnTo>
                <a:lnTo>
                  <a:pt x="2503254" y="4033426"/>
                </a:lnTo>
                <a:lnTo>
                  <a:pt x="2456244" y="4065010"/>
                </a:lnTo>
                <a:lnTo>
                  <a:pt x="2409262" y="4095821"/>
                </a:lnTo>
                <a:lnTo>
                  <a:pt x="2362323" y="4125854"/>
                </a:lnTo>
                <a:lnTo>
                  <a:pt x="2315439" y="4155105"/>
                </a:lnTo>
                <a:lnTo>
                  <a:pt x="2268626" y="4183568"/>
                </a:lnTo>
                <a:lnTo>
                  <a:pt x="2221897" y="4211238"/>
                </a:lnTo>
                <a:lnTo>
                  <a:pt x="2175266" y="4238111"/>
                </a:lnTo>
                <a:lnTo>
                  <a:pt x="2128748" y="4264183"/>
                </a:lnTo>
                <a:lnTo>
                  <a:pt x="2082355" y="4289447"/>
                </a:lnTo>
                <a:lnTo>
                  <a:pt x="2068599" y="42967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00" b="1" i="0" u="none" strike="noStrike" cap="none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828565411_0_9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27828565411_0_9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g27828565411_0_9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g27828565411_0_9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g27828565411_0_9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hyperlink" Target="mailto:diegocarrasco@wes.cl" TargetMode="External"/><Relationship Id="rId6" Type="http://schemas.openxmlformats.org/officeDocument/2006/relationships/hyperlink" Target="https://www.linkedin.com/in/diego-carrasco-vallejos-08172224/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1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8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9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0.png"/><Relationship Id="rId5" Type="http://schemas.openxmlformats.org/officeDocument/2006/relationships/image" Target="../media/image10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hyperlink" Target="mailto:diegocarrasco@wes.cl" TargetMode="External"/><Relationship Id="rId6" Type="http://schemas.openxmlformats.org/officeDocument/2006/relationships/hyperlink" Target="https://www.linkedin.com/in/diego-carrasco-vallejos-08172224/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6176a25220_0_0"/>
          <p:cNvPicPr preferRelativeResize="0"/>
          <p:nvPr/>
        </p:nvPicPr>
        <p:blipFill rotWithShape="1">
          <a:blip r:embed="rId3">
            <a:alphaModFix/>
          </a:blip>
          <a:srcRect l="75689" t="-10043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g36176a2522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152" name="Google Shape;152;g36176a25220_0_0"/>
            <p:cNvPicPr preferRelativeResize="0"/>
            <p:nvPr/>
          </p:nvPicPr>
          <p:blipFill rotWithShape="1">
            <a:blip r:embed="rId3">
              <a:alphaModFix/>
            </a:blip>
            <a:srcRect l="-680" r="45361" b="14000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36176a2522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g36176a2522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176a2522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g36176a2522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6176a2522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16 Agosto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g36176a2522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159" name="Google Shape;159;g36176a2522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g36176a2522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g36176a2522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7828565411_0_1059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7828565411_0_1059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i="0" u="none" strike="noStrike" cap="none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SELECCIÓN DE PUNTOS</a:t>
            </a:r>
            <a:r>
              <a:rPr lang="es-CL" sz="30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 sz="1500" b="0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PRIORIZACIÓN EN BASE A FACTURACIÓN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27828565411_0_1059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7502" y="2320395"/>
            <a:ext cx="3055259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69" name="Google Shape;169;g27828565411_0_1059" title="Screenshot 2026-03-31 at 16.44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119302"/>
            <a:ext cx="3045665" cy="25714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0" name="Google Shape;170;g27828565411_0_1059" title="Screenshot 2026-03-31 at 16.45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902" y="1119304"/>
            <a:ext cx="3059613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1" name="Google Shape;171;g27828565411_0_1059" title="Screenshot 2026-03-31 at 16.46.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" y="3706812"/>
            <a:ext cx="3032246" cy="255211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2" name="Google Shape;172;g27828565411_0_1059" title="Screenshot 2026-03-31 at 16.46.3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5669" y="1122804"/>
            <a:ext cx="3032239" cy="256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7828565411_0_1059" title="Screenshot 2026-03-31 at 16.46.5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38960" y="3700636"/>
            <a:ext cx="3032239" cy="25644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4" name="Google Shape;174;g27828565411_0_1059" title="Screenshot 2026-03-31 at 16.47.2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77899" y="3689063"/>
            <a:ext cx="3059610" cy="25875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6bdbb4df6_0_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MAE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6bdbb4df6_0_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6bdbb4df6_0_5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4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(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Locales Mall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20/10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 18 /2 /2025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sistemas de control: 16/06/2026: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Locales Mall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Cotro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instalado sin funcionamiento 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Hut: control 00:00–06:00 desde 01/07/2026 (noche no se lee como fuga)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medioambiente.dcl@parauco.com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lang="es-CL" sz="1100" b="1" dirty="0">
                <a:solidFill>
                  <a:srgbClr val="303030"/>
                </a:solidFill>
              </a:rPr>
              <a:t>Equipo: salademonitoresmae@gmail.com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Sergio Fuenzalida 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Analista Gestión Ambiental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6bdbb4df6_0_5" title="Screenshot 2026-03-31 at 16.45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98" y="1244847"/>
            <a:ext cx="5632076" cy="47335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96c1ba0591_0_139"/>
          <p:cNvPicPr preferRelativeResize="0"/>
          <p:nvPr/>
        </p:nvPicPr>
        <p:blipFill rotWithShape="1">
          <a:blip r:embed="rId3">
            <a:alphaModFix/>
          </a:blip>
          <a:srcRect b="4680"/>
          <a:stretch/>
        </p:blipFill>
        <p:spPr>
          <a:xfrm>
            <a:off x="320040" y="923544"/>
            <a:ext cx="5486400" cy="235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6c1ba0591_0_139" descr="A picture containing umbrella, device,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6c1ba0591_0_139"/>
          <p:cNvSpPr txBox="1"/>
          <p:nvPr/>
        </p:nvSpPr>
        <p:spPr>
          <a:xfrm>
            <a:off x="156550" y="248925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96c1ba0591_0_139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6c1ba0591_0_139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76200" rIns="76200" bIns="50800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t>Respecto al total monitoreable entre junio y agosto</a:t>
            </a:r>
          </a:p>
          <a:p>
            <a:r>
              <a:t>Estanque Sur = </a:t>
            </a:r>
            <a:r>
              <a:rPr b="1"/>
              <a:t>33,6%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Norte = </a:t>
            </a:r>
            <a:r>
              <a:rPr b="1"/>
              <a:t>29,8%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Pizza Hut = </a:t>
            </a:r>
            <a:r>
              <a:rPr b="1"/>
              <a:t>26,9%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Baños Públicos = </a:t>
            </a:r>
            <a:r>
              <a:rPr b="1"/>
              <a:t>9,7%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</a:p>
          <a:p>
            <a:r>
              <a:t>Respecto al total monitoreable anual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Sur = </a:t>
            </a:r>
            <a:r>
              <a:rPr b="1"/>
              <a:t>57,2%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Norte = </a:t>
            </a:r>
            <a:r>
              <a:rPr b="1"/>
              <a:t>15,8%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Pizza Hut = </a:t>
            </a:r>
            <a:r>
              <a:rPr b="1"/>
              <a:t>15,2%</a:t>
            </a:r>
          </a:p>
          <a:p>
            <a:r>
              <a:t>Baños Públicos = </a:t>
            </a:r>
            <a:r>
              <a:rPr b="1"/>
              <a:t>11,9%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t>Noche con control: no se lee como fuga.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1600" marR="609583" lvl="1" indent="457200" defTabSz="36000">
              <a:spcBef>
                <a:spcPts val="600"/>
              </a:spcBef>
              <a:spcAft>
                <a:spcPts val="300"/>
              </a:spcAft>
              <a:buClr>
                <a:srgbClr val="595959"/>
              </a:buClr>
              <a:buSzPts val="2000"/>
            </a:pPr>
            <a:r>
              <a:t>Estanque Sur: corte on/off a cargo de mantención nocturna (no automático).</a:t>
            </a:r>
          </a:p>
          <a:p>
            <a:r>
              <a:t>Pizza Hut: control 00:00–06:00 desde el 01/07/2026.</a:t>
            </a:r>
          </a:p>
          <a:p>
            <a:r>
              <a:t>Estanque Norte: control on/off desde el 05/08/2026; el alza de agosto es diurna.</a:t>
            </a:r>
          </a:p>
          <a:p>
            <a:r>
              <a:t>Baños Públicos: control instalado sin uso; noches ya ~0.</a:t>
            </a:r>
          </a:p>
        </p:txBody>
      </p:sp>
      <p:pic>
        <p:nvPicPr>
          <p:cNvPr id="197" name="Google Shape;197;g396c1ba0591_0_139" title="Screenshot 2026-04-01 at 09.26.38.png"/>
          <p:cNvPicPr preferRelativeResize="0"/>
          <p:nvPr/>
        </p:nvPicPr>
        <p:blipFill rotWithShape="1">
          <a:blip r:embed="rId5">
            <a:alphaModFix/>
          </a:blip>
          <a:srcRect l="554" r="544"/>
          <a:stretch/>
        </p:blipFill>
        <p:spPr>
          <a:xfrm>
            <a:off x="1313078" y="5294376"/>
            <a:ext cx="4206240" cy="128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96c1ba0591_0_139" title="Screenshot 2026-04-01 at 09.26.0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5296" y="3630168"/>
            <a:ext cx="4169663" cy="138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96c1ba0591_0_139" title="Screenshot 2026-04-01 at 09.29.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1580" y="3257093"/>
            <a:ext cx="4206240" cy="138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96c1ba0591_0_139" title="Screenshot 2026-04-01 at 09.30.3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3653" y="4977177"/>
            <a:ext cx="4160520" cy="139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TextBox 201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Sur periodo 1/6/2026 a 16/8/2026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Baños Públicos periodo 1/6/2026 a 16/8/2026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16736" y="6400800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Norte Locales Mall periodo 1/6/2026 a 16/8/2026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207300" y="6222492"/>
            <a:ext cx="416052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Pizza Hut periodo 1/6/2026 a 16/8/2026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8"/>
            <a:ext cx="5632704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Reparación tuberías — 10/06/2026 (validado con mantención MAE)</a:t>
            </a:r>
            <a:endParaRPr dirty="0"/>
          </a:p>
          <a:p>
            <a:r>
              <a:t>Al revelar resultados WES, ese día inicia la baja de consumo en ambos estanques.</a:t>
            </a:r>
          </a:p>
          <a:p>
            <a:r>
              <a:t>Estanque Sur: promedio 1–9/jun 83,1 m³/día → 10/jun 38,7 m³/día (-</a:t>
            </a:r>
            <a:r>
              <a:rPr b="1"/>
              <a:t>53%</a:t>
            </a:r>
            <a:r>
              <a:t>).</a:t>
            </a:r>
            <a:endParaRPr dirty="0"/>
          </a:p>
          <a:p>
            <a:r>
              <a:t>Estanque Norte: promedio 1–9/jun 19,1 m³/día → 10/jun 14 m³/día (-</a:t>
            </a:r>
            <a:r>
              <a:rPr b="1"/>
              <a:t>27%</a:t>
            </a:r>
            <a:r>
              <a:t>).</a:t>
            </a:r>
            <a:endParaRPr lang="es-MX" dirty="0"/>
          </a:p>
          <a:p>
            <a:r>
              <a:t>Comportamiento proporcional: el Sur es abastecido por la salida del Norte; al corregirse la red lado sur, baja el llenado y el consumo en ambos puntos.</a:t>
            </a:r>
            <a:endParaRPr dirty="0"/>
          </a:p>
          <a:p>
            <a:endParaRPr lang="es-MX" dirty="0"/>
          </a:p>
          <a:p>
            <a:r>
              <a:t>Comparación nocturna — lun 4/5 (sin control) vs 10/08 (noche con control)</a:t>
            </a:r>
            <a:endParaRPr dirty="0"/>
          </a:p>
          <a:p>
            <a:r>
              <a:t>Estanque Sur 0–8 h: 13 m³ → 6,2 m³ (-</a:t>
            </a:r>
            <a:r>
              <a:rPr b="1"/>
              <a:t>52%</a:t>
            </a:r>
            <a:r>
              <a:t>). Corte on/off de mantención nocturna: esa madrugada no se lee como fuga.</a:t>
            </a:r>
          </a:p>
          <a:p>
            <a:r>
              <a:t>Estanque Norte 0–8 h: 8,3 m³ → 9,5 m³ (</a:t>
            </a:r>
            <a:r>
              <a:rPr b="1"/>
              <a:t>14%</a:t>
            </a:r>
            <a:r>
              <a:t>). Control desde el 05/08/2026: esa madrugada no se lee como fuga (el alza de agosto es diurna).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1147AED6-9636-4BA0-0DE1-89F48FF5D7E4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MAE - PERFILES HORARIOS (ESTANQUES)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Picture 249" descr="l05_000025-01_202605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960120"/>
            <a:ext cx="2971800" cy="1298448"/>
          </a:xfrm>
          <a:prstGeom prst="rect">
            <a:avLst/>
          </a:prstGeom>
        </p:spPr>
      </p:pic>
      <p:pic>
        <p:nvPicPr>
          <p:cNvPr id="251" name="Picture 250" descr="l05_000025-19_202605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960120"/>
            <a:ext cx="2971800" cy="1298448"/>
          </a:xfrm>
          <a:prstGeom prst="rect">
            <a:avLst/>
          </a:prstGeom>
        </p:spPr>
      </p:pic>
      <p:pic>
        <p:nvPicPr>
          <p:cNvPr id="252" name="Picture 251" descr="l05_000025-01_202608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716" y="2377440"/>
            <a:ext cx="2971800" cy="1298448"/>
          </a:xfrm>
          <a:prstGeom prst="rect">
            <a:avLst/>
          </a:prstGeom>
        </p:spPr>
      </p:pic>
      <p:pic>
        <p:nvPicPr>
          <p:cNvPr id="253" name="Picture 252" descr="l05_000025-19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2377440"/>
            <a:ext cx="2971800" cy="1298448"/>
          </a:xfrm>
          <a:prstGeom prst="rect">
            <a:avLst/>
          </a:prstGeom>
        </p:spPr>
      </p:pic>
      <p:pic>
        <p:nvPicPr>
          <p:cNvPr id="254" name="Picture 253" descr="l05_000025-01_jun202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16" y="3840480"/>
            <a:ext cx="2971800" cy="2240280"/>
          </a:xfrm>
          <a:prstGeom prst="rect">
            <a:avLst/>
          </a:prstGeom>
        </p:spPr>
      </p:pic>
      <p:pic>
        <p:nvPicPr>
          <p:cNvPr id="255" name="Picture 254" descr="l05_000025-19_jun202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7560" y="3840480"/>
            <a:ext cx="2971800" cy="224028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248716" y="2304288"/>
            <a:ext cx="297180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Estanque Norte - lunes 4/5 y lunes 10/8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337560" y="2304288"/>
            <a:ext cx="297180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Estanque Sur - lunes 4/5 y lunes 10/8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48716" y="6126480"/>
            <a:ext cx="297180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Norte — junio 2026 (evento 10/06)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337560" y="6126480"/>
            <a:ext cx="297180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Sur — junio 2026 (evento 10/06)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8"/>
            <a:ext cx="5632704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Baños Públicos — 10/08/2026</a:t>
            </a:r>
            <a:endParaRPr dirty="0"/>
          </a:p>
          <a:p>
            <a:r>
              <a:t>Sistema validado: consumo concentrado en horario hábil.</a:t>
            </a:r>
          </a:p>
          <a:p>
            <a:r>
              <a:t>Nocturno 0–8 h = 0,7 m³ (lun 4/5: 1,7 m³).</a:t>
            </a:r>
            <a:endParaRPr dirty="0"/>
          </a:p>
          <a:p>
            <a:r>
              <a:t>Control instalado sin uso; noches ya ~0. No se interpreta como fuga.</a:t>
            </a:r>
            <a:endParaRPr lang="es-MX" dirty="0"/>
          </a:p>
          <a:p>
            <a:endParaRPr dirty="0"/>
          </a:p>
          <a:p>
            <a:r>
              <a:t>Pizza Hut — 10/08/2026 (control activo desde 01/07)</a:t>
            </a:r>
            <a:endParaRPr lang="es-MX" dirty="0"/>
          </a:p>
          <a:p>
            <a:r>
              <a:t>Control on/off 00:00–06:00; nocturno 0–8 h = 0 m³ (lun 4/5 sin control: 0,1 m³).</a:t>
            </a:r>
            <a:endParaRPr dirty="0"/>
          </a:p>
          <a:p>
            <a:r>
              <a:t>Pico nocturno 0–8 h: 0 m³/h.</a:t>
            </a:r>
          </a:p>
          <a:p>
            <a:r>
              <a:t>Esa noche no se lee como fuga. El alza de julio fue diurna; agosto baja.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1147AED6-9636-4BA0-0DE1-89F48FF5D7E4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MAE - PERFILES HORARIOS (BAÑOS Y PIZZA)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Picture 213" descr="l06_000025-04_20260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" y="1033271"/>
            <a:ext cx="5510174" cy="2514600"/>
          </a:xfrm>
          <a:prstGeom prst="rect">
            <a:avLst/>
          </a:prstGeom>
        </p:spPr>
      </p:pic>
      <p:pic>
        <p:nvPicPr>
          <p:cNvPr id="215" name="Picture 214" descr="l06_000025-07_20260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" y="3794760"/>
            <a:ext cx="5510174" cy="251460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248716" y="3593592"/>
            <a:ext cx="5510174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Baños Públicos - lunes 10/8 (sistema validado)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8716" y="6355080"/>
            <a:ext cx="5510174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Pizza Hut - lunes 10/8 (control activo)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7"/>
            <a:ext cx="5632704" cy="337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Reparación Presostato 10/6 (Validado con Mantención MAE)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día de la reparación se produce una baja en el consumó en el estanque sur del un -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53%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Estanque Sur: promedio 1–9/jun 83,1 m³/día → 10/jun 38,7 m³/día.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Motivos que pueden provocar esta baja de </a:t>
            </a:r>
            <a:r>
              <a:rPr lang="es-CL" sz="12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conusmo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por presostato.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sistema dejó de presurizar la red de forma innecesaria.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Disminución de fugas por alta presión.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control volvió a operar dentro de los rangos de diseño.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eliminó un funcionamiento continuo.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Pizza Hut 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Desde el día 18-06 mantiene control nocturno automatizado de 00:00 a 06:00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Sector baño guardias tiene oportunidad ahorro activando el punto de control.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0508"/>
            <a:ext cx="6095999" cy="2240280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1187345" y="3156627"/>
            <a:ext cx="423909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</a:t>
            </a:r>
            <a:r>
              <a:rPr sz="1000" b="1" i="1" dirty="0"/>
              <a:t> </a:t>
            </a:r>
            <a:r>
              <a:rPr sz="1000" b="1" i="1" dirty="0" err="1"/>
              <a:t>diario</a:t>
            </a:r>
            <a:r>
              <a:rPr sz="1000" b="1" i="1" dirty="0"/>
              <a:t> </a:t>
            </a:r>
            <a:r>
              <a:rPr sz="1000" b="1" i="1" dirty="0" err="1"/>
              <a:t>Estanque</a:t>
            </a:r>
            <a:r>
              <a:rPr sz="1000" b="1" i="1" dirty="0"/>
              <a:t> Sur — </a:t>
            </a:r>
            <a:r>
              <a:rPr sz="1000" b="1" i="1" dirty="0" err="1"/>
              <a:t>junio</a:t>
            </a:r>
            <a:r>
              <a:rPr sz="1000" b="1" i="1" dirty="0"/>
              <a:t> 2026 (</a:t>
            </a:r>
            <a:r>
              <a:rPr sz="1000" b="1" i="1" dirty="0" err="1"/>
              <a:t>evento</a:t>
            </a:r>
            <a:r>
              <a:rPr sz="1000" b="1" i="1" dirty="0"/>
              <a:t> 10/06)</a:t>
            </a:r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C3F77833-E4A0-97FE-D2F4-ECF2C691B4E7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25" descr="image.png">
            <a:extLst>
              <a:ext uri="{FF2B5EF4-FFF2-40B4-BE49-F238E27FC236}">
                <a16:creationId xmlns:a16="http://schemas.microsoft.com/office/drawing/2014/main" id="{37420815-F846-3450-C4B9-EC1D825CF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938" y="3492693"/>
            <a:ext cx="5510174" cy="2514600"/>
          </a:xfrm>
          <a:prstGeom prst="rect">
            <a:avLst/>
          </a:prstGeom>
        </p:spPr>
      </p:pic>
      <p:sp>
        <p:nvSpPr>
          <p:cNvPr id="4" name="TextBox 227">
            <a:extLst>
              <a:ext uri="{FF2B5EF4-FFF2-40B4-BE49-F238E27FC236}">
                <a16:creationId xmlns:a16="http://schemas.microsoft.com/office/drawing/2014/main" id="{950267E0-02A0-93D1-7383-F225885E7FFB}"/>
              </a:ext>
            </a:extLst>
          </p:cNvPr>
          <p:cNvSpPr txBox="1"/>
          <p:nvPr/>
        </p:nvSpPr>
        <p:spPr>
          <a:xfrm>
            <a:off x="6681989" y="6147111"/>
            <a:ext cx="5510174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Baños</a:t>
            </a:r>
            <a:r>
              <a:rPr sz="1000" b="1" i="1" dirty="0"/>
              <a:t> </a:t>
            </a:r>
            <a:r>
              <a:rPr sz="1000" b="1" i="1" dirty="0" err="1"/>
              <a:t>Públicos</a:t>
            </a:r>
            <a:r>
              <a:rPr sz="1000" b="1" i="1" dirty="0"/>
              <a:t> - </a:t>
            </a:r>
            <a:r>
              <a:rPr sz="1000" b="1" i="1" dirty="0" err="1"/>
              <a:t>jueves</a:t>
            </a:r>
            <a:r>
              <a:rPr sz="1000" b="1" i="1" dirty="0"/>
              <a:t> 18/6 (</a:t>
            </a:r>
            <a:r>
              <a:rPr sz="1000" b="1" i="1" dirty="0" err="1"/>
              <a:t>sistema</a:t>
            </a:r>
            <a:r>
              <a:rPr sz="1000" b="1" i="1" dirty="0"/>
              <a:t> </a:t>
            </a:r>
            <a:r>
              <a:rPr sz="1000" b="1" i="1" dirty="0" err="1"/>
              <a:t>validado</a:t>
            </a:r>
            <a:r>
              <a:rPr sz="1000" b="1" i="1" dirty="0"/>
              <a:t>)</a:t>
            </a:r>
          </a:p>
        </p:txBody>
      </p:sp>
      <p:pic>
        <p:nvPicPr>
          <p:cNvPr id="5" name="Picture 226" descr="image.png">
            <a:extLst>
              <a:ext uri="{FF2B5EF4-FFF2-40B4-BE49-F238E27FC236}">
                <a16:creationId xmlns:a16="http://schemas.microsoft.com/office/drawing/2014/main" id="{83F04607-389D-631B-0889-D546F6E86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49" y="3413279"/>
            <a:ext cx="5939449" cy="2514600"/>
          </a:xfrm>
          <a:prstGeom prst="rect">
            <a:avLst/>
          </a:prstGeom>
        </p:spPr>
      </p:pic>
      <p:sp>
        <p:nvSpPr>
          <p:cNvPr id="6" name="TextBox 228">
            <a:extLst>
              <a:ext uri="{FF2B5EF4-FFF2-40B4-BE49-F238E27FC236}">
                <a16:creationId xmlns:a16="http://schemas.microsoft.com/office/drawing/2014/main" id="{E235120D-3C7B-32A6-F71C-6DD36A5AA638}"/>
              </a:ext>
            </a:extLst>
          </p:cNvPr>
          <p:cNvSpPr txBox="1"/>
          <p:nvPr/>
        </p:nvSpPr>
        <p:spPr>
          <a:xfrm>
            <a:off x="585824" y="6108755"/>
            <a:ext cx="5510174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Pizza Hut - </a:t>
            </a:r>
            <a:r>
              <a:rPr sz="1000" b="1" i="1" dirty="0" err="1"/>
              <a:t>jueves</a:t>
            </a:r>
            <a:r>
              <a:rPr sz="1000" b="1" i="1" dirty="0"/>
              <a:t> 18/6 (control </a:t>
            </a:r>
            <a:r>
              <a:rPr sz="1000" b="1" i="1" dirty="0" err="1"/>
              <a:t>activo</a:t>
            </a:r>
            <a:r>
              <a:rPr sz="1000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789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TextBox 235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"/>
            </a:pPr>
            <a:r>
              <a:t>Respecto al total monitoreable entre junio y agosto</a:t>
            </a:r>
          </a:p>
          <a:p>
            <a:pPr>
              <a:buNone/>
            </a:pPr>
            <a:r>
              <a:t>Placa Bancaria = </a:t>
            </a:r>
            <a:r>
              <a:rPr b="1"/>
              <a:t>66,9%</a:t>
            </a:r>
          </a:p>
          <a:p>
            <a:pPr>
              <a:buNone/>
            </a:pPr>
            <a:r>
              <a:t>Impulsión Ripley = </a:t>
            </a:r>
            <a:r>
              <a:rPr b="1"/>
              <a:t>31,2%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1,7%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al total monitoreable anual</a:t>
            </a:r>
          </a:p>
          <a:p>
            <a:pPr>
              <a:buNone/>
            </a:pPr>
            <a:r>
              <a:t>Placa Bancaria = </a:t>
            </a:r>
            <a:r>
              <a:rPr b="1"/>
              <a:t>56,7%</a:t>
            </a:r>
          </a:p>
          <a:p>
            <a:pPr>
              <a:buNone/>
            </a:pPr>
            <a:r>
              <a:t>Impulsión Ripley = </a:t>
            </a:r>
            <a:r>
              <a:rPr b="1"/>
              <a:t>27,6%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15,3%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 Impulsión Falabella:</a:t>
            </a:r>
          </a:p>
          <a:p>
            <a:pPr>
              <a:buNone/>
            </a:pPr>
            <a:r>
              <a:t>Activa desde el 11/08/2026. Junio–julio = 0 m³ (equipo fuera). Sin control nocturno; seguir 2–3 semanas para fijar baseline.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 la auditoría (Placa Bancaria):</a:t>
            </a:r>
          </a:p>
          <a:p>
            <a:pPr>
              <a:buNone/>
            </a:pPr>
            <a:r>
              <a:t>Desde el 18/6/2026 el promedio diario cambió </a:t>
            </a:r>
            <a:r>
              <a:rPr b="1"/>
              <a:t>40,9%</a:t>
            </a:r>
            <a:r>
              <a:t> (de 160,5 a 226,2 m³/día). Agosto revierte cerca del nivel pre-auditoría. Noche no se lee como fuga.</a:t>
            </a:r>
          </a:p>
        </p:txBody>
      </p:sp>
      <p:pic>
        <p:nvPicPr>
          <p:cNvPr id="241" name="Picture 240" descr="l08_total_rank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2475" y="3177540"/>
            <a:ext cx="4206240" cy="2093976"/>
          </a:xfrm>
          <a:prstGeom prst="rect">
            <a:avLst/>
          </a:prstGeom>
        </p:spPr>
      </p:pic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630168"/>
            <a:ext cx="5486400" cy="1965960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475" y="5756148"/>
            <a:ext cx="4206240" cy="811987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002475" y="534832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Ripley periodo 1/6/2026 a 16/8/2026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20040" y="5641848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Placa Bancaria periodo 1/6/2026 a 16/8/2026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759244" y="655990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Impulsión Falabella periodo 1/6/2026 a 16/8/2026 (activa 11/08)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har char=""/>
              <a:buFont typeface="Arial" panose="020B0604020202020204" pitchFamily="34" charset="0"/>
            </a:pPr>
            <a:r>
              <a:t>Respecto del total monitoreado</a:t>
            </a:r>
            <a:endParaRPr sz="1200" dirty="0"/>
          </a:p>
          <a:p>
            <a:pPr>
              <a:buNone/>
            </a:pPr>
            <a:r>
              <a:t>Placa Bancaria = </a:t>
            </a:r>
            <a:r>
              <a:rPr b="1"/>
              <a:t>66,9%</a:t>
            </a:r>
          </a:p>
          <a:p>
            <a:pPr>
              <a:buNone/>
            </a:pPr>
            <a:r>
              <a:t>Impulsión Ripley = </a:t>
            </a:r>
            <a:r>
              <a:rPr b="1"/>
              <a:t>31,2%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1,7%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  <a:endParaRPr sz="1200" b="1" dirty="0"/>
          </a:p>
          <a:p>
            <a:pPr marL="171450" indent="-171450">
              <a:buNone/>
              <a:buFont typeface="Arial" panose="020B0604020202020204" pitchFamily="34" charset="0"/>
            </a:pPr>
            <a:endParaRPr sz="1200" dirty="0"/>
          </a:p>
          <a:p>
            <a:pPr>
              <a:buChar char=""/>
            </a:pPr>
            <a:r>
              <a:t>Respecto a Impulsión Falabella:</a:t>
            </a:r>
          </a:p>
          <a:p>
            <a:pPr>
              <a:buNone/>
            </a:pPr>
            <a:r>
              <a:t>Activa desde el 11/08/2026 (OC / cambio de equipo). Junio–julio = 0 m³. No comparar con la serie previa. Sin control nocturno; baseline 2–3 semanas.</a:t>
            </a:r>
          </a:p>
          <a:p>
            <a:pPr>
              <a:buChar char=""/>
            </a:pPr>
            <a:r>
              <a:t>Respecto a la auditoría (Placa Bancaria):</a:t>
            </a:r>
          </a:p>
          <a:p>
            <a:pPr>
              <a:buNone/>
            </a:pPr>
            <a:r>
              <a:t>El 18/6/2026 el consumo diario promedio cambió </a:t>
            </a:r>
            <a:r>
              <a:rPr b="1"/>
              <a:t>40,9%</a:t>
            </a:r>
            <a:r>
              <a:t> (de 160,5 a 226,2 m³/día). En agosto el volumen vuelve cerca del nivel pre-auditoría. La noche de Placa no se lee como fuga.</a:t>
            </a:r>
          </a:p>
          <a:p>
            <a:pPr>
              <a:buNone/>
            </a:pPr>
            <a:endParaRPr sz="1200" b="1" dirty="0"/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  <a:p>
            <a:pPr>
              <a:buNone/>
            </a:pPr>
            <a:endParaRPr sz="1200" dirty="0"/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475" y="3177540"/>
            <a:ext cx="4206240" cy="2093976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3630168"/>
            <a:ext cx="5486400" cy="1965960"/>
          </a:xfrm>
          <a:prstGeom prst="rect">
            <a:avLst/>
          </a:prstGeom>
        </p:spPr>
      </p:pic>
      <p:pic>
        <p:nvPicPr>
          <p:cNvPr id="243" name="Picture 242" descr="l07b_000025-09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756148"/>
            <a:ext cx="4206240" cy="811987"/>
          </a:xfrm>
          <a:prstGeom prst="rect">
            <a:avLst/>
          </a:prstGeom>
        </p:spPr>
      </p:pic>
      <p:sp>
        <p:nvSpPr>
          <p:cNvPr id="244" name="TextBox 243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total periodo 1/6/2026 a 16/8/2026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002475" y="534832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Ripley periodo 1/6/2026 a 16/8/2026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20040" y="5641848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Placa Bancaria periodo 1/6/2026 a 16/8/2026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759244" y="655990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Impulsión Falabella periodo 1/6/2026 a 16/8/2026 (activa 11/08)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TextBox 318"/>
          <p:cNvSpPr txBox="1"/>
          <p:nvPr/>
        </p:nvSpPr>
        <p:spPr>
          <a:xfrm>
            <a:off x="6559905" y="138988"/>
            <a:ext cx="5632704" cy="280080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171450" lvl="0" indent="-171450">
              <a:buChar char=""/>
              <a:buFont typeface="Arial" panose="020B0604020202020204" pitchFamily="34" charset="0"/>
              <a:tabLst>
                <a:tab pos="270510" algn="l"/>
              </a:tabLst>
            </a:pPr>
            <a:r>
              <a:t>Impulsión Ripley — consumo nocturno (0–8 h).</a:t>
            </a:r>
          </a:p>
          <a:p>
            <a:pPr>
              <a:buNone/>
            </a:pPr>
            <a:endParaRPr sz="1200" dirty="0"/>
          </a:p>
          <a:p>
            <a:pPr>
              <a:buChar char=""/>
            </a:pPr>
            <a:r>
              <a:t>En el período analizado, el consumo nocturno tiende a cero (</a:t>
            </a:r>
            <a:r>
              <a:rPr b="1"/>
              <a:t>40%</a:t>
            </a:r>
            <a:r>
              <a:t> de las noches sin flujo significativo).</a:t>
            </a:r>
          </a:p>
          <a:p>
            <a:pPr>
              <a:buNone/>
            </a:pPr>
            <a:r>
              <a:t>Lun 4/5: nocturno = 0,01 m³ (patrón esperado con mall cerrado).</a:t>
            </a:r>
          </a:p>
          <a:p>
            <a:pPr>
              <a:buNone/>
            </a:pPr>
            <a:r>
              <a:t>Lun 8/6: nocturno = 31,6 m³ (pico 3,66 m³/h) — día con consumo en horario inhábil.</a:t>
            </a:r>
          </a:p>
          <a:p>
            <a:pPr>
              <a:buNone/>
            </a:pPr>
            <a:endParaRPr sz="1200" dirty="0"/>
          </a:p>
          <a:p>
            <a:pPr marL="171450" lvl="0" indent="-171450">
              <a:buChar char=""/>
              <a:buFont typeface="Arial" panose="020B0604020202020204" pitchFamily="34" charset="0"/>
              <a:tabLst>
                <a:tab pos="270510" algn="l"/>
              </a:tabLst>
            </a:pPr>
            <a:r>
              <a:t>Recomendación:</a:t>
            </a:r>
          </a:p>
          <a:p>
            <a:pPr>
              <a:buNone/>
              <a:tabLst>
                <a:tab pos="270510" algn="l"/>
              </a:tabLst>
            </a:pPr>
            <a:endParaRPr sz="1200" dirty="0"/>
          </a:p>
          <a:p>
            <a:pPr>
              <a:buNone/>
            </a:pPr>
            <a:r>
              <a:t>Activar alerta de umbral en horario 0–8 h (≥ 0,5 m³/h) para detectar fugas o consumo fuera de horario, sin requerir control on/off</a:t>
            </a:r>
          </a:p>
          <a:p>
            <a:pPr>
              <a:buNone/>
            </a:pPr>
            <a:endParaRPr lang="es-MX" sz="1200" dirty="0"/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Placa Bancaria — consumo nocturno (0–8 h)</a:t>
            </a:r>
          </a:p>
          <a:p>
            <a:pPr>
              <a:buNone/>
            </a:pPr>
            <a:r>
              <a:t>Promedio nocturno del período: 11,9 m³/día (1,33 m³/h de promedio horario).</a:t>
            </a:r>
          </a:p>
          <a:p>
            <a:pPr>
              <a:buChar char=""/>
            </a:pPr>
            <a:r>
              <a:t>En el período analizado, el consumo nocturno se mantiene sostenido en todas las noches (sin tendencia a cero).</a:t>
            </a:r>
          </a:p>
          <a:p>
            <a:pPr>
              <a:buNone/>
            </a:pPr>
            <a:r>
              <a:t>Gráfico: perfil promedio de 24 h (77 días, 01/06/2026–16/08/2026).</a:t>
            </a:r>
          </a:p>
          <a:p>
            <a:pPr>
              <a:buNone/>
            </a:pPr>
            <a:endParaRPr sz="1200" dirty="0"/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Recomendación:</a:t>
            </a:r>
          </a:p>
          <a:p>
            <a:pPr>
              <a:buNone/>
            </a:pPr>
            <a:r>
              <a:t>Implementar control on/off en horario inhábil (0–8 h), gestionado por el servicio de cámaras del mall.</a:t>
            </a:r>
          </a:p>
        </p:txBody>
      </p:sp>
      <p:pic>
        <p:nvPicPr>
          <p:cNvPr id="320" name="Picture 319" descr="l09_000025-10_20260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71" y="855189"/>
            <a:ext cx="5510174" cy="1887321"/>
          </a:xfrm>
          <a:prstGeom prst="rect">
            <a:avLst/>
          </a:prstGeom>
        </p:spPr>
      </p:pic>
      <p:pic>
        <p:nvPicPr>
          <p:cNvPr id="321" name="Picture 320" descr="l09_000025-10_202606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23" y="2854549"/>
            <a:ext cx="5437022" cy="1858060"/>
          </a:xfrm>
          <a:prstGeom prst="rect">
            <a:avLst/>
          </a:prstGeom>
        </p:spPr>
      </p:pic>
      <p:sp>
        <p:nvSpPr>
          <p:cNvPr id="322" name="TextBox 321"/>
          <p:cNvSpPr txBox="1"/>
          <p:nvPr/>
        </p:nvSpPr>
        <p:spPr>
          <a:xfrm>
            <a:off x="1219809" y="2728795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4/5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19809" y="4712609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8/6</a:t>
            </a:r>
          </a:p>
        </p:txBody>
      </p:sp>
      <p:pic>
        <p:nvPicPr>
          <p:cNvPr id="324" name="Picture 323" descr="l09_000025-08_promedio_24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5" y="3090672"/>
            <a:ext cx="5632704" cy="1965960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7002475" y="5093208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Placa Bancaria — promedio 24 h periodo 01/06/2026 a 16/08/2026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96bdbb4df6_0_16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MAQ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6bdbb4df6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96bdbb4df6_0_16" title="Screenshot 2026-03-31 at 16.46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44" y="1247562"/>
            <a:ext cx="5630400" cy="47280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273" name="Google Shape;273;g396bdbb4df6_0_16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Alimentación Baños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 de incendio 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6 /11 /2025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17/02/2026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14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indent="-311150">
              <a:lnSpc>
                <a:spcPct val="115000"/>
              </a:lnSpc>
              <a:buSzPts val="1300"/>
              <a:buFont typeface="Arial"/>
              <a:buChar char="●"/>
              <a:defRPr/>
            </a:pP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Mario </a:t>
            </a:r>
            <a:r>
              <a:rPr kumimoji="0" lang="es-MX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Freitez</a:t>
            </a: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Jefe de Operaciones.</a:t>
            </a:r>
            <a:endParaRPr kumimoji="0" lang="es-CL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 Mantenimiento: Iván Dustan,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Katihuska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Varas, Lucas Méndez y Carlos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Leyto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MAQ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54;g396c1ba0591_0_235"/>
          <p:cNvSpPr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</a:p>
          <a:p>
            <a:pPr>
              <a:buNone/>
            </a:pPr>
            <a:r>
              <a:t>Matriz Principal = </a:t>
            </a:r>
            <a:r>
              <a:rPr b="1"/>
              <a:t>98,4%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t>Alimentación Baños = </a:t>
            </a:r>
            <a:r>
              <a:rPr b="1"/>
              <a:t>1,6%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None/>
            </a:pPr>
            <a:r>
              <a:t>Matriz Principal = </a:t>
            </a:r>
            <a:r>
              <a:rPr b="1"/>
              <a:t>97,7%</a:t>
            </a:r>
          </a:p>
          <a:p>
            <a:pPr>
              <a:buNone/>
            </a:pPr>
            <a:r>
              <a:t>Alimentación Baños = </a:t>
            </a:r>
            <a:r>
              <a:rPr b="1"/>
              <a:t>2,3%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</a:p>
          <a:p>
            <a:pPr>
              <a:buNone/>
            </a:pPr>
            <a:r>
              <a:t>No hay control nocturno en Matriz Principal: la madrugada SÍ entra al análisis.</a:t>
            </a:r>
          </a:p>
          <a:p>
            <a:pPr>
              <a:buNone/>
            </a:pPr>
            <a:r>
              <a:t>Pedido: on/off 00:00–08:00 (mismo criterio estanques MAE). ~24 m³/noche el 10/08.</a:t>
            </a:r>
          </a:p>
        </p:txBody>
      </p:sp>
      <p:pic>
        <p:nvPicPr>
          <p:cNvPr id="255" name="Picture 254" descr="l11_maq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56" name="Picture 255" descr="l11_maq_000025-13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257" name="Picture 256" descr="l11_maq_000025-34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Matriz Principal periodo 1/6/2026 a 16/8/2026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Alimentación Baños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177897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MAQ - PERFILES HORARIOS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buChar char=""/>
              <a:spcBef>
                <a:spcPts val="0"/>
              </a:spcBef>
              <a:spcAft>
                <a:spcPts val="0"/>
              </a:spcAft>
            </a:pPr>
            <a:r>
              <a:t>Matriz Principal — consumo nocturno (0–8 h)</a:t>
            </a:r>
          </a:p>
          <a:p>
            <a:pPr>
              <a:buNone/>
            </a:pPr>
            <a:r>
              <a:t>Promedio del período: 28,8 m³/noche (3,2 m³/h); sin noches en cero.</a:t>
            </a:r>
          </a:p>
          <a:p>
            <a:pPr>
              <a:buNone/>
            </a:pPr>
            <a:r>
              <a:t>Lun 4/5: nocturno = 22,5 m³ (pico 3,51 m³/h).</a:t>
            </a:r>
          </a:p>
          <a:p>
            <a:pPr>
              <a:buNone/>
            </a:pPr>
            <a:r>
              <a:t>Lun 8/6: nocturno = 32,8 m³ (pico 6,78 m³/h).</a:t>
            </a:r>
          </a:p>
          <a:p>
            <a:pPr>
              <a:buNone/>
            </a:pPr>
            <a:r>
              <a:t>Referencia informe anterior: 1,6 m³/h (pico lun 8/6 +</a:t>
            </a:r>
            <a:r>
              <a:rPr b="1"/>
              <a:t>324%</a:t>
            </a:r>
            <a:r>
              <a:t> sobre techo).</a:t>
            </a:r>
          </a:p>
          <a:p>
            <a:pPr>
              <a:buNone/>
            </a:pPr>
          </a:p>
          <a:p>
            <a:pPr>
              <a:buChar char=""/>
            </a:pPr>
            <a:r>
              <a:t>Recomendación:</a:t>
            </a:r>
          </a:p>
          <a:p>
            <a:pPr>
              <a:buNone/>
            </a:pPr>
            <a:r>
              <a:t>Implementar control on/off en horario inhábil (0–8 h), replicando la gestión de estanques MAE.</a:t>
            </a:r>
          </a:p>
          <a:p>
            <a:pPr>
              <a:buNone/>
            </a:pPr>
          </a:p>
          <a:p>
            <a:pPr>
              <a:buChar char=""/>
            </a:pPr>
            <a:r>
              <a:t>Alimentación Baños — consumo nocturno (0–8 h)</a:t>
            </a:r>
          </a:p>
          <a:p>
            <a:pPr>
              <a:buChar char=""/>
            </a:pPr>
            <a:r>
              <a:t>En el período analizado, el consumo nocturno tiende a cero (</a:t>
            </a:r>
            <a:r>
              <a:rPr b="1"/>
              <a:t>77%</a:t>
            </a:r>
            <a:r>
              <a:t> de las noches sin flujo significativo).</a:t>
            </a:r>
          </a:p>
          <a:p>
            <a:pPr>
              <a:buNone/>
            </a:pPr>
            <a:r>
              <a:t>Lun 4/5: nocturno = 0,05 m³; hábil 8–17 h = 17,7 m³.</a:t>
            </a:r>
          </a:p>
          <a:p>
            <a:pPr>
              <a:buNone/>
            </a:pPr>
            <a:r>
              <a:t>Lun 8/6: nocturno = 0,06 m³; patrón esperado en día de baja actividad del mall.</a:t>
            </a:r>
          </a:p>
          <a:p>
            <a:pPr>
              <a:buNone/>
            </a:pPr>
            <a:r>
              <a:t>La red de baños no requiere control on/off; el consumo se concentra en apertura.</a:t>
            </a:r>
          </a:p>
        </p:txBody>
      </p:sp>
      <p:pic>
        <p:nvPicPr>
          <p:cNvPr id="255" name="Picture 254" descr="l12_000025-13_202605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256" name="Picture 255" descr="l12_000025-13_202608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257" name="Picture 256" descr="l12_000025-34_202605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258" name="Picture 257" descr="l12_000025-34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600200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186891" y="3073298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4/5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439265" y="5696712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10/8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002475" y="5047488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Alimentación Baños - lunes 4/5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002475" y="674827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Alimentación Baños - lunes 10/8</a:t>
            </a:r>
          </a:p>
        </p:txBody>
      </p:sp>
    </p:spTree>
    <p:extLst>
      <p:ext uri="{BB962C8B-B14F-4D97-AF65-F5344CB8AC3E}">
        <p14:creationId xmlns:p14="http://schemas.microsoft.com/office/powerpoint/2010/main" val="1238629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96bdbb4df6_0_4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BOM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96bdbb4df6_0_4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6bdbb4df6_0_4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300 → Monitoreo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500 → Monitoreo y control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18 /11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11 /12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Aliro Cortes: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1" name="Google Shape;311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6bdbb4df6_0_40" title="Screenshot 2026-03-31 at 16.46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42" y="1236792"/>
            <a:ext cx="5620945" cy="4753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4F339F8-C5B8-73D3-9802-635D5B41AB43}"/>
              </a:ext>
            </a:extLst>
          </p:cNvPr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  <a:endParaRPr dirty="0"/>
          </a:p>
          <a:p>
            <a:pPr>
              <a:buNone/>
            </a:pPr>
            <a:r>
              <a:t>San Ignacio 500 = </a:t>
            </a:r>
            <a:r>
              <a:rPr b="1"/>
              <a:t>77,8%</a:t>
            </a:r>
          </a:p>
          <a:p>
            <a:pPr>
              <a:buNone/>
            </a:pPr>
            <a:r>
              <a:t>San Ignacio 300 = </a:t>
            </a:r>
            <a:r>
              <a:rPr b="1"/>
              <a:t>22,2%</a:t>
            </a:r>
          </a:p>
          <a:p>
            <a:pPr>
              <a:buNone/>
            </a:pPr>
            <a:endParaRPr lang="es-MX" b="1" dirty="0"/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dirty="0"/>
          </a:p>
          <a:p>
            <a:pPr>
              <a:buNone/>
            </a:pPr>
            <a:r>
              <a:t>San Ignacio 500 = </a:t>
            </a:r>
            <a:r>
              <a:rPr b="1"/>
              <a:t>79,1%</a:t>
            </a:r>
          </a:p>
          <a:p>
            <a:pPr>
              <a:buNone/>
            </a:pPr>
            <a:r>
              <a:t>San Ignacio 300 = </a:t>
            </a:r>
            <a:r>
              <a:rPr b="1"/>
              <a:t>20,9%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t>San Ignacio 500: control nocturno desde el 16/07 FUNCIONA (noche ~42 → ~2 m³). Esa madrugada no se lee como fuga.</a:t>
            </a:r>
          </a:p>
          <a:p>
            <a:pPr>
              <a:buNone/>
            </a:pPr>
            <a:r>
              <a:t>Queda alza diurna desde el 26/06. San Ignacio 300: sin control; la noche SÍ entra al análisis (~</a:t>
            </a:r>
            <a:r>
              <a:rPr b="1"/>
              <a:t>51%</a:t>
            </a:r>
            <a:r>
              <a:t> el 10/08).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9250208-07D2-3FE8-C2E0-3AF65461C8D7}"/>
              </a:ext>
            </a:extLst>
          </p:cNvPr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BOM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Picture 260" descr="l14_bom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62" name="Picture 261" descr="l14_bom_000025-17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263" name="Picture 262" descr="l14_bom_000025-18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San Ignacio 300 periodo 1/6/2026 a 16/8/2026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San Ignacio 500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241926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96bdbb4df6_0_61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lvl="0" indent="-342900">
              <a:buNone/>
              <a:buFont typeface="Symbol" panose="05050102010706020507" pitchFamily="18" charset="2"/>
            </a:pPr>
            <a:r>
              <a:t>San Ignacio 500 — alza consumo junio 2026</a:t>
            </a:r>
          </a:p>
          <a:p>
            <a:pPr>
              <a:buNone/>
            </a:pPr>
            <a:r>
              <a:t>Mayo: 42,1 m³/d promedio; junio: 47,2 m³/d (+</a:t>
            </a:r>
            <a:r>
              <a:rPr b="1"/>
              <a:t>12%</a:t>
            </a:r>
            <a:r>
              <a:t> vs mayo).</a:t>
            </a:r>
          </a:p>
          <a:p>
            <a:pPr>
              <a:buNone/>
            </a:pPr>
            <a:r>
              <a:t>1–25/6: 36,7 m³/d; 26–30/6: 99,6 m³/d (inicio alza sostenida el 26/06).</a:t>
            </a:r>
          </a:p>
          <a:p>
            <a:pPr>
              <a:buNone/>
            </a:pPr>
            <a:r>
              <a:t>Sábado 20/6 (referencia): 48,6 m³ — diurno </a:t>
            </a:r>
            <a:r>
              <a:rPr b="1"/>
              <a:t>59%</a:t>
            </a:r>
            <a:r>
              <a:t>, vespertino </a:t>
            </a:r>
            <a:r>
              <a:rPr b="1"/>
              <a:t>36%</a:t>
            </a:r>
            <a:r>
              <a:t>.</a:t>
            </a:r>
          </a:p>
          <a:p>
            <a:pPr>
              <a:buNone/>
            </a:pPr>
            <a:r>
              <a:t>Sábado 27/6 (pico): 102,1 m³ — concentración 15–20 h (pico 18 h = 10,4 m³/h).</a:t>
            </a:r>
          </a:p>
          <a:p>
            <a:pPr>
              <a:buNone/>
            </a:pPr>
            <a:r>
              <a:t>Patrón: diurno–vespertino; validar causa operacional en terreno (última semana).</a:t>
            </a:r>
          </a:p>
          <a:p>
            <a:pPr>
              <a:buNone/>
            </a:pPr>
          </a:p>
          <a:p>
            <a:pPr>
              <a:buNone/>
            </a:pPr>
            <a:r>
              <a:t>San Ignacio 300 — alza consumo junio 2026</a:t>
            </a:r>
          </a:p>
          <a:p>
            <a:pPr marL="342900" lvl="0" indent="-342900">
              <a:buNone/>
              <a:buFont typeface="Symbol" panose="05050102010706020507" pitchFamily="18" charset="2"/>
            </a:pPr>
            <a:r>
              <a:t>Mayo: 8,4 m³/d; junio: 11,5 m³/d (+</a:t>
            </a:r>
            <a:r>
              <a:rPr b="1"/>
              <a:t>37%</a:t>
            </a:r>
            <a:r>
              <a:t> vs mayo).</a:t>
            </a:r>
          </a:p>
          <a:p>
            <a:pPr>
              <a:buNone/>
            </a:pPr>
            <a:r>
              <a:t>Inicio alza sostenida: 06/06 (1–5/6: 5,8 m³/d → desde 6/6: 12,7 m³/d).</a:t>
            </a:r>
          </a:p>
          <a:p>
            <a:pPr>
              <a:buNone/>
            </a:pPr>
            <a:r>
              <a:t>Sábado 6/6 (primer pico): 15 m³; Sábado 27/6 (máximo): 21,1 m³.</a:t>
            </a:r>
          </a:p>
          <a:p>
            <a:pPr>
              <a:buNone/>
            </a:pPr>
            <a:r>
              <a:t>Franja dominante: diurno 8–17 h (</a:t>
            </a:r>
            <a:r>
              <a:rPr b="1"/>
              <a:t>64%</a:t>
            </a:r>
            <a:r>
              <a:t> en día pico); refuerzo vespertino 17–20 h.</a:t>
            </a:r>
          </a:p>
          <a:p>
            <a:pPr>
              <a:buNone/>
            </a:pPr>
            <a:r>
              <a:t>Horas pico recurrentes: 17 h (3,5 m³/h el 27/6).</a:t>
            </a:r>
          </a:p>
          <a:p>
            <a:pPr>
              <a:buNone/>
            </a:pPr>
          </a:p>
          <a:p>
            <a:pPr marL="457200" marR="17145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marR="1714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303030"/>
              </a:solidFill>
              <a:highlight>
                <a:srgbClr val="FFFF00"/>
              </a:highlight>
            </a:endParaRPr>
          </a:p>
          <a:p>
            <a:pPr marL="0" marR="609583" lvl="0" indent="0" algn="r" rtl="0">
              <a:spcBef>
                <a:spcPts val="1200"/>
              </a:spcBef>
              <a:spcAft>
                <a:spcPts val="0"/>
              </a:spcAft>
              <a:buNone/>
            </a:pP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69B383F4-4F17-4EE7-3522-825F709ED1D4}"/>
              </a:ext>
            </a:extLst>
          </p:cNvPr>
          <p:cNvSpPr txBox="1"/>
          <p:nvPr/>
        </p:nvSpPr>
        <p:spPr>
          <a:xfrm>
            <a:off x="156129" y="262413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BOM - ANÁLISIS JUNIO 2026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Picture 367" descr="l15_000025-18_202606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369" name="Picture 368" descr="l15_000025-18_202606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370" name="Picture 369" descr="l15_000025-17_202606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371" name="Picture 370" descr="l15_000025-17_202606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600200"/>
          </a:xfrm>
          <a:prstGeom prst="rect">
            <a:avLst/>
          </a:prstGeom>
        </p:spPr>
      </p:pic>
      <p:sp>
        <p:nvSpPr>
          <p:cNvPr id="372" name="TextBox 371"/>
          <p:cNvSpPr txBox="1"/>
          <p:nvPr/>
        </p:nvSpPr>
        <p:spPr>
          <a:xfrm>
            <a:off x="1186891" y="3073298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500 - sabado 20/6 (junio previo al pico)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439265" y="5696712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500 - sabado 27/6 (pico fin de mes)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002475" y="5047488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300 - sabado 6/6 (inicio alza)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7002475" y="674827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300 - sabado 27/6 (máximo junio)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Picture 347" descr="l16_s500_ranking_nocturno_mens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" y="1033271"/>
            <a:ext cx="5510174" cy="3794760"/>
          </a:xfrm>
          <a:prstGeom prst="rect">
            <a:avLst/>
          </a:prstGeom>
        </p:spPr>
      </p:pic>
      <p:pic>
        <p:nvPicPr>
          <p:cNvPr id="349" name="Picture 348" descr="l16_000025-17_Ene_Mar20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350" name="Picture 349" descr="l16_000025-17_Abr_Ago20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475" y="5074920"/>
            <a:ext cx="4206240" cy="1600200"/>
          </a:xfrm>
          <a:prstGeom prst="rect">
            <a:avLst/>
          </a:prstGeom>
        </p:spPr>
      </p:pic>
      <p:sp>
        <p:nvSpPr>
          <p:cNvPr id="351" name="TextBox 350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"/>
            </a:pPr>
            <a:r>
              <a:t>San Ignacio 500 — consumo nocturno (0–6 h)</a:t>
            </a:r>
          </a:p>
          <a:p>
            <a:pPr>
              <a:buNone/>
            </a:pPr>
            <a:r>
              <a:t>Control WES activo desde el 16/07/2026: la noche bajó de ~42 m³ a ~2 m³. Esa madrugada no se lee como fuga. Queda alza operacional de día.</a:t>
            </a:r>
          </a:p>
          <a:p>
            <a:pPr>
              <a:buNone/>
            </a:pPr>
            <a:r>
              <a:t>Ranking ene–ago 2026: 1.177 m³ acumulados en horario 0–6 h.</a:t>
            </a:r>
          </a:p>
          <a:p>
            <a:pPr>
              <a:buNone/>
            </a:pPr>
            <a:r>
              <a:t>Valor consumo nocturno (tarifa $1.400/m³): CLP $1.647.730.</a:t>
            </a:r>
          </a:p>
          <a:p>
            <a:pPr>
              <a:buNone/>
            </a:pPr>
            <a:r>
              <a:t>Mes de mayor consumo nocturno: Jul 2026 (468 m³ = CLP $654.724).</a:t>
            </a:r>
          </a:p>
          <a:p>
            <a:pPr>
              <a:buNone/>
            </a:pPr>
            <a:r>
              <a:t>El ahorro nocturno del 500 ya está capturado; el volumen diurno no volvió a la base de junio.</a:t>
            </a:r>
          </a:p>
          <a:p>
            <a:pPr>
              <a:buNone/>
            </a:pPr>
            <a:r>
              <a:t>Referencia mensual: ≈ 147 m³/mes = CLP $205.966/mes.</a:t>
            </a:r>
          </a:p>
          <a:p>
            <a:pPr>
              <a:buNone/>
            </a:pPr>
            <a:r>
              <a:t>Promedio nocturno Ene–Mar: 3,92 m³/noche; Abr–Jun: 5,97 m³/noche.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248716" y="4873752"/>
            <a:ext cx="5510174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nocturno 0–6 h San Ignacio 500 por mes (ene–ago 2026)</a:t>
            </a:r>
          </a:p>
        </p:txBody>
      </p:sp>
    </p:spTree>
    <p:extLst>
      <p:ext uri="{BB962C8B-B14F-4D97-AF65-F5344CB8AC3E}">
        <p14:creationId xmlns:p14="http://schemas.microsoft.com/office/powerpoint/2010/main" val="4069234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96bdbb4df6_0_61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AEB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96bdbb4df6_0_61" title="Screenshot 2026-03-31 at 16.46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6" y="1236797"/>
            <a:ext cx="5620924" cy="475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96bdbb4df6_0_61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Anillo Plaza 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A.A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 1° piso [relocalizado]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29 /10 /2025 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16/01/2026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Tamara Martínez : Jefa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rtl="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Matriz Principal = </a:t>
            </a:r>
            <a:r>
              <a:rPr b="1"/>
              <a:t>76,5%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Anillo (Primer Piso) = </a:t>
            </a:r>
            <a:r>
              <a:rPr b="1"/>
              <a:t>23,5%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buNone/>
            </a:pP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dirty="0"/>
          </a:p>
          <a:p>
            <a:pPr>
              <a:buNone/>
            </a:pPr>
            <a:r>
              <a:t>Matriz Principal = </a:t>
            </a:r>
            <a:r>
              <a:rPr b="1"/>
              <a:t>59%</a:t>
            </a:r>
          </a:p>
          <a:p>
            <a:pPr>
              <a:buNone/>
            </a:pPr>
            <a:r>
              <a:t>Anillo (Primer Piso) = </a:t>
            </a:r>
            <a:r>
              <a:rPr b="1"/>
              <a:t>41%</a:t>
            </a:r>
          </a:p>
          <a:p>
            <a:pPr>
              <a:buNone/>
            </a:pPr>
          </a:p>
          <a:p>
            <a:pPr>
              <a:buNone/>
            </a:pPr>
            <a:r>
              <a:t>Puntos activos: Matriz 1° piso (000025-11) y Anillo Plaza (000025-12). Matriz A.A. = 0 m³.</a:t>
            </a:r>
          </a:p>
          <a:p>
            <a:pPr>
              <a:buNone/>
            </a:pPr>
            <a:r>
              <a:t>No hay control nocturno: la madrugada SÍ entra al análisis. Pedir on/off 00:00–08:00 en Matriz.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AEB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Picture 371" descr="l17_aeb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373" name="Picture 372" descr="l17_aeb_000025-11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374" name="Picture 373" descr="l17_aeb_000025-12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375" name="TextBox 374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Matriz Principal periodo 1/6/2026 a 16/8/2026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(Primer Piso) periodo 1/6/2026 a 16/8/2026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buChar char=""/>
              <a:spcBef>
                <a:spcPts val="0"/>
              </a:spcBef>
              <a:spcAft>
                <a:spcPts val="0"/>
              </a:spcAft>
            </a:pPr>
            <a:r>
              <a:t>Matriz Principal — consumo nocturno (0–8 h)</a:t>
            </a:r>
          </a:p>
          <a:p>
            <a:pPr>
              <a:buNone/>
            </a:pPr>
            <a:r>
              <a:t>Promedio del período: 10 m³/noche (1,11 m³/h); consumo base sostenido en horario inhábil.</a:t>
            </a:r>
          </a:p>
          <a:p>
            <a:pPr>
              <a:buNone/>
            </a:pPr>
            <a:r>
              <a:t>Lun 8/6: nocturno = 3,5 m³ (pico 1,93 m³/h).</a:t>
            </a:r>
          </a:p>
          <a:p>
            <a:pPr>
              <a:buNone/>
            </a:pPr>
            <a:r>
              <a:t>Sáb 27/6: nocturno = 10,6 m³ (pico 1,7 m³/h).</a:t>
            </a:r>
          </a:p>
          <a:p>
            <a:pPr>
              <a:buNone/>
            </a:pPr>
          </a:p>
          <a:p>
            <a:pPr>
              <a:buNone/>
            </a:pPr>
            <a:r>
              <a:t>Oportunidad:</a:t>
            </a:r>
          </a:p>
          <a:p>
            <a:pPr>
              <a:buNone/>
            </a:pPr>
            <a:r>
              <a:t>Implementar control on/off en horario inhábil (0–8 h), replicando la gestión de estanques MAE.</a:t>
            </a:r>
          </a:p>
          <a:p>
            <a:pPr>
              <a:buNone/>
            </a:pPr>
          </a:p>
          <a:p>
            <a:pPr>
              <a:buChar char=""/>
            </a:pPr>
            <a:r>
              <a:t>Anillo (Primer Piso) — consumo nocturno (0–8 h)</a:t>
            </a:r>
          </a:p>
          <a:p>
            <a:pPr>
              <a:buNone/>
            </a:pPr>
            <a:r>
              <a:t>Promedio del período: 7 m³/noche (0,78 m³/h).</a:t>
            </a:r>
          </a:p>
          <a:p>
            <a:pPr>
              <a:buNone/>
            </a:pPr>
            <a:r>
              <a:t>Representa </a:t>
            </a:r>
            <a:r>
              <a:rPr b="1"/>
              <a:t>31%</a:t>
            </a:r>
            <a:r>
              <a:t> del consumo de Matriz Principal en el período.</a:t>
            </a:r>
          </a:p>
          <a:p>
            <a:pPr>
              <a:buNone/>
            </a:pPr>
            <a:r>
              <a:t>Lun 8/6: nocturno = 2,4 m³; Sáb 27/6: nocturno = 4,2 m³ (</a:t>
            </a:r>
            <a:r>
              <a:rPr b="1"/>
              <a:t>35%</a:t>
            </a:r>
            <a:r>
              <a:t> del día).</a:t>
            </a:r>
          </a:p>
          <a:p>
            <a:pPr>
              <a:buNone/>
            </a:pPr>
          </a:p>
          <a:p>
            <a:pPr>
              <a:buNone/>
            </a:pPr>
            <a:r>
              <a:t>Oportunidad:</a:t>
            </a:r>
          </a:p>
          <a:p>
            <a:pPr>
              <a:buNone/>
            </a:pPr>
            <a:r>
              <a:t>Revisar equipos y llaves del anillo primer piso para reducir el consumo base nocturno.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0F05AE2-C696-2AAA-AB47-9E2EC73AAB07}"/>
              </a:ext>
            </a:extLst>
          </p:cNvPr>
          <p:cNvSpPr txBox="1"/>
          <p:nvPr/>
        </p:nvSpPr>
        <p:spPr>
          <a:xfrm>
            <a:off x="0" y="248471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AEB - COMPARATIVO NOCTURNO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Picture 388" descr="l18_000025-11_202606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390" name="Picture 389" descr="l18_000025-11_202608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391" name="Picture 390" descr="l18_000025-12_202606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392" name="Picture 391" descr="l18_000025-12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600200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1186891" y="3073298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8/6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439265" y="5696712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10/8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002475" y="5047488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Anillo (Primer Piso) - lunes 8/6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7002475" y="674827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Anillo (Primer Piso) - lunes 10/8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96bdbb4df6_0_5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CUR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96bdbb4df6_0_5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96bdbb4df6_0_50" title="Screenshot 2026-03-31 at 16.47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1" y="1236810"/>
            <a:ext cx="5620924" cy="47537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400" name="Google Shape;400;g396bdbb4df6_0_50"/>
          <p:cNvSpPr txBox="1"/>
          <p:nvPr/>
        </p:nvSpPr>
        <p:spPr>
          <a:xfrm>
            <a:off x="6712325" y="15240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Anillo Norte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Anillo Sur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Recepción trabajos: 27/11/2025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Fecha capacitación: 12/12/2025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Reconfiguración de red: monitoreo actual en Anillo Norte y Anillo Sur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(puntos anteriores Matriz Principal / Baños no comparables con el período actual).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t>Usuarios habilitados: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Joceline Lazo: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Tamara Martínez: Supervisora Linkes.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Constanza Vilches: Analista Ambiental.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96c1ba0591_0_16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3050" marR="609583" lvl="0" indent="-171450" algn="just" rtl="0">
              <a:buNone/>
              <a:buFont typeface="Arial" panose="020B0604020202020204" pitchFamily="34" charset="0"/>
            </a:pPr>
            <a:r>
              <a:t>Período analizado: 1/6/2026 a 16/8/2026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Monitoreo actual: Anillo Norte y Anillo Sur.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Sin comparación con enero–marzo (reconfiguración de la red).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>
              <a:buNone/>
            </a:pP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Respecto al total monitoreado en el período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t>Anillo Sur = </a:t>
            </a:r>
            <a:r>
              <a:rPr b="1"/>
              <a:t>52,5%</a:t>
            </a:r>
          </a:p>
          <a:p>
            <a:pPr>
              <a:buNone/>
            </a:pPr>
            <a:r>
              <a:t>Anillo Norte = </a:t>
            </a:r>
            <a:r>
              <a:rPr b="1"/>
              <a:t>47,5%</a:t>
            </a:r>
          </a:p>
          <a:p>
            <a:pPr>
              <a:buNone/>
            </a:pPr>
            <a:endParaRPr lang="es-MX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None/>
            </a:pPr>
            <a:r>
              <a:t>Consumo WES agregado: 1.631,7 m³</a:t>
            </a:r>
          </a:p>
          <a:p>
            <a:pPr>
              <a:buNone/>
            </a:pPr>
          </a:p>
          <a:p>
            <a:pPr>
              <a:buNone/>
            </a:pPr>
            <a:r>
              <a:t>Cuadre histórico vs boleta Esval N° 2368516 (lecturas 18/5–16/6, 621 m³): la diferencia se explicó por desfase de lecturas (WES 24 h vs corte físico ~12:00), no por pérdida.</a:t>
            </a:r>
          </a:p>
          <a:p>
            <a:pPr lvl="0" rtl="0">
              <a:buNone/>
            </a:pPr>
            <a:r>
              <a:t>Pedir la(s) boleta(s) Esval de junio–agosto para repetir el cuadre WES vs cuenta en este período.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</a:p>
          <a:p>
            <a:pPr>
              <a:buNone/>
            </a:pPr>
          </a:p>
          <a:p>
            <a:pPr>
              <a:buNone/>
            </a:pPr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C48323DB-AB16-B6DB-960E-233E33E56FCD}"/>
              </a:ext>
            </a:extLst>
          </p:cNvPr>
          <p:cNvSpPr txBox="1"/>
          <p:nvPr/>
        </p:nvSpPr>
        <p:spPr>
          <a:xfrm>
            <a:off x="0" y="3380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CUR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Picture 389" descr="l20_cur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391" name="Picture 390" descr="l20_cur_000025-38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392" name="Picture 391" descr="l20_cur_000025-37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total periodo 1/6/2026 a 16/8/2026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Norte periodo 1/6/2026 a 16/8/2026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Sur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2873141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6bbc299a0_0_22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96bbc299a0_0_22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800" y="1244850"/>
            <a:ext cx="5632075" cy="47402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388" name="Google Shape;388;g396bbc299a0_0_22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96bbc299a0_0_22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Puntos intervenidos: 10 </a:t>
            </a:r>
            <a:endParaRPr sz="2500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(Matriz principal)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 (Locales Gastronómicos)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(Restaurante)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(Antigua)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(Nueva),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Cascada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de Lujo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Kennedy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Bazar Gourmet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5 damas [relocalizado]</a:t>
            </a:r>
            <a:endParaRPr sz="1100" i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6 varones [relocalizado]</a:t>
            </a:r>
            <a:endParaRPr sz="1100" b="1" dirty="0">
              <a:solidFill>
                <a:srgbClr val="303030"/>
              </a:solidFill>
            </a:endParaRPr>
          </a:p>
          <a:p>
            <a:pPr marL="0" marR="171450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Recepción trabajos: 12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Fecha capacitación: 17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sz="18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Francisco Jeldres:</a:t>
            </a:r>
            <a:r>
              <a:rPr lang="es-CL" sz="1100" dirty="0">
                <a:solidFill>
                  <a:srgbClr val="303030"/>
                </a:solidFill>
              </a:rPr>
              <a:t> Jefe de Operaciones </a:t>
            </a:r>
            <a:endParaRPr sz="1100" b="1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</a:t>
            </a:r>
            <a:r>
              <a:rPr lang="es-CL" sz="1100" dirty="0">
                <a:solidFill>
                  <a:srgbClr val="303030"/>
                </a:solidFill>
              </a:rPr>
              <a:t>: medioambiente.dcl@parauco.com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>
                <a:solidFill>
                  <a:srgbClr val="303030"/>
                </a:solidFill>
              </a:rPr>
              <a:t>Paula Azolas </a:t>
            </a:r>
            <a:r>
              <a:rPr lang="es-CL" sz="1100">
                <a:solidFill>
                  <a:srgbClr val="303030"/>
                </a:solidFill>
              </a:rPr>
              <a:t> </a:t>
            </a:r>
            <a:r>
              <a:rPr lang="es-CL" sz="1100" dirty="0">
                <a:solidFill>
                  <a:srgbClr val="303030"/>
                </a:solidFill>
              </a:rPr>
              <a:t>Analista Gestión Ambiental 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 Mantenimiento </a:t>
            </a:r>
            <a:r>
              <a:rPr lang="es-CL" sz="1100" dirty="0">
                <a:solidFill>
                  <a:srgbClr val="303030"/>
                </a:solidFill>
              </a:rPr>
              <a:t>(Carlos Naranjo, Mario Jara, Rodrigo Moreno, Rodrigo Diaz, Juan </a:t>
            </a:r>
            <a:r>
              <a:rPr lang="es-CL" sz="1100" dirty="0" err="1">
                <a:solidFill>
                  <a:srgbClr val="303030"/>
                </a:solidFill>
              </a:rPr>
              <a:t>Gutierrez</a:t>
            </a:r>
            <a:r>
              <a:rPr lang="es-CL" sz="1100" dirty="0">
                <a:solidFill>
                  <a:srgbClr val="303030"/>
                </a:solidFill>
              </a:rPr>
              <a:t>, Hugo Fierro) </a:t>
            </a:r>
            <a:endParaRPr sz="25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CONSUMOS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Picture 400" descr="l23_pak_total_ra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60120"/>
            <a:ext cx="11430000" cy="4892040"/>
          </a:xfrm>
          <a:prstGeom prst="rect">
            <a:avLst/>
          </a:prstGeom>
        </p:spPr>
      </p:pic>
      <p:sp>
        <p:nvSpPr>
          <p:cNvPr id="402" name="TextBox 401"/>
          <p:cNvSpPr txBox="1"/>
          <p:nvPr/>
        </p:nvSpPr>
        <p:spPr>
          <a:xfrm>
            <a:off x="32004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Total período 01/06/2026–16/08/2026: 113.199,8 m³ en 10 puntos.</a:t>
            </a:r>
          </a:p>
          <a:p>
            <a:r>
              <a:rPr sz="800"/>
              <a:t>Mayores consumos (may–jun): Sala de Bomba Sandia Antigua 27,2%, Distrito de lujo DL 21,1%, Sala de Bomba Sandia Nueva 19,6%</a:t>
            </a:r>
          </a:p>
          <a:p>
            <a:r>
              <a:rPr sz="800"/>
              <a:t>Cadena DL, correlación y patrón nocturno en láminas siguientes.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248716" y="5742432"/>
            <a:ext cx="114300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</p:spTree>
    <p:extLst>
      <p:ext uri="{BB962C8B-B14F-4D97-AF65-F5344CB8AC3E}">
        <p14:creationId xmlns:p14="http://schemas.microsoft.com/office/powerpoint/2010/main" val="401613722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CADENA ABASTECIMIENTO DL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TextBox 401"/>
          <p:cNvSpPr txBox="1"/>
          <p:nvPr/>
        </p:nvSpPr>
        <p:spPr>
          <a:xfrm>
            <a:off x="32004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Total período 01/06/2026–16/08/2026: 113.199,8 m³ en 10 puntos.</a:t>
            </a:r>
          </a:p>
          <a:p>
            <a:r>
              <a:rPr sz="800"/>
              <a:t>Mayores consumos (may–jun): Sala de Bomba Sandia Antigua 27,2%, Distrito de lujo DL 21,1%, Sala de Bomba Sandia Nueva 19,6%</a:t>
            </a:r>
          </a:p>
          <a:p>
            <a:r>
              <a:rPr sz="800"/>
              <a:t>Cadena DL, correlación y patrón nocturno en láminas siguientes.</a:t>
            </a:r>
          </a:p>
        </p:txBody>
      </p:sp>
      <p:pic>
        <p:nvPicPr>
          <p:cNvPr id="404" name="Picture 403" descr="l24_pak_cadena_tot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852160" cy="2514600"/>
          </a:xfrm>
          <a:prstGeom prst="rect">
            <a:avLst/>
          </a:prstGeom>
        </p:spPr>
      </p:pic>
      <p:pic>
        <p:nvPicPr>
          <p:cNvPr id="405" name="Picture 404" descr="l24_pak_cadena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03320"/>
            <a:ext cx="5852160" cy="2606040"/>
          </a:xfrm>
          <a:prstGeom prst="rect">
            <a:avLst/>
          </a:prstGeom>
        </p:spPr>
      </p:pic>
      <p:sp>
        <p:nvSpPr>
          <p:cNvPr id="406" name="TextBox 405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/>
              <a:t>Cadena declarada:</a:t>
            </a:r>
          </a:p>
          <a:p>
            <a:r>
              <a:rPr sz="700"/>
              <a:t>• Sala de Bomba Sandia Antigua alimenta Distrito de lujo DL</a:t>
            </a:r>
          </a:p>
          <a:p>
            <a:r>
              <a:rPr sz="700"/>
              <a:t>• Sala de Bomba Sandia Nueva también surte al DL</a:t>
            </a:r>
          </a:p>
          <a:p>
            <a:r>
              <a:rPr sz="700"/>
              <a:t>• DL se reparte en PAK BAZAR GOURMET y PAK DL KENNEDY</a:t>
            </a:r>
          </a:p>
          <a:p/>
          <a:p>
            <a:r>
              <a:rPr sz="700"/>
              <a:t>Período 01/06/2026 a 16/08/2026 (total PAK 113.199,8 m³):</a:t>
            </a:r>
          </a:p>
          <a:p>
            <a:r>
              <a:rPr sz="700"/>
              <a:t>• DL (23.917,5 m³) supera a Sandía Antigua (30.782,6 m³) en +-6.865,1 m³ (+-22,3%). El distrito recibe aporte adicional desde Sandía Nueva (22.149,9 m³).</a:t>
            </a:r>
          </a:p>
          <a:p>
            <a:r>
              <a:rPr sz="700"/>
              <a:t>• Correlación diaria Antigua↔DL: r=0.06. Nueva↔DL: r=-0.10.</a:t>
            </a:r>
          </a:p>
          <a:p>
            <a:r>
              <a:rPr sz="700"/>
              <a:t>• Aguas abajo 35+36: 16.742,9 m³ (70% del DL). Consumo interno DL: 7.174,6 m³.</a:t>
            </a:r>
          </a:p>
          <a:p>
            <a:r>
              <a:rPr sz="700"/>
              <a:t>• Suma fuentes 22+28 vs DL: excedente 29.015 m³.</a:t>
            </a:r>
          </a:p>
          <a:p/>
          <a:p>
            <a:r>
              <a:rPr sz="700"/>
              <a:t>Distribución % junio y agosto (top 5):</a:t>
            </a:r>
          </a:p>
          <a:p>
            <a:r>
              <a:rPr sz="700"/>
              <a:t>• Sala de Bomba Sandia Antigua = 27,2%</a:t>
            </a:r>
          </a:p>
          <a:p>
            <a:r>
              <a:rPr sz="700"/>
              <a:t>• Distrito de lujo DL = 21,1%</a:t>
            </a:r>
          </a:p>
          <a:p>
            <a:r>
              <a:rPr sz="700"/>
              <a:t>• Sala de Bomba Sandia Nueva = 19,6%</a:t>
            </a:r>
          </a:p>
          <a:p>
            <a:r>
              <a:rPr sz="700"/>
              <a:t>• PAK BAZAR GOURMET = 13,7%</a:t>
            </a:r>
          </a:p>
          <a:p>
            <a:r>
              <a:rPr sz="700"/>
              <a:t>• Impulsión Anden 3-4 Locales Gast. = 9,8%</a:t>
            </a:r>
          </a:p>
          <a:p/>
          <a:p>
            <a:r>
              <a:rPr sz="700"/>
              <a:t>Distribución % anual (top 5):</a:t>
            </a:r>
          </a:p>
          <a:p>
            <a:r>
              <a:rPr sz="700"/>
              <a:t>• Distrito de lujo DL = 29,1%</a:t>
            </a:r>
          </a:p>
          <a:p>
            <a:r>
              <a:rPr sz="700"/>
              <a:t>• Sala de Bomba Sandia Antigua = 28,8%</a:t>
            </a:r>
          </a:p>
          <a:p>
            <a:r>
              <a:rPr sz="700"/>
              <a:t>• Sala de Bomba Sandia Nueva = 15,5%</a:t>
            </a:r>
          </a:p>
          <a:p>
            <a:r>
              <a:rPr sz="700"/>
              <a:t>• PAK BAZAR GOURMET = 8,5%</a:t>
            </a:r>
          </a:p>
          <a:p>
            <a:r>
              <a:rPr sz="700"/>
              <a:t>• Impulsión Anden 3-4 Matriz Principal = 8,5%</a:t>
            </a:r>
          </a:p>
          <a:p/>
          <a:p>
            <a:r>
              <a:rPr sz="700"/>
              <a:t>Consumo nocturno 0–8 h (cadena):</a:t>
            </a:r>
          </a:p>
          <a:p>
            <a:r>
              <a:rPr sz="700"/>
              <a:t>• Sala de Bomba Sandia Antigua: 84,5 m³/noche prom. (21,1% del total)</a:t>
            </a:r>
          </a:p>
          <a:p>
            <a:r>
              <a:rPr sz="700"/>
              <a:t>• Sala de Bomba Sandia Nueva: 35 m³/noche prom. (12,2% del total)</a:t>
            </a:r>
          </a:p>
          <a:p>
            <a:r>
              <a:rPr sz="700"/>
              <a:t>• Distrito de lujo DL: 65,8 m³/noche prom. (21,2% del total)</a:t>
            </a:r>
          </a:p>
          <a:p>
            <a:r>
              <a:rPr sz="700"/>
              <a:t>• PAK BAZAR GOURMET: 45,3 m³/noche prom. (22,4% del total)</a:t>
            </a:r>
          </a:p>
          <a:p>
            <a:r>
              <a:rPr sz="700"/>
              <a:t>• PAK DL KENNEDY: 1,6 m³/noche prom. (10,4% del total)</a:t>
            </a:r>
          </a:p>
          <a:p>
            <a:r>
              <a:rPr sz="700"/>
              <a:t>Detalle en lámina PATRÓN NOCTURNO.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Totales cadena abastecimiento período 1/6/2026 a 16/8/2026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20040" y="3429000"/>
            <a:ext cx="585216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Dispersión consumo diario vs DL — correlación 1/6/2026 a 16/8/2026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s-CL" sz="3100" b="1" dirty="0" err="1">
                <a:solidFill>
                  <a:srgbClr val="FFFFFF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r>
              <a:rPr kumimoji="0" lang="es-CL" sz="3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TextBox 399"/>
          <p:cNvSpPr txBox="1"/>
          <p:nvPr/>
        </p:nvSpPr>
        <p:spPr>
          <a:xfrm>
            <a:off x="6788399" y="141249"/>
            <a:ext cx="540055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/>
              <a:t>Cadena declarada:</a:t>
            </a:r>
          </a:p>
          <a:p>
            <a:r>
              <a:rPr lang="es-CL" sz="1200" dirty="0"/>
              <a:t>• Sala de Bomba Sandia Antigua alimenta Distrito de lujo DL</a:t>
            </a:r>
          </a:p>
          <a:p>
            <a:r>
              <a:rPr lang="es-CL" sz="1200" dirty="0"/>
              <a:t>• Sala de Bomba Sandia Nueva también surte al DL</a:t>
            </a:r>
          </a:p>
          <a:p>
            <a:r>
              <a:rPr lang="es-CL" sz="1200" dirty="0"/>
              <a:t>• DL se reparte en PAK BAZAR GOURMET y PAK DL KENNEDY</a:t>
            </a:r>
          </a:p>
          <a:p>
            <a:endParaRPr lang="es-CL" sz="1200" dirty="0"/>
          </a:p>
          <a:p>
            <a:r>
              <a:rPr lang="es-CL" sz="1200" dirty="0"/>
              <a:t>Período 01/05/2026 a 07/07/2026 (total PAK 96.553,8 m³):</a:t>
            </a:r>
          </a:p>
          <a:p>
            <a:r>
              <a:rPr lang="es-CL" sz="1200" dirty="0"/>
              <a:t>• DL (26.047,9 m³) supera a Sandía Antigua (23.698,7 m³) en +2.349,2 m³ (+9,9%). El distrito recibe aporte adicional desde Sandía Nueva (13.448,8 m³).</a:t>
            </a:r>
          </a:p>
          <a:p>
            <a:r>
              <a:rPr lang="es-CL" sz="1200" dirty="0"/>
              <a:t>• Correlación diaria </a:t>
            </a:r>
            <a:r>
              <a:rPr lang="es-CL" sz="1200" dirty="0" err="1"/>
              <a:t>Antigua↔DL</a:t>
            </a:r>
            <a:r>
              <a:rPr lang="es-CL" sz="1200" dirty="0"/>
              <a:t>: r=1.00. </a:t>
            </a:r>
            <a:r>
              <a:rPr lang="es-CL" sz="1200" dirty="0" err="1"/>
              <a:t>Nueva↔DL</a:t>
            </a:r>
            <a:r>
              <a:rPr lang="es-CL" sz="1200" dirty="0"/>
              <a:t>: r=0.09.</a:t>
            </a:r>
          </a:p>
          <a:p>
            <a:r>
              <a:rPr lang="es-CL" sz="1200" dirty="0"/>
              <a:t>• Aguas abajo 35+36: 18.298,8 m³ (70,3% del DL). Consumo interno DL: 7.749,1 m³.</a:t>
            </a:r>
          </a:p>
          <a:p>
            <a:r>
              <a:rPr lang="es-CL" sz="1200" dirty="0"/>
              <a:t>• Suma fuentes 22+28 vs DL: excedente 11.099,6 m³.</a:t>
            </a:r>
          </a:p>
          <a:p>
            <a:endParaRPr lang="es-CL" sz="1200" dirty="0"/>
          </a:p>
          <a:p>
            <a:r>
              <a:rPr lang="es-CL" sz="1200" dirty="0"/>
              <a:t>Distribución % mayo–jun (top 5):</a:t>
            </a:r>
          </a:p>
          <a:p>
            <a:r>
              <a:rPr lang="es-CL" sz="1200" dirty="0"/>
              <a:t>• Distrito de lujo DL = 27,1%</a:t>
            </a:r>
          </a:p>
          <a:p>
            <a:r>
              <a:rPr lang="es-CL" sz="1200" dirty="0"/>
              <a:t>• Sala de Bomba Sandia Antigua = 24,7%</a:t>
            </a:r>
          </a:p>
          <a:p>
            <a:r>
              <a:rPr lang="es-CL" sz="1200" dirty="0"/>
              <a:t>• PAK BAZAR GOURMET = 17,9%</a:t>
            </a:r>
          </a:p>
          <a:p>
            <a:r>
              <a:rPr lang="es-CL" sz="1200" dirty="0"/>
              <a:t>• Sala de Bomba Sandia Nueva = 13,7%</a:t>
            </a:r>
          </a:p>
          <a:p>
            <a:r>
              <a:rPr lang="es-CL" sz="1200" dirty="0"/>
              <a:t>• Impulsión Anden 3-4 Locales </a:t>
            </a:r>
            <a:r>
              <a:rPr lang="es-CL" sz="1200" dirty="0" err="1"/>
              <a:t>Gast</a:t>
            </a:r>
            <a:r>
              <a:rPr lang="es-CL" sz="1200" dirty="0"/>
              <a:t>. = 7,6%</a:t>
            </a:r>
          </a:p>
          <a:p>
            <a:endParaRPr lang="es-CL" sz="1200" dirty="0"/>
          </a:p>
          <a:p>
            <a:r>
              <a:rPr lang="es-CL" sz="1200" dirty="0"/>
              <a:t>Distribución % anual (top 5):</a:t>
            </a:r>
          </a:p>
          <a:p>
            <a:r>
              <a:rPr lang="es-CL" sz="1200" dirty="0"/>
              <a:t>• Distrito de lujo DL = 31,3%</a:t>
            </a:r>
          </a:p>
          <a:p>
            <a:r>
              <a:rPr lang="es-CL" sz="1200" dirty="0"/>
              <a:t>• Sala de Bomba Sandia Antigua = 28,4%</a:t>
            </a:r>
          </a:p>
          <a:p>
            <a:r>
              <a:rPr lang="es-CL" sz="1200" dirty="0"/>
              <a:t>• Sala de Bomba Sandia Nueva = 14,2%</a:t>
            </a:r>
          </a:p>
          <a:p>
            <a:r>
              <a:rPr lang="es-CL" sz="1200" dirty="0"/>
              <a:t>• Impulsión Anden 3-4 Matriz Principal = 9%</a:t>
            </a:r>
          </a:p>
          <a:p>
            <a:r>
              <a:rPr lang="es-CL" sz="1200" dirty="0"/>
              <a:t>• PAK BAZAR GOURMET = 8%</a:t>
            </a:r>
          </a:p>
          <a:p>
            <a:endParaRPr lang="es-CL" sz="1200" dirty="0"/>
          </a:p>
          <a:p>
            <a:r>
              <a:rPr lang="es-CL" sz="1200" dirty="0"/>
              <a:t>Consumo nocturno 0–8 h (cadena):</a:t>
            </a:r>
          </a:p>
          <a:p>
            <a:r>
              <a:rPr lang="es-CL" sz="1200" dirty="0"/>
              <a:t>• Sala de Bomba Sandia Antigua: 104,1 m³/noche </a:t>
            </a:r>
            <a:r>
              <a:rPr lang="es-CL" sz="1200" dirty="0" err="1"/>
              <a:t>prom</a:t>
            </a:r>
            <a:r>
              <a:rPr lang="es-CL" sz="1200" dirty="0"/>
              <a:t>. (20,2% del total)</a:t>
            </a:r>
          </a:p>
          <a:p>
            <a:r>
              <a:rPr lang="es-CL" sz="1200" dirty="0"/>
              <a:t>• Sala de Bomba Sandia Nueva: 26,9 m³/noche </a:t>
            </a:r>
            <a:r>
              <a:rPr lang="es-CL" sz="1200" dirty="0" err="1"/>
              <a:t>prom</a:t>
            </a:r>
            <a:r>
              <a:rPr lang="es-CL" sz="1200" dirty="0"/>
              <a:t>. (13,6% del total)</a:t>
            </a:r>
          </a:p>
          <a:p>
            <a:r>
              <a:rPr lang="es-CL" sz="1200" dirty="0"/>
              <a:t>• Distrito de lujo DL: 97,3 m³/noche </a:t>
            </a:r>
            <a:r>
              <a:rPr lang="es-CL" sz="1200" dirty="0" err="1"/>
              <a:t>prom</a:t>
            </a:r>
            <a:r>
              <a:rPr lang="es-CL" sz="1200" dirty="0"/>
              <a:t>. (25,4% del total)</a:t>
            </a:r>
          </a:p>
          <a:p>
            <a:r>
              <a:rPr lang="es-CL" sz="1200" dirty="0"/>
              <a:t>• PAK BAZAR GOURMET: 67,4 m³/noche </a:t>
            </a:r>
            <a:r>
              <a:rPr lang="es-CL" sz="1200" dirty="0" err="1"/>
              <a:t>prom</a:t>
            </a:r>
            <a:r>
              <a:rPr lang="es-CL" sz="1200" dirty="0"/>
              <a:t>. (26,6% del total)</a:t>
            </a:r>
          </a:p>
          <a:p>
            <a:r>
              <a:rPr lang="es-CL" sz="1200" dirty="0"/>
              <a:t>• PAK DL KENNEDY: 1,7 m³/noche </a:t>
            </a:r>
            <a:r>
              <a:rPr lang="es-CL" sz="1200" dirty="0" err="1"/>
              <a:t>prom</a:t>
            </a:r>
            <a:r>
              <a:rPr lang="es-CL" sz="1200" dirty="0"/>
              <a:t>. (10,3% del total)</a:t>
            </a:r>
          </a:p>
          <a:p>
            <a:r>
              <a:rPr lang="es-CL" sz="1200" dirty="0"/>
              <a:t>Detalle en lámina PATRÓN NOCTURNO.</a:t>
            </a:r>
          </a:p>
        </p:txBody>
      </p:sp>
      <p:sp>
        <p:nvSpPr>
          <p:cNvPr id="3" name="TextBox 400">
            <a:extLst>
              <a:ext uri="{FF2B5EF4-FFF2-40B4-BE49-F238E27FC236}">
                <a16:creationId xmlns:a16="http://schemas.microsoft.com/office/drawing/2014/main" id="{3765D516-D004-BD9D-945D-3050B7C73C9A}"/>
              </a:ext>
            </a:extLst>
          </p:cNvPr>
          <p:cNvSpPr txBox="1"/>
          <p:nvPr/>
        </p:nvSpPr>
        <p:spPr>
          <a:xfrm>
            <a:off x="333183" y="6316553"/>
            <a:ext cx="5632704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pic>
        <p:nvPicPr>
          <p:cNvPr id="408" name="Picture 4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852160" cy="2514600"/>
          </a:xfrm>
          <a:prstGeom prst="rect">
            <a:avLst/>
          </a:prstGeom>
        </p:spPr>
      </p:pic>
      <p:sp>
        <p:nvSpPr>
          <p:cNvPr id="410" name="TextBox 409"/>
          <p:cNvSpPr txBox="1"/>
          <p:nvPr/>
        </p:nvSpPr>
        <p:spPr>
          <a:xfrm>
            <a:off x="774668" y="3611430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Totales</a:t>
            </a:r>
            <a:r>
              <a:rPr sz="1000" b="1" i="1" dirty="0"/>
              <a:t> </a:t>
            </a:r>
            <a:r>
              <a:rPr sz="1000" b="1" i="1" dirty="0" err="1"/>
              <a:t>cadena</a:t>
            </a:r>
            <a:r>
              <a:rPr sz="1000" b="1" i="1" dirty="0"/>
              <a:t> </a:t>
            </a:r>
            <a:r>
              <a:rPr sz="1000" b="1" i="1" dirty="0" err="1"/>
              <a:t>abastecimiento</a:t>
            </a:r>
            <a:r>
              <a:rPr sz="1000" b="1" i="1" dirty="0"/>
              <a:t> </a:t>
            </a:r>
            <a:r>
              <a:rPr sz="1000" b="1" i="1" dirty="0" err="1"/>
              <a:t>período</a:t>
            </a:r>
            <a:r>
              <a:rPr sz="1000" b="1" i="1" dirty="0"/>
              <a:t> 1/5/2026 a 7/7/2026</a:t>
            </a:r>
          </a:p>
        </p:txBody>
      </p:sp>
      <p:pic>
        <p:nvPicPr>
          <p:cNvPr id="409" name="Picture 4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004172"/>
            <a:ext cx="585216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0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5_pak_000025-22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5_pak_000025-27_diario_line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5_pak_000025-28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5_pak_000025-35_diario_lin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5_pak_000025-21_diario_lin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0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6_pak_000025-20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6_pak_000025-36_diario_line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6_pak_000025-23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6_pak_000025-29_diario_lin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6_pak_000025-24_diario_lin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90121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sz="700"/>
              <a:t>PAK Kennedy — patrón nocturno (0–8 h)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sz="700"/>
              <a:t>Período 01/06/2026 a 16/08/2026.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r>
              <a:rPr sz="700"/>
              <a:t>Resumen cadena DL:</a:t>
            </a:r>
          </a:p>
          <a:p>
            <a:r>
              <a:rPr sz="700"/>
              <a:t>• Sala de Bomba Sandia Antigua: 6.505,7 m³ acum. nocturno (21,1% del total); prom. 84,5 m³/noche, pico 31,6 m³/h.</a:t>
            </a:r>
          </a:p>
          <a:p>
            <a:r>
              <a:rPr sz="700"/>
              <a:t>• Sala de Bomba Sandia Nueva: 2.697,6 m³ acum. nocturno (12,2% del total); prom. 35 m³/noche, pico 21,4 m³/h.</a:t>
            </a:r>
          </a:p>
          <a:p>
            <a:r>
              <a:rPr sz="700"/>
              <a:t>• Distrito de lujo DL: 5.069,6 m³ acum. nocturno (21,2% del total); prom. 65,8 m³/noche, pico 16,8 m³/h.</a:t>
            </a:r>
          </a:p>
          <a:p>
            <a:r>
              <a:rPr sz="700"/>
              <a:t>• PAK BAZAR GOURMET: 3.488,3 m³ acum. nocturno (22,4% del total); prom. 45,3 m³/noche, pico 12,7 m³/h.</a:t>
            </a:r>
          </a:p>
          <a:p>
            <a:r>
              <a:rPr sz="700"/>
              <a:t>• PAK DL KENNEDY: 123,3 m³ acum. nocturno (10,4% del total); prom. 1,6 m³/noche, pico 1,2 m³/h.</a:t>
            </a:r>
          </a:p>
          <a:p/>
          <a:p>
            <a:r>
              <a:rPr sz="700"/>
              <a:t>Distrito de lujo DL — análisis:</a:t>
            </a:r>
          </a:p>
          <a:p>
            <a:r>
              <a:rPr sz="700"/>
              <a:t>Promedio período: 65,8 m³/noche (7,32 m³/h).</a:t>
            </a:r>
          </a:p>
          <a:p>
            <a:r>
              <a:rPr sz="700"/>
              <a:t>Lun 08/06: nocturno = 68,1 m³ (pico 14,2 m³/h).</a:t>
            </a:r>
          </a:p>
          <a:p>
            <a:r>
              <a:rPr sz="700"/>
              <a:t>Día pico nocturno (Miércoles 03/06): 112 m³ (pico 13,2 m³/h).</a:t>
            </a:r>
          </a:p>
          <a:p/>
          <a:p>
            <a:r>
              <a:rPr sz="700"/>
              <a:t>Hallazgos:</a:t>
            </a:r>
          </a:p>
          <a:p>
            <a:r>
              <a:rPr sz="700"/>
              <a:t>• El DL concentra el mayor consumo nocturno de la cadena.</a:t>
            </a:r>
          </a:p>
          <a:p>
            <a:r>
              <a:rPr sz="700"/>
              <a:t>• Sandía Antigua (bomba) muestra operación nocturna asociada al abastecimiento.</a:t>
            </a:r>
          </a:p>
          <a:p>
            <a:r>
              <a:rPr sz="700"/>
              <a:t>• Bazar Gourmet y Sandía Nueva aportan menor fracción nocturna relativa.</a:t>
            </a:r>
          </a:p>
          <a:p/>
          <a:p>
            <a:r>
              <a:rPr sz="700"/>
              <a:t>Oportunidad:</a:t>
            </a:r>
          </a:p>
          <a:p>
            <a:r>
              <a:rPr sz="700"/>
              <a:t>Evaluar control on/off en horario inhábil (0–8 h) en DL y salas de bomba, alineado a la gestión MAE/AEB.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32004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Total período 01/06/2026–16/08/2026: 113.199,8 m³ en 10 puntos.</a:t>
            </a:r>
          </a:p>
          <a:p>
            <a:r>
              <a:rPr sz="800"/>
              <a:t>Mayores consumos (may–jun): Sala de Bomba Sandia Antigua 27,2%, Distrito de lujo DL 21,1%, Sala de Bomba Sandia Nueva 19,6%</a:t>
            </a:r>
          </a:p>
          <a:p>
            <a:r>
              <a:rPr sz="800"/>
              <a:t>Cadena DL, correlación y patrón nocturno en láminas siguientes.</a:t>
            </a:r>
          </a:p>
        </p:txBody>
      </p:sp>
      <p:pic>
        <p:nvPicPr>
          <p:cNvPr id="404" name="Picture 403" descr="l27_pak_ranking_noctu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852160" cy="2606040"/>
          </a:xfrm>
          <a:prstGeom prst="rect">
            <a:avLst/>
          </a:prstGeom>
        </p:spPr>
      </p:pic>
      <p:pic>
        <p:nvPicPr>
          <p:cNvPr id="405" name="Picture 404" descr="l27_pak_000025-27_hor_202606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03320"/>
            <a:ext cx="2834640" cy="2651760"/>
          </a:xfrm>
          <a:prstGeom prst="rect">
            <a:avLst/>
          </a:prstGeom>
        </p:spPr>
      </p:pic>
      <p:pic>
        <p:nvPicPr>
          <p:cNvPr id="406" name="Picture 405" descr="l27_pak_000025-27_hor_202606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703320"/>
            <a:ext cx="2834640" cy="2651760"/>
          </a:xfrm>
          <a:prstGeom prst="rect">
            <a:avLst/>
          </a:prstGeom>
        </p:spPr>
      </p:pic>
      <p:sp>
        <p:nvSpPr>
          <p:cNvPr id="407" name="TextBox 406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nocturno 0–8 h — cadena DL — 1/6/2026 a 16/8/2026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20040" y="3520440"/>
            <a:ext cx="28346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Perfil horario Distrito de lujo DL lun 08/06/2026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3291840" y="3520440"/>
            <a:ext cx="28346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Perfil horario Distrito de lujo DL día pico nocturno 03/06/2026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396bbc299a0_0_0"/>
          <p:cNvPicPr preferRelativeResize="0"/>
          <p:nvPr/>
        </p:nvPicPr>
        <p:blipFill rotWithShape="1">
          <a:blip r:embed="rId3">
            <a:alphaModFix/>
          </a:blip>
          <a:srcRect l="75689" t="-10044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g396bbc299a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408" name="Google Shape;408;g396bbc299a0_0_0"/>
            <p:cNvPicPr preferRelativeResize="0"/>
            <p:nvPr/>
          </p:nvPicPr>
          <p:blipFill rotWithShape="1">
            <a:blip r:embed="rId3">
              <a:alphaModFix/>
            </a:blip>
            <a:srcRect l="-680" r="45362" b="14001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g396bbc299a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" name="Google Shape;410;g396bbc299a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96bbc299a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2" name="Google Shape;412;g396bbc299a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96bbc299a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16 Agosto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g396bbc299a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415" name="Google Shape;415;g396bbc299a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g396bbc299a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g396bbc299a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3414</Words>
  <Application>Microsoft Office PowerPoint</Application>
  <PresentationFormat>Panorámica</PresentationFormat>
  <Paragraphs>440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Montserrat</vt:lpstr>
      <vt:lpstr>Helvetica Neue</vt:lpstr>
      <vt:lpstr>Calibri</vt:lpstr>
      <vt:lpstr>Tahoma</vt:lpstr>
      <vt:lpstr>Aptos</vt:lpstr>
      <vt:lpstr>Symbol</vt:lpstr>
      <vt:lpstr>Arial</vt:lpstr>
      <vt:lpstr>Nunito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Anibal Aranda Alvarado</cp:lastModifiedBy>
  <cp:revision>33</cp:revision>
  <dcterms:created xsi:type="dcterms:W3CDTF">2024-07-09T04:02:31Z</dcterms:created>
  <dcterms:modified xsi:type="dcterms:W3CDTF">2026-07-13T19:44:44Z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