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bmp" ContentType="image/bmp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1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1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rque arauco fond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3246120"/>
            <a:ext cx="12191695" cy="361188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429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WES  ·  Parque Arauco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22191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3200" b="1">
                <a:solidFill>
                  <a:srgbClr val="FFFFFF"/>
                </a:solidFill>
                <a:latin typeface="Calibri"/>
              </a:rPr>
              <a:t>Recorrido ejecutivo por recinto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5262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Una lámina de presentación por recinto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DCE6F0"/>
                </a:solidFill>
                <a:latin typeface="Calibri"/>
              </a:rPr>
              <a:t>Período 01/05/2026 – 17/08/2026   |   Emisión 18 agosto 2026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C9A227"/>
                </a:solidFill>
                <a:latin typeface="Calibri"/>
              </a:rPr>
              <a:t>Lámina 2: MAE hallazgos  ·  MAM Placa Bancaria  ·  PAK cadena Sandía / DL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MAE  ·  Equipos y consumo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Mall Arauco Estación   |   4 puntos WES   |   01/05/2026 – 17/08/2026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2894076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060704"/>
            <a:ext cx="27660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243584"/>
            <a:ext cx="27660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Estanque Norte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1481328"/>
            <a:ext cx="27660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locales mall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68396" y="1024128"/>
            <a:ext cx="2894076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41548" y="1060704"/>
            <a:ext cx="27660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000025-07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1548" y="1243584"/>
            <a:ext cx="27660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Pizza Hut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35624" y="1024128"/>
            <a:ext cx="2894076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08776" y="1060704"/>
            <a:ext cx="27660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000025-19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08776" y="1243584"/>
            <a:ext cx="27660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Estanque Sur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08776" y="1481328"/>
            <a:ext cx="27660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sala de bomba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02852" y="1024128"/>
            <a:ext cx="2894076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76004" y="1060704"/>
            <a:ext cx="27660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76004" y="1243584"/>
            <a:ext cx="27660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Baños Públicos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1168" y="1792224"/>
            <a:ext cx="7973568" cy="382219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mae_mensual_may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031551"/>
            <a:ext cx="7827264" cy="3343536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8302752" y="1792224"/>
            <a:ext cx="3675887" cy="382219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30768" y="1837943"/>
            <a:ext cx="341985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JULIO · último mes cerrado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30768" y="2002536"/>
            <a:ext cx="34198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El recinto sumó 3.074 m³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30768" y="2212848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40496" y="2240279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C45C26"/>
                </a:solidFill>
                <a:latin typeface="Calibri"/>
              </a:rPr>
              <a:t>Pizza Hut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40496" y="2535448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1.169 m³    38 %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30768" y="3044952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40496" y="3072384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Estanque Norte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40496" y="3367552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886 m³    29 %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430768" y="3877056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40496" y="3904488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77B4"/>
                </a:solidFill>
                <a:latin typeface="Calibri"/>
              </a:rPr>
              <a:t>Estanque Sur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40496" y="4199656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802 m³    26 %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430768" y="4709160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40496" y="4736592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7BA3C9"/>
                </a:solidFill>
                <a:latin typeface="Calibri"/>
              </a:rPr>
              <a:t>Baños Públicos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40496" y="5031760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217 m³    7 %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01168" y="5705856"/>
            <a:ext cx="11795760" cy="43891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29184" y="5779008"/>
            <a:ext cx="115397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Recepción 20/10/2025  ·  Capacitación 18/02/2025  ·  medioambiente.dcl@parauco.com  ·  Sala de monitores MAE  ·  Sergio Fuenzalida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56032" y="6181344"/>
            <a:ext cx="11704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Mayo 5.107   ·   Junio 3.179   ·   Julio 3.074   ·   Agosto 1–17: 1.701   ·   proy. ago 3.101 m³.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Mayo cierra más alto por Estanque Sur, antes de la reparación del 10/06.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MAE  ·  Hallazgos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Estanque Sur: reparación de presostatos (10/06)  ·  Estanque Norte: control nocturno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987552"/>
            <a:ext cx="11777472" cy="117043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42415"/>
            <a:ext cx="11475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C9A227"/>
                </a:solidFill>
                <a:latin typeface="Calibri"/>
              </a:rPr>
              <a:t>ESTANQUE SUR  ·  PRESÓSTATOS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280160"/>
            <a:ext cx="114757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El 10/06 se repararon los presostatos. El estanque venía en 89 m³/día (mayo–9/jun) y ese día ya marca 39 m³. Desde el 11/06 se sostiene en 28 m³/día (−61 m³/día, 68%). A $1.400/m³: $84.897/día  ·  $2.546.923/mes  ·  acumulado 11/06–17/08: $5.688.128 (4.063 m³ en 67 días).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1168" y="2249424"/>
            <a:ext cx="5285232" cy="345643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9184" y="2304288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CONTROLES NOCTURNOS — noche típica antes vs con control</a:t>
            </a:r>
          </a:p>
        </p:txBody>
      </p:sp>
      <p:pic>
        <p:nvPicPr>
          <p:cNvPr id="12" name="Picture 11" descr="mae_controles_nocturn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" y="2560320"/>
            <a:ext cx="5010912" cy="292608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614416" y="2249424"/>
            <a:ext cx="6364224" cy="345643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42432" y="2304288"/>
            <a:ext cx="61081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ESTANQUE SUR — m³/día y costo evitado</a:t>
            </a:r>
          </a:p>
        </p:txBody>
      </p:sp>
      <p:pic>
        <p:nvPicPr>
          <p:cNvPr id="15" name="Picture 14" descr="mae_sur_diario_presostato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42432" y="2560320"/>
            <a:ext cx="6108192" cy="29260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56032" y="5742432"/>
            <a:ext cx="1170432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Estanque Norte (control 05/08): noche típica 4,8 → 1,1 m³. Ahorro 3,7 m³/noche ($5.194/noche · $155.820/mes). En 13 noches: 48 m³ = $67.522 (tarifa $1.400/m³).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Pizza Hut (control 01/07): noche típica 0,1 → 0 m³.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Estanque Sur: corte on/off a cargo de mantención nocturna.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Baños Guardias: control instalado; no está solicitado el uso.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MAM  ·  Equipos y consumo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Mall Arauco Maipú   |   5 puntos WES   |   01/05/2026 – 17/08/2026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230063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060704"/>
            <a:ext cx="217261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243584"/>
            <a:ext cx="217261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Placa Bancaria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74950" y="1024128"/>
            <a:ext cx="230063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48102" y="1060704"/>
            <a:ext cx="217261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48102" y="1243584"/>
            <a:ext cx="217261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Ripley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48732" y="1024128"/>
            <a:ext cx="230063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1884" y="1060704"/>
            <a:ext cx="217261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000025-09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1884" y="1243584"/>
            <a:ext cx="217261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Falabella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1884" y="1481328"/>
            <a:ext cx="217261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activo 11/08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22515" y="1024128"/>
            <a:ext cx="230063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95667" y="1060704"/>
            <a:ext cx="217261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000025-32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95667" y="1243584"/>
            <a:ext cx="217261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Pasillo Técnico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95667" y="1481328"/>
            <a:ext cx="217261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residual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96297" y="1024128"/>
            <a:ext cx="230063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5A8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69449" y="1060704"/>
            <a:ext cx="217261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000025-33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69449" y="1243584"/>
            <a:ext cx="217261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Salida ARROW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69449" y="1481328"/>
            <a:ext cx="217261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residual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01168" y="1792224"/>
            <a:ext cx="7973568" cy="382219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mam_mensual_may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036687"/>
            <a:ext cx="7827264" cy="3333264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8302752" y="1792224"/>
            <a:ext cx="3675887" cy="382219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30768" y="1837943"/>
            <a:ext cx="341985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JULIO · último mes cerrado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30768" y="2002536"/>
            <a:ext cx="34198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El recinto sumó 10.356 m³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430768" y="2212848"/>
            <a:ext cx="3419856" cy="629107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40496" y="2240279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Placa Bancaria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40496" y="2477073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7.084 m³    68 %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430768" y="2878531"/>
            <a:ext cx="3419856" cy="629107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540496" y="2905963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77B4"/>
                </a:solidFill>
                <a:latin typeface="Calibri"/>
              </a:rPr>
              <a:t>Ripley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40496" y="3142756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3.245 m³    31 %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430768" y="3544214"/>
            <a:ext cx="3419856" cy="629107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40496" y="3571646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7BA3C9"/>
                </a:solidFill>
                <a:latin typeface="Calibri"/>
              </a:rPr>
              <a:t>Pasillo Técnico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40496" y="3808439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26 m³    0,3 %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430768" y="4209897"/>
            <a:ext cx="3419856" cy="629107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5A8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540496" y="4237329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5A8C6E"/>
                </a:solidFill>
                <a:latin typeface="Calibri"/>
              </a:rPr>
              <a:t>Salida ARROW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40496" y="4474122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1 m³    &lt;0,1 %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430768" y="4875580"/>
            <a:ext cx="3419856" cy="629107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540496" y="4903012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C9A227"/>
                </a:solidFill>
                <a:latin typeface="Calibri"/>
              </a:rPr>
              <a:t>Falabella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40496" y="5139805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0 m³    0 % · 11/08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01168" y="5705856"/>
            <a:ext cx="11795760" cy="43891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29184" y="5779008"/>
            <a:ext cx="115397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Recepción 06/11/2025  ·  Capacitación 14/11/2025  ·  Miguel Rupayan  ·  Constanza Vilches  ·  Mantención: C. Bustamante, O. Cuevas y Supervisor Eléctrico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56032" y="6181344"/>
            <a:ext cx="11704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Mayo 7.511   ·   Junio 10.014   ·   Julio 10.356   ·   Agosto 1–17: 4.165   ·   proy. ago 7.595 m³.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Junio sube por Placa (18/06). Falabella activo 11/08. Lámina 2: noche, umbral y reubicación.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MAM  ·  2. Placa Bancaria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Mayor consumo del recinto  ·  noche  ·  umbral  ·  Placa vs Falabella desde el 11/08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987552"/>
            <a:ext cx="11777472" cy="71323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42415"/>
            <a:ext cx="1147572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0D3B66"/>
                </a:solidFill>
                <a:latin typeface="Calibri"/>
              </a:rPr>
              <a:t>Placa Bancaria se lleva 68 % de julio (7.084 m³). Pasillo Técnico (26 m³) y ARROW (0,5 m³) son residuales. Propuesta: reubicar esos dos puntos para subdividir Placa y ver qué zona alimenta el volumen. En julio hubo madrugadas altas (hasta 65 m³); en agosto la noche queda ~0. Si esas noches vuelven, un control on/off en Placa tiene sentido. Hoy el mayor valor es partir el caudal diurno.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1168" y="1792224"/>
            <a:ext cx="5833872" cy="3749039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9184" y="1828800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NOCHES DE PLACA — m³ 00:00–06:00 (jul–ago)</a:t>
            </a:r>
          </a:p>
        </p:txBody>
      </p:sp>
      <p:pic>
        <p:nvPicPr>
          <p:cNvPr id="11" name="Picture 10" descr="mam_placa_noches_jul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489736"/>
            <a:ext cx="5650992" cy="2518606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163056" y="1792224"/>
            <a:ext cx="5815584" cy="3749039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91072" y="1828800"/>
            <a:ext cx="55595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PLACA vs FALABELLA — m³/día desde el 11/08</a:t>
            </a:r>
          </a:p>
        </p:txBody>
      </p:sp>
      <p:pic>
        <p:nvPicPr>
          <p:cNvPr id="14" name="Picture 13" descr="mam_placa_vs_falabell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4496" y="2493811"/>
            <a:ext cx="5632704" cy="2510456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201168" y="5632704"/>
            <a:ext cx="11777472" cy="1060704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5669280"/>
            <a:ext cx="11475720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Umbral a cargar: diario Placa 155 m³/día (agosto operativo × 1,25; atrapa un salto tipo junio ~410). Nocturno 15 m³ en 00–06 (julio–ago mediana 1,5 m³; el 10/08 = 0 m³). Eso marca noches tipo 3/07 o 13/07 (48–65 m³) sin spamear agosto, ya ~0. Falabella aún sin umbral fijo (2–3 semanas de baseline; sus noches desde el 12/08 sí entran al análisis).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11–14/08: Placa 105 m³/día vs Falabella 43 m³/día (Placa ~2,5 veces Falabella). 15–17/08 Placa suma 1 m³ y Falabella 327 m³: validar en terreno si Placa se cortó o dejó de medir. Prioridad: reubicar Pasillo Técnico y ARROW para subdividir Placa.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MAQ  ·  Equipos y consumo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Mall Arauco Quilicura   |   2 puntos WES   |   01/05/2026 – 17/08/2026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5861304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060704"/>
            <a:ext cx="573328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243584"/>
            <a:ext cx="57332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Matriz Principal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35624" y="1024128"/>
            <a:ext cx="5861304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08776" y="1060704"/>
            <a:ext cx="573328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000025-34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08776" y="1243584"/>
            <a:ext cx="57332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Alim. Baños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08776" y="1481328"/>
            <a:ext cx="5733288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uso hábil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01168" y="1792224"/>
            <a:ext cx="7973568" cy="382219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maq_mensual_may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031551"/>
            <a:ext cx="7827264" cy="3343536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8302752" y="1792224"/>
            <a:ext cx="3675887" cy="382219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0768" y="1837943"/>
            <a:ext cx="341985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JULIO · último mes cerrado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30768" y="2002536"/>
            <a:ext cx="34198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El recinto sumó 6.056 m³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30768" y="2212848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40496" y="2240279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Matriz Principal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40496" y="2535448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5.994 m³    99 %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430768" y="3877056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40496" y="3904488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77B4"/>
                </a:solidFill>
                <a:latin typeface="Calibri"/>
              </a:rPr>
              <a:t>Alim. Baños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40496" y="4199656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62 m³    1 %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01168" y="5705856"/>
            <a:ext cx="11795760" cy="43891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9184" y="5779008"/>
            <a:ext cx="115397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Recepción 06/11/2025 / relocalizado 17/02/2026  ·  Capacitación 14/11/2025  ·  Mario Freitez  ·  Tomás Saba  ·  Sebastián Araneda  ·  Mantención: I. Dustan, K. Varas, L. Méndez, C. Leyto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6032" y="6181344"/>
            <a:ext cx="11704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Mayo 3.148   ·   Junio 4.033   ·   Julio 6.056   ·   Agosto 1–17: 3.487   ·   proy. ago 6.360 m³.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Matriz Principal concentra el recinto; Baños es consumo de uso hábil.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BOM  ·  Equipos y consumo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Buenaventura (San Ignacio)   |   2 puntos WES   |   01/05/2026 – 17/08/2026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5861304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060704"/>
            <a:ext cx="573328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243584"/>
            <a:ext cx="57332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San Ignacio 500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35624" y="1024128"/>
            <a:ext cx="5861304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08776" y="1060704"/>
            <a:ext cx="573328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000025-17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08776" y="1243584"/>
            <a:ext cx="57332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San Ignacio 300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08776" y="1481328"/>
            <a:ext cx="5733288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monitoreo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01168" y="1792224"/>
            <a:ext cx="7973568" cy="382219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bom_mensual_may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031551"/>
            <a:ext cx="7827264" cy="3343536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8302752" y="1792224"/>
            <a:ext cx="3675887" cy="382219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0768" y="1837943"/>
            <a:ext cx="341985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JULIO · último mes cerrado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30768" y="2002536"/>
            <a:ext cx="34198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El recinto sumó 5.116 m³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30768" y="2212848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40496" y="2240279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San Ignacio 500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40496" y="2535448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4.067 m³    79 %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430768" y="3877056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40496" y="3904488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C45C26"/>
                </a:solidFill>
                <a:latin typeface="Calibri"/>
              </a:rPr>
              <a:t>San Ignacio 300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40496" y="4199656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1.049 m³    21 %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01168" y="5705856"/>
            <a:ext cx="11795760" cy="43891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9184" y="5779008"/>
            <a:ext cx="115397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Recepción 18/11/2025  ·  Capacitación 11/12/2025  ·  Aliro Cortés  ·  Tomás Saba  ·  Sebastián Araneda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6032" y="6181344"/>
            <a:ext cx="11704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Mayo 1.565   ·   Junio 1.762   ·   Julio 5.116   ·   Agosto 1–17: 2.686   ·   proy. ago 4.899 m³.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San Ignacio 500 es el mayor volumen; 300 queda en monitoreo.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AEB  ·  Equipos y consumo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Arauco El Bosque   |   2 puntos WES   |   01/05/2026 – 17/08/2026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5861304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060704"/>
            <a:ext cx="573328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243584"/>
            <a:ext cx="57332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Matriz 1° piso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35624" y="1024128"/>
            <a:ext cx="5861304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08776" y="1060704"/>
            <a:ext cx="573328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08776" y="1243584"/>
            <a:ext cx="57332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Anillo Plaza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1168" y="1792224"/>
            <a:ext cx="7973568" cy="382219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aeb_mensual_may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031551"/>
            <a:ext cx="7827264" cy="3343536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8302752" y="1792224"/>
            <a:ext cx="3675887" cy="382219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30768" y="1837943"/>
            <a:ext cx="341985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JULIO · último mes cerrado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30768" y="2002536"/>
            <a:ext cx="34198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El recinto sumó 2.371 m³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30768" y="2212848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40496" y="2240279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C45C26"/>
                </a:solidFill>
                <a:latin typeface="Calibri"/>
              </a:rPr>
              <a:t>Matriz 1° piso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40496" y="2535448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1.724 m³    73 %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30768" y="3877056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40496" y="3904488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C9A227"/>
                </a:solidFill>
                <a:latin typeface="Calibri"/>
              </a:rPr>
              <a:t>Anillo Plaza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0496" y="4199656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647 m³    27 %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01168" y="5705856"/>
            <a:ext cx="11795760" cy="43891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9184" y="5779008"/>
            <a:ext cx="115397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Recepción 29/10/2025 / relocalizado 16/01/2026  ·  Capacitación 20/11/2025  ·  Tamara Martínez  ·  Tomás Saba  ·  Sebastián Araneda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6032" y="6181344"/>
            <a:ext cx="11704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Mayo 1.015   ·   Junio 2.116   ·   Julio 2.371   ·   Agosto 1–17: 1.217   ·   proy. ago 2.218 m³.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Matriz 1° piso y Anillo Plaza. Relocalizado en enero 2026.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CUR  ·  Equipos y consumo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Arauco Curauma   |   2 puntos WES   |   01/05/2026 – 17/08/2026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5861304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5A8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060704"/>
            <a:ext cx="573328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000025-38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243584"/>
            <a:ext cx="57332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Anillo Norte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35624" y="1024128"/>
            <a:ext cx="5861304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08776" y="1060704"/>
            <a:ext cx="573328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000025-37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08776" y="1243584"/>
            <a:ext cx="57332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Anillo Sur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1168" y="1792224"/>
            <a:ext cx="7973568" cy="382219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ur_mensual_may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031551"/>
            <a:ext cx="7827264" cy="3343536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8302752" y="1792224"/>
            <a:ext cx="3675887" cy="382219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30768" y="1837943"/>
            <a:ext cx="341985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JULIO · último mes cerrado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30768" y="2002536"/>
            <a:ext cx="34198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El recinto sumó 618 m³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30768" y="2212848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40496" y="2240279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7BA3C9"/>
                </a:solidFill>
                <a:latin typeface="Calibri"/>
              </a:rPr>
              <a:t>Anillo Sur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40496" y="2535448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332 m³    54 %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30768" y="3877056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5A8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40496" y="3904488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5A8C6E"/>
                </a:solidFill>
                <a:latin typeface="Calibri"/>
              </a:rPr>
              <a:t>Anillo Norte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0496" y="4199656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287 m³    46 %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01168" y="5705856"/>
            <a:ext cx="11795760" cy="43891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9184" y="5779008"/>
            <a:ext cx="115397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Recepción 29/04/2026 (Anillo Norte / Anillo Sur)  ·  Capacitación 12/12/2025  ·  Joceline Lazo  ·  Constanza Vilches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6032" y="6181344"/>
            <a:ext cx="11704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Junio 664   ·   Julio 618   ·   Agosto 1–17: 366   ·   proy. ago 667 m³.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Cambio de monitoreo: se dejó Baños y Matriz Principal. Anillo Norte y Sur con lectura correcta desde el 19/05 (mayo no se grafica).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PAK  ·  Equipos y consumo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Parque Arauco Kennedy   |   10 puntos WES   |   julio = cabecera (sin 27, 35 y 36)   |   01/05/2026 – 17/08/2026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2286000" cy="62179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8C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060704"/>
            <a:ext cx="215798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000025-20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225296"/>
            <a:ext cx="215798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Matriz Andén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78608" y="1024128"/>
            <a:ext cx="2286000" cy="62179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4664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51760" y="1060704"/>
            <a:ext cx="215798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000025-21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51760" y="1225296"/>
            <a:ext cx="215798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Locales Gast.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56048" y="1024128"/>
            <a:ext cx="2286000" cy="62179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A078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0" y="1060704"/>
            <a:ext cx="215798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000025-22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1225296"/>
            <a:ext cx="215798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Sandía Antigua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1444752"/>
            <a:ext cx="215798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A5A5A"/>
                </a:solidFill>
                <a:latin typeface="Calibri"/>
              </a:rPr>
              <a:t>alimenta 27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33488" y="1024128"/>
            <a:ext cx="2286000" cy="62179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06640" y="1060704"/>
            <a:ext cx="215798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000025-28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06640" y="1225296"/>
            <a:ext cx="215798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Sandía Nueva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06640" y="1444752"/>
            <a:ext cx="215798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A5A5A"/>
                </a:solidFill>
                <a:latin typeface="Calibri"/>
              </a:rPr>
              <a:t>alimenta 27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710928" y="1024128"/>
            <a:ext cx="2286000" cy="62179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84080" y="1060704"/>
            <a:ext cx="215798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000025-29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84080" y="1225296"/>
            <a:ext cx="215798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Restaurante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01168" y="1719072"/>
            <a:ext cx="2286000" cy="62179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5082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4320" y="1755648"/>
            <a:ext cx="215798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000025-23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" y="1920240"/>
            <a:ext cx="215798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Pileta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578608" y="1719072"/>
            <a:ext cx="2286000" cy="62179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651760" y="1755648"/>
            <a:ext cx="215798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000025-24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51760" y="1920240"/>
            <a:ext cx="215798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Cascada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956048" y="1719072"/>
            <a:ext cx="2286000" cy="62179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0" y="1755648"/>
            <a:ext cx="215798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000025-27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0" y="1920240"/>
            <a:ext cx="215798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Distrito Lujo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0" y="2139696"/>
            <a:ext cx="215798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A5A5A"/>
                </a:solidFill>
                <a:latin typeface="Calibri"/>
              </a:rPr>
              <a:t>cadena · no suma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333488" y="1719072"/>
            <a:ext cx="2286000" cy="62179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406640" y="1755648"/>
            <a:ext cx="215798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000025-35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06640" y="1920240"/>
            <a:ext cx="215798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Bazar Gourmet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06640" y="2139696"/>
            <a:ext cx="215798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A5A5A"/>
                </a:solidFill>
                <a:latin typeface="Calibri"/>
              </a:rPr>
              <a:t>sale de 27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710928" y="1719072"/>
            <a:ext cx="2286000" cy="62179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5A8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784080" y="1755648"/>
            <a:ext cx="215798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000025-36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784080" y="1920240"/>
            <a:ext cx="215798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DL Kennedy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2139696"/>
            <a:ext cx="215798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A5A5A"/>
                </a:solidFill>
                <a:latin typeface="Calibri"/>
              </a:rPr>
              <a:t>sale de 27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01168" y="2432304"/>
            <a:ext cx="7973568" cy="318211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pak_mensual_may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5863" y="2487168"/>
            <a:ext cx="7164176" cy="3072383"/>
          </a:xfrm>
          <a:prstGeom prst="rect">
            <a:avLst/>
          </a:prstGeom>
        </p:spPr>
      </p:pic>
      <p:sp>
        <p:nvSpPr>
          <p:cNvPr id="44" name="Rounded Rectangle 43"/>
          <p:cNvSpPr/>
          <p:nvPr/>
        </p:nvSpPr>
        <p:spPr>
          <a:xfrm>
            <a:off x="8302752" y="2432304"/>
            <a:ext cx="3675887" cy="318211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430768" y="2478024"/>
            <a:ext cx="341985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JULIO · cabecera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30768" y="2642616"/>
            <a:ext cx="34198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El recinto sumó 31.239 m³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430768" y="2852928"/>
            <a:ext cx="3419856" cy="34747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A078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540496" y="2880360"/>
            <a:ext cx="3200400" cy="1459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A0783C"/>
                </a:solidFill>
                <a:latin typeface="Calibri"/>
              </a:rPr>
              <a:t>Sandía Antigua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540496" y="2998866"/>
            <a:ext cx="3200400" cy="1806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13.661 m³    43,7 %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430768" y="3236976"/>
            <a:ext cx="3419856" cy="34747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540496" y="3264408"/>
            <a:ext cx="3200400" cy="1459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77B4"/>
                </a:solidFill>
                <a:latin typeface="Calibri"/>
              </a:rPr>
              <a:t>Sandía Nueva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540496" y="3382914"/>
            <a:ext cx="3200400" cy="1806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9.619 m³    30,8 %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430768" y="3621024"/>
            <a:ext cx="3419856" cy="34747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4664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540496" y="3648456"/>
            <a:ext cx="3200400" cy="1459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46648C"/>
                </a:solidFill>
                <a:latin typeface="Calibri"/>
              </a:rPr>
              <a:t>Locales Gast.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540496" y="3766962"/>
            <a:ext cx="3200400" cy="1806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4.583 m³    14,7 %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430768" y="4005072"/>
            <a:ext cx="3419856" cy="34747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8C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540496" y="4032504"/>
            <a:ext cx="3200400" cy="1459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8C5A5A"/>
                </a:solidFill>
                <a:latin typeface="Calibri"/>
              </a:rPr>
              <a:t>Matriz Andén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40496" y="4151010"/>
            <a:ext cx="3200400" cy="1806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3.086 m³    9,9 %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430768" y="4389120"/>
            <a:ext cx="3419856" cy="34747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5082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540496" y="4416552"/>
            <a:ext cx="3200400" cy="1459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508282"/>
                </a:solidFill>
                <a:latin typeface="Calibri"/>
              </a:rPr>
              <a:t>Pileta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540496" y="4535058"/>
            <a:ext cx="3200400" cy="1806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172 m³    0,5 %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430768" y="4773168"/>
            <a:ext cx="3419856" cy="34747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540496" y="4800600"/>
            <a:ext cx="3200400" cy="1459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45C26"/>
                </a:solidFill>
                <a:latin typeface="Calibri"/>
              </a:rPr>
              <a:t>Restaurante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540496" y="4919106"/>
            <a:ext cx="3200400" cy="1806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98 m³    0,3 %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8430768" y="5157216"/>
            <a:ext cx="3419856" cy="34747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540496" y="5184648"/>
            <a:ext cx="3200400" cy="1459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0D3B66"/>
                </a:solidFill>
                <a:latin typeface="Calibri"/>
              </a:rPr>
              <a:t>Cascada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540496" y="5303154"/>
            <a:ext cx="3200400" cy="1806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20 m³    &lt;0,1 %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201168" y="5705856"/>
            <a:ext cx="11795760" cy="43891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29184" y="5779008"/>
            <a:ext cx="115397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Recepción 12/12/2025  ·  Capacitación 17/12/2025  ·  Francisco Jeldres  ·  Paula Azolas  ·  Mantención: C. Naranjo, M. Jara, R. Moreno, R. Díaz, J. Gutiérrez, H. Fierro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56032" y="6181344"/>
            <a:ext cx="11704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Mayo 26.357   ·   Junio 20.927   ·   Julio 31.239   ·   Agosto 1–17: 21.494   ·   proy. ago 39.195 m³.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Julio = cabecera (7 puntos). 27, 35 y 36 no se suman: cadena Sandía → DL (lámina 2).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PAK  ·  2. Cadena Sandía / Distrito de Lujo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Sandía Antigua y Sandía Nueva alimentan Distrito de Lujo  ·  se divide en Bazar Gourmet y DL Kennedy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987552"/>
            <a:ext cx="11777472" cy="512064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42415"/>
            <a:ext cx="11475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0D3B66"/>
                </a:solidFill>
                <a:latin typeface="Calibri"/>
              </a:rPr>
              <a:t>Sandía Antigua y Sandía Nueva alimentan Distrito de Lujo. Desde ahí el caudal se divide en Bazar Gourmet y DL Kennedy. Por eso esos tres puntos no se suman a la cabecera: sería doble conteo.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1168" y="1591056"/>
            <a:ext cx="1938528" cy="4572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A078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1700784"/>
            <a:ext cx="17922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Sandía Antigua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68880" y="1591056"/>
            <a:ext cx="1938528" cy="4572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42032" y="1700784"/>
            <a:ext cx="17922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Sandía Nueva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64608" y="1591056"/>
            <a:ext cx="2194560" cy="457200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37760" y="1700784"/>
            <a:ext cx="20482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Distrito de Lujo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16368" y="1591056"/>
            <a:ext cx="1938528" cy="4572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89520" y="1700784"/>
            <a:ext cx="17922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Bazar Gourmet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546336" y="1591056"/>
            <a:ext cx="1938528" cy="4572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5A8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19488" y="1700784"/>
            <a:ext cx="17922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DL Kennedy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39696" y="1664208"/>
            <a:ext cx="32918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07408" y="1664208"/>
            <a:ext cx="457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800" b="1">
                <a:solidFill>
                  <a:srgbClr val="C9A227"/>
                </a:solidFill>
                <a:latin typeface="Calibri"/>
              </a:rP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59168" y="1664208"/>
            <a:ext cx="457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800" b="1">
                <a:solidFill>
                  <a:srgbClr val="C9A227"/>
                </a:solidFill>
                <a:latin typeface="Calibri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01168" y="2157984"/>
            <a:ext cx="5833872" cy="338328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9184" y="2194560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10/08 · perfil 24 h  (sombra = 00:00–06:00)</a:t>
            </a:r>
          </a:p>
        </p:txBody>
      </p:sp>
      <p:pic>
        <p:nvPicPr>
          <p:cNvPr id="24" name="Picture 23" descr="pak_cadena_perfil_202608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672616"/>
            <a:ext cx="5650992" cy="2518606"/>
          </a:xfrm>
          <a:prstGeom prst="rect">
            <a:avLst/>
          </a:prstGeom>
        </p:spPr>
      </p:pic>
      <p:sp>
        <p:nvSpPr>
          <p:cNvPr id="25" name="Rounded Rectangle 24"/>
          <p:cNvSpPr/>
          <p:nvPr/>
        </p:nvSpPr>
        <p:spPr>
          <a:xfrm>
            <a:off x="6163056" y="2157984"/>
            <a:ext cx="5815584" cy="338328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91072" y="2194560"/>
            <a:ext cx="55595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Julio · m³ de madrugada (00:00–06:00)</a:t>
            </a:r>
          </a:p>
        </p:txBody>
      </p:sp>
      <p:pic>
        <p:nvPicPr>
          <p:cNvPr id="27" name="Picture 26" descr="pak_cadena_noches_ju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4496" y="2676691"/>
            <a:ext cx="5632704" cy="2510456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201168" y="5632704"/>
            <a:ext cx="11777472" cy="1060704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5760" y="5669280"/>
            <a:ext cx="11475720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10/08 00–06: Distrito de Lujo 41,2 m³  ·  Bazar 28,2 + DL Kennedy 0,9 = 29,1 m³. Quedan 12,1 m³ en el tronco que no aparecen en esos dos ramales. En julio esa diferencia de madrugada es estable (mediana 13,1 m³/noche; Bazar + Kennedy cubren 71 % del tronco).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No asignamos ese hueco a un destino: no está en Bazar ni en DL Kennedy. Propuesta: control nocturno en Distrito de Lujo (tronco). Cortar el tronco corta Bazar, DL Kennedy y también ese caudal no ramaleado.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