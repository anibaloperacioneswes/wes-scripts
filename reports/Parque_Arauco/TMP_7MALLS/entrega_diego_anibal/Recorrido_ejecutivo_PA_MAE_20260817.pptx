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bmp" ContentType="image/bmp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bmp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rque arauco fond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246120"/>
            <a:ext cx="12191695" cy="3611880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429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WES  ·  Parque Arauco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22191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Recorrido ejecutivo por recinto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262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Una lámina de presentación por recinto</a:t>
            </a:r>
          </a:p>
          <a:p>
            <a:pPr algn="l">
              <a:spcAft>
                <a:spcPts val="300"/>
              </a:spcAft>
            </a:pPr>
            <a:r>
              <a:rPr sz="1500" b="0">
                <a:solidFill>
                  <a:srgbClr val="DCE6F0"/>
                </a:solidFill>
                <a:latin typeface="Calibri"/>
              </a:rPr>
              <a:t>Período 01/05/2026 – 17/08/2026   |   Emisión 18 agosto 2026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C9A227"/>
                </a:solidFill>
                <a:latin typeface="Calibri"/>
              </a:rPr>
              <a:t>Lámina 2: MAE  ·  MAM Placa  ·  MAQ Matriz  ·  BOM SI500  ·  PAK cadena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Estación   |   4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1481328"/>
            <a:ext cx="27660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locales mall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68396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1548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1548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Pizza Hut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35624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08776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8776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Estanque Sur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8776" y="1481328"/>
            <a:ext cx="27660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sala de bomba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02852" y="1024128"/>
            <a:ext cx="2894076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76004" y="1060704"/>
            <a:ext cx="276606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6004" y="1243584"/>
            <a:ext cx="27660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Baños Públicos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ae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3.074 m³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Pizza Hut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1.169 m³    38 %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30768" y="3044952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40496" y="3072384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Estanque Norte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0496" y="336755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886 m³    29 %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Estanque Sur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802 m³    26 %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30768" y="4709160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40496" y="4736592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Baños Públicos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40496" y="5031760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217 m³    7 %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20/10/2025  ·  Capacitación 18/02/2025  ·  medioambiente.dcl@parauco.com  ·  Sala de monitores MAE  ·  Sergio Fuenzalida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5.107   ·   Junio 3.179   ·   Julio 3.074   ·   Agosto 1–17: 1.701   ·   proy. ago 3.101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Mayo cierra más alto por Estanque Sur, antes de la reparación del 10/06.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MAE  ·  Hallazgos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Estanque Sur: reparación de presostatos (10/06)  ·  Estanque Norte: control nocturno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117043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C9A227"/>
                </a:solidFill>
                <a:latin typeface="Calibri"/>
              </a:rPr>
              <a:t>ESTANQUE SUR  ·  PRESÓSTATOS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280160"/>
            <a:ext cx="114757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El 10/06 se repararon los presostatos. El estanque venía en 89 m³/día (mayo–9/jun) y ese día ya marca 39 m³. Desde el 11/06 se sostiene en 28 m³/día (−61 m³/día, 68%). A $1.400/m³: $84.897/día  ·  $2.546.923/mes  ·  acumulado 11/06–17/08: $5.688.128 (4.063 m³ en 67 días).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" y="2249424"/>
            <a:ext cx="5285232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" y="230428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CONTROLES NOCTURNOS — noche típica antes vs con control</a:t>
            </a:r>
          </a:p>
        </p:txBody>
      </p:sp>
      <p:pic>
        <p:nvPicPr>
          <p:cNvPr id="12" name="Picture 11" descr="mae_controles_nocturn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" y="2560320"/>
            <a:ext cx="5010912" cy="29260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614416" y="2249424"/>
            <a:ext cx="6364224" cy="345643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2" y="2304288"/>
            <a:ext cx="61081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ESTANQUE SUR — m³/día y costo evitado</a:t>
            </a:r>
          </a:p>
        </p:txBody>
      </p:sp>
      <p:pic>
        <p:nvPicPr>
          <p:cNvPr id="15" name="Picture 14" descr="mae_sur_diario_presostato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2432" y="2560320"/>
            <a:ext cx="6108192" cy="2926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56032" y="5742432"/>
            <a:ext cx="11704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Norte (control 05/08): noche típica 4,8 → 1,1 m³. Ahorro 3,7 m³/noche ($5.194/noche · $155.820/mes). En 13 noches: 48 m³ = $67.522 (tarifa $1.400/m³).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Pizza Hut (control 01/07): noche típica 0,1 → 0 m³.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Estanque Sur: corte on/off a cargo de mantención nocturna.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Baños Guardias: control instalado; no está solicitado el uso.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Maipú   |   5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4950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48102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8102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Ripley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48732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1884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1884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Falabella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1884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activo 11/08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22515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95667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95667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Pasillo Técnico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95667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6297" y="1024128"/>
            <a:ext cx="2300630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69449" y="1060704"/>
            <a:ext cx="217261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69449" y="1243584"/>
            <a:ext cx="217261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Salida ARROW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69449" y="1481328"/>
            <a:ext cx="217261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residual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a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6687"/>
            <a:ext cx="7827264" cy="3333264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10.356 m³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430768" y="2212848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Placa Bancaria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0496" y="2477073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7.084 m³    68 %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30768" y="2878531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40496" y="2905963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Ripley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0496" y="31427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3.245 m³    31 %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30768" y="3544214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0496" y="3571646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Pasillo Técnico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0496" y="3808439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26 m³    0,3 %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30768" y="4209897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40496" y="423732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5A8C6E"/>
                </a:solidFill>
                <a:latin typeface="Calibri"/>
              </a:rPr>
              <a:t>Salida ARROW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0496" y="4474122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 m³    &lt;0,1 %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30768" y="4875580"/>
            <a:ext cx="3419856" cy="629107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40496" y="4903012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Falabella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40496" y="5139805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0 m³    0 % · 11/08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 ·  Capacitación 14/11/2025  ·  Miguel Rupayan  ·  Constanza Vilches  ·  Mantención: C. Bustamante, O. Cuevas y Supervisor Eléctrico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7.511   ·   Junio 10.014   ·   Julio 10.356   ·   Agosto 1–17: 4.165   ·   proy. ago 7.595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Junio sube por Placa (18/06). Falabella activo 11/08. Lámina 2: noche, umbral y reubicación.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MAM  ·  2. Placa Bancaria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Cuando se inyecta Falabella, se corta Placa y el mall sale por Falabella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65836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Placa Bancaria se lleva 68 % de julio (7.084 m³). Pasillo Técnico (26 m³) y ARROW (0,5 m³) casi no miden: son los puntos para reubicar y partir la línea.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37360"/>
            <a:ext cx="5833872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77393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mall cerrado</a:t>
            </a:r>
          </a:p>
        </p:txBody>
      </p:sp>
      <p:pic>
        <p:nvPicPr>
          <p:cNvPr id="11" name="Picture 10" descr="mam_placa_noches_jul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462304"/>
            <a:ext cx="5650992" cy="251860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63056" y="1737360"/>
            <a:ext cx="5815584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73936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DESDE EL 15/08 EL MALL SALE POR FALABELLA</a:t>
            </a:r>
          </a:p>
        </p:txBody>
      </p:sp>
      <p:pic>
        <p:nvPicPr>
          <p:cNvPr id="14" name="Picture 13" descr="mam_placa_vs_falabell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466379"/>
            <a:ext cx="5632704" cy="251045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Desde el 15/08 Placa se fue a 0. Ya pasó: se inyecta Falabella, se corta Placa y el mall sale por Falabella.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0D3B66"/>
                </a:solidFill>
                <a:latin typeface="Calibri"/>
              </a:rPr>
              <a:t>Umbrales: Placa 290 m³/día (julio andaba en 229). Falabella 140 m³/día (ahora ~112). Noche 15 m³: el mall está cerrado y esa madrugada es alta. Siguiente paso: subdividir la línea de Falabella para ver hacia dónde va el consumo de noche.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Mall Arauco Quilicura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Alim. Baños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776" y="1481328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uso hábil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q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6.056 m³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Matriz Principal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5.994 m³    99 %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7BA3C9"/>
                </a:solidFill>
                <a:latin typeface="Calibri"/>
              </a:rPr>
              <a:t>Alim. Baños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62 m³    1 %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06/11/2025 / relocalizado 17/02/2026  ·  Capacitación 14/11/2025  ·  Mario Freitez  ·  Tomás Saba  ·  Sebastián Araneda  ·  Mantención: I. Dustan, K. Varas, L. Méndez, C. Leyto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3.148   ·   Junio 4.033   ·   Julio 6.056   ·   Agosto 1–17: 3.487   ·   proy. ago 6.360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concentra el recinto. Lámina 2: alza desde junio, umbral y control de noche.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MAQ  ·  2. Matriz Principal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Alza desde junio  ·  umbrales  ·  la noche pide un control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65836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Matriz Principal se lleva 99 % de julio. Desde el 22/06 el día se duplicó (junio 131 → julio 193 → agosto 202 m³/día) y se quedó arriba. Baños es uso hábil: no es el problema.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37360"/>
            <a:ext cx="5833872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77393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DÍA · el alza desde junio se sostiene</a:t>
            </a:r>
          </a:p>
        </p:txBody>
      </p:sp>
      <p:pic>
        <p:nvPicPr>
          <p:cNvPr id="11" name="Picture 10" descr="maq_matriz_diario_jun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467595"/>
            <a:ext cx="5650992" cy="250802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63056" y="1737360"/>
            <a:ext cx="5815584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73936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mall cerrado</a:t>
            </a:r>
          </a:p>
        </p:txBody>
      </p:sp>
      <p:pic>
        <p:nvPicPr>
          <p:cNvPr id="14" name="Picture 13" descr="maq_matriz_noches_jul_a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466379"/>
            <a:ext cx="5632704" cy="251045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Umbrales: diario 240 m³/día (julio ~193). Noche 15 m³: el mall está cerrado y hoy la madrugada anda en 22 m³.</a:t>
            </a:r>
          </a:p>
          <a:p>
            <a:pPr algn="l">
              <a:spcAft>
                <a:spcPts val="300"/>
              </a:spcAft>
            </a:pPr>
            <a:r>
              <a:rPr sz="1400" b="1">
                <a:solidFill>
                  <a:srgbClr val="0D3B66"/>
                </a:solidFill>
                <a:latin typeface="Calibri"/>
              </a:rPr>
              <a:t>Buena medida: poner un control on/off de madrugada en Matriz. La gráfica de la derecha lo muestra: ~22 m³/noche, unos 659 m³/mes si se corta el caudal inhábil.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Buenaventura (San Ignacio)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 Ignacio 300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8776" y="1481328"/>
            <a:ext cx="5733288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A5A5A"/>
                </a:solidFill>
                <a:latin typeface="Calibri"/>
              </a:rPr>
              <a:t>monitoreo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m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5.116 m³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San Ignacio 500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4.067 m³    79 %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San Ignacio 300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1.049 m³    21 %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18/11/2025  ·  Capacitación 11/12/2025  ·  Aliro Cortés  ·  Tomás Saba  ·  Sebastián Araneda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1.565   ·   Junio 1.762   ·   Julio 5.116   ·   Agosto 1–17: 2.686   ·   proy. ago 4.899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San Ignacio 500 es el mayor volumen. Lámina 2: control nocturno desde 17/07, ahorro y umbral.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BOM  ·  2. San Ignacio 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Control nocturno operativo  ·  ahorro  ·  umbral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658368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0D3B66"/>
                </a:solidFill>
                <a:latin typeface="Calibri"/>
              </a:rPr>
              <a:t>San Ignacio 500 se lleva 79 % de julio. Control on/off operativo desde el 17/07: la madrugada pasó de 32 a 2 m³ (el 15/07 eran 36 m³) y se sostiene hasta hoy. San Ignacio 300 sigue sin control.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737360"/>
            <a:ext cx="5833872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" y="1773936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NOCHE 00–06  ·  el corte se ve y se sostiene</a:t>
            </a:r>
          </a:p>
        </p:txBody>
      </p:sp>
      <p:pic>
        <p:nvPicPr>
          <p:cNvPr id="11" name="Picture 10" descr="bom_si500_noches_jul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462304"/>
            <a:ext cx="5650992" cy="2518606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163056" y="1737360"/>
            <a:ext cx="5815584" cy="3803904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1072" y="1773936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AHORRO  ·  noche típica antes vs con control</a:t>
            </a:r>
          </a:p>
        </p:txBody>
      </p:sp>
      <p:pic>
        <p:nvPicPr>
          <p:cNvPr id="14" name="Picture 13" descr="bom_si500_ahor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467554"/>
            <a:ext cx="5632704" cy="2508107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687568"/>
            <a:ext cx="1147572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Desde el 17/07 no hay noche alta: residual típico 2 m³ (máximo 4,4). No se lee como fuga. Umbrales a activar: San Ignacio 500 diario 145 m³/día (agosto ~115) y noche 8 m³ (avisa si el corte se cae). San Ignacio 300 noche 4 m³ (sin on/off).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Ahorro del corte 00–06: 29,7 m³/noche = $41.566/noche  ·  $1.246.980/mes. Acumulado 17/07–17/08 (32 noches): 950 m³ = $1.330.112 (tarifa $1.400/m³).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AEB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Arauco El Bosque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Matriz 1° piso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Plaza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eb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2.371 m³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0D3B66"/>
                </a:solidFill>
                <a:latin typeface="Calibri"/>
              </a:rPr>
              <a:t>Matriz 1° piso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1.724 m³    73 %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1F77B4"/>
                </a:solidFill>
                <a:latin typeface="Calibri"/>
              </a:rPr>
              <a:t>Anillo Plaza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647 m³    27 %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29/10/2025 / relocalizado 16/01/2026  ·  Capacitación 20/11/2025  ·  Tamara Martínez  ·  Tomás Saba  ·  Sebastián Araneda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1.015   ·   Junio 2.116   ·   Julio 2.371   ·   Agosto 1–17: 1.217   ·   proy. ago 2.218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Matriz 1° piso y Anillo Plaza. Relocalizado en enero 2026.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CUR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Arauco Curauma   |   2 puntos WES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Norte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35624" y="1024128"/>
            <a:ext cx="5861304" cy="658368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08776" y="1060704"/>
            <a:ext cx="5733288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C9A227"/>
                </a:solidFill>
                <a:latin typeface="Calibri"/>
              </a:rPr>
              <a:t>000025-37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8776" y="1243584"/>
            <a:ext cx="57332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Anillo Sur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168" y="1792224"/>
            <a:ext cx="7973568" cy="382219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ur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031551"/>
            <a:ext cx="7827264" cy="334353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302752" y="1792224"/>
            <a:ext cx="3675887" cy="382219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1837943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último mes cerrado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200253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618 m³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0768" y="2212848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0496" y="2240279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45C26"/>
                </a:solidFill>
                <a:latin typeface="Calibri"/>
              </a:rPr>
              <a:t>Anillo Sur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6" y="2535448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332 m³    54 %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30768" y="3877056"/>
            <a:ext cx="3419856" cy="768096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0496" y="390448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Anillo Norte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0496" y="4199656"/>
            <a:ext cx="3200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D3B66"/>
                </a:solidFill>
                <a:latin typeface="Calibri"/>
              </a:rPr>
              <a:t>287 m³    46 %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29/04/2026 (Anillo Norte / Anillo Sur)  ·  Capacitación 12/12/2025  ·  Joceline Lazo  ·  Constanza Vilches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Junio 664   ·   Julio 618   ·   Agosto 1–17: 366   ·   proy. ago 667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Cambio de monitoreo: se dejó Baños y Matriz Principal. Anillo Norte y Sur con lectura correcta desde el 19/05 (mayo no se grafica).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Equipos y consumo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Parque Arauco Kennedy   |   10 puntos WES   |   julio = cabecera (sin 27, 35 y 36)   |   01/05/2026 – 17/08/2026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Matriz Andén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7860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Locales Gast.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5604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444752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alimenta 27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3348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1444752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alimenta 27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10928" y="1024128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1060704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0" y="1225296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Restaurante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116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466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Pileta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57860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A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5176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5176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Cascada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5604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Distrito Lujo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cadena · no suma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3348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0664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000025-35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sale de 27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10928" y="1719072"/>
            <a:ext cx="2286000" cy="62179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84080" y="1755648"/>
            <a:ext cx="2157984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1">
                <a:solidFill>
                  <a:srgbClr val="C9A227"/>
                </a:solidFill>
                <a:latin typeface="Calibri"/>
              </a:rPr>
              <a:t>000025-36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4080" y="1920240"/>
            <a:ext cx="215798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2139696"/>
            <a:ext cx="21579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800" b="0">
                <a:solidFill>
                  <a:srgbClr val="5A5A5A"/>
                </a:solidFill>
                <a:latin typeface="Calibri"/>
              </a:rPr>
              <a:t>sale de 27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01168" y="2432304"/>
            <a:ext cx="7973568" cy="318211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ak_mensual_may_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863" y="2487168"/>
            <a:ext cx="7164176" cy="3072383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8302752" y="2432304"/>
            <a:ext cx="3675887" cy="318211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30768" y="2478024"/>
            <a:ext cx="3419856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cabecera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30768" y="2642616"/>
            <a:ext cx="341985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El recinto sumó 31.239 m³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430768" y="2852928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40496" y="2880360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8C5A5A"/>
                </a:solidFill>
                <a:latin typeface="Calibri"/>
              </a:rPr>
              <a:t>Sandía Antigua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40496" y="2998866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13.661 m³    43,7 %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430768" y="3236976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40496" y="3264408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508282"/>
                </a:solidFill>
                <a:latin typeface="Calibri"/>
              </a:rPr>
              <a:t>Sandía Nueva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540496" y="3382914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9.619 m³    30,8 %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430768" y="3621024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40496" y="3648456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5A8C6E"/>
                </a:solidFill>
                <a:latin typeface="Calibri"/>
              </a:rPr>
              <a:t>Locales Gast.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40496" y="3766962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4.583 m³    14,7 %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30768" y="4005072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7BA3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40496" y="4032504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7BA3C9"/>
                </a:solidFill>
                <a:latin typeface="Calibri"/>
              </a:rPr>
              <a:t>Matriz Andén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40496" y="4151010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3.086 m³    9,9 %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430768" y="4389120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4664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40496" y="4416552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46648C"/>
                </a:solidFill>
                <a:latin typeface="Calibri"/>
              </a:rPr>
              <a:t>Pileta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40496" y="4535058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172 m³    0,5 %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430768" y="4773168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0D3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540496" y="4800600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D3B66"/>
                </a:solidFill>
                <a:latin typeface="Calibri"/>
              </a:rPr>
              <a:t>Restaurante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40496" y="4919106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98 m³    0,3 %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430768" y="5157216"/>
            <a:ext cx="3419856" cy="347471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A078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40496" y="5184648"/>
            <a:ext cx="3200400" cy="1459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A0783C"/>
                </a:solidFill>
                <a:latin typeface="Calibri"/>
              </a:rPr>
              <a:t>Cascada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40496" y="5303154"/>
            <a:ext cx="3200400" cy="180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20 m³    &lt;0,1 %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01168" y="5705856"/>
            <a:ext cx="11795760" cy="438912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29184" y="5779008"/>
            <a:ext cx="11539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0D3B66"/>
                </a:solidFill>
                <a:latin typeface="Calibri"/>
              </a:rPr>
              <a:t>Recepción 12/12/2025  ·  Capacitación 17/12/2025  ·  Francisco Jeldres  ·  Paula Azolas  ·  Mantención: C. Naranjo, M. Jara, R. Moreno, R. Díaz, J. Gutiérrez, H. Fierro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56032" y="6181344"/>
            <a:ext cx="117043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Mayo 26.357   ·   Junio 20.927   ·   Julio 31.239   ·   Agosto 1–17: 21.494   ·   proy. ago 39.195 m³.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Julio = cabecera (7 puntos). 27, 35 y 36 no se suman: cadena Sandía → DL (lámina 2).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D3B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 wes.bm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146304"/>
            <a:ext cx="1143000" cy="25340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6032" y="109728"/>
            <a:ext cx="10607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FFFFFF"/>
                </a:solidFill>
                <a:latin typeface="Calibri"/>
              </a:rPr>
              <a:t>PAK  ·  2. Cadena Sandía / Distrito de Lujo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6032" y="457200"/>
            <a:ext cx="10607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DCE6F0"/>
                </a:solidFill>
                <a:latin typeface="Calibri"/>
              </a:rPr>
              <a:t>Sandía Antigua y Sandía Nueva alimentan Distrito de Lujo  ·  se divide en Bazar Gourmet y DL Kennedy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1168" y="987552"/>
            <a:ext cx="11777472" cy="51206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042415"/>
            <a:ext cx="114757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0D3B66"/>
                </a:solidFill>
                <a:latin typeface="Calibri"/>
              </a:rPr>
              <a:t>Sandía Antigua y Sandía Nueva alimentan Distrito de Lujo. Desde ahí el caudal se divide en Bazar Gourmet y DL Kennedy. Por eso esos tres puntos no se suman a la cabecera: sería doble conteo.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8C5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Antigua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082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42032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Sandía Nueva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64608" y="1591056"/>
            <a:ext cx="2194560" cy="457200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37760" y="1700784"/>
            <a:ext cx="20482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Distrito de Lujo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16368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9520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Bazar Gourmet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46336" y="1591056"/>
            <a:ext cx="1938528" cy="4572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5A8C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19488" y="1700784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DL Kennedy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39696" y="1664208"/>
            <a:ext cx="32918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600" b="1">
                <a:solidFill>
                  <a:srgbClr val="C9A227"/>
                </a:solidFill>
                <a:latin typeface="Calibri"/>
              </a:rPr>
              <a:t>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1664208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9168" y="1664208"/>
            <a:ext cx="457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3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01168" y="2157984"/>
            <a:ext cx="5833872" cy="33832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2194560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10/08 · perfil 24 h  (sombra = 00:00–06:00)</a:t>
            </a:r>
          </a:p>
        </p:txBody>
      </p:sp>
      <p:pic>
        <p:nvPicPr>
          <p:cNvPr id="24" name="Picture 23" descr="pak_cadena_perfil_202608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2672616"/>
            <a:ext cx="5650992" cy="2518606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6163056" y="2157984"/>
            <a:ext cx="5815584" cy="338328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1072" y="2194560"/>
            <a:ext cx="5559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77B4"/>
                </a:solidFill>
                <a:latin typeface="Calibri"/>
              </a:rPr>
              <a:t>Julio · m³ de madrugada (00:00–06:00)</a:t>
            </a:r>
          </a:p>
        </p:txBody>
      </p:sp>
      <p:pic>
        <p:nvPicPr>
          <p:cNvPr id="27" name="Picture 26" descr="pak_cadena_noches_ju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2676691"/>
            <a:ext cx="5632704" cy="2510456"/>
          </a:xfrm>
          <a:prstGeom prst="rect">
            <a:avLst/>
          </a:prstGeom>
        </p:spPr>
      </p:pic>
      <p:sp>
        <p:nvSpPr>
          <p:cNvPr id="28" name="Rounded Rectangle 27"/>
          <p:cNvSpPr/>
          <p:nvPr/>
        </p:nvSpPr>
        <p:spPr>
          <a:xfrm>
            <a:off x="201168" y="5632704"/>
            <a:ext cx="11777472" cy="1060704"/>
          </a:xfrm>
          <a:prstGeom prst="roundRect">
            <a:avLst>
              <a:gd name="adj" fmla="val 8000"/>
            </a:avLst>
          </a:prstGeom>
          <a:solidFill>
            <a:srgbClr val="FFF9EB"/>
          </a:solidFill>
          <a:ln w="63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5669280"/>
            <a:ext cx="11475720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0D3B66"/>
                </a:solidFill>
                <a:latin typeface="Calibri"/>
              </a:rPr>
              <a:t>10/08 00–06: Distrito de Lujo 41,2 m³  ·  Bazar 28,2 + DL Kennedy 0,9 = 29,1 m³. Quedan 12,1 m³ en el tronco que no aparecen en esos dos ramales. En julio esa diferencia de madrugada es estable (mediana 13,1 m³/noche; Bazar + Kennedy cubren 71 % del tronco).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0D3B66"/>
                </a:solidFill>
                <a:latin typeface="Calibri"/>
              </a:rPr>
              <a:t>No asignamos ese hueco a un destino: no está en Bazar ni en DL Kennedy. Propuesta: control nocturno en Distrito de Lujo (tronco). Cortar el tronco corta Bazar, DL Kennedy y también ese caudal no ramaleado.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