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Una lámina de presentación por recinto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Lámina 2: MAE  ·  MAM Placa  ·  MAQ Matriz  ·  BOM SI500  ·  AEB Anillo  ·  CUR  ·  PAK cadena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Estación   |   4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27660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68396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1548" y="1115568"/>
            <a:ext cx="27660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08776" y="1115568"/>
            <a:ext cx="27660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02852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6004" y="1115568"/>
            <a:ext cx="27660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3.074 m³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30768" y="304495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3072384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0496" y="336755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0768" y="4709160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0496" y="473659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0496" y="5031760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20/10/2025  ·  Capacitación 18/02/2025  ·  medioambiente.dcl@parauco.com  ·  Sala de monitores MAE  ·  Sergio Fuenzalida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5.107   ·   Junio 3.179   ·   Julio 3.074   ·   Agosto 1–17: 1.701   ·   proy. ago 3.101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38988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25296"/>
            <a:ext cx="11475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Norte (control 05/08, 00:00–05:00): noche típica 4,8 → 1,1 m³, ahorro 3,7 m³. × 5 h de control × 30 días = 555 m³/mes = $777.000/mes (tarifa $1.400/m³). Es el que más ahorra de los controles MAE.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el 10/06 se repararon los presostatos.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468880"/>
            <a:ext cx="5285232" cy="312724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50545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724912"/>
            <a:ext cx="5010912" cy="276148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468880"/>
            <a:ext cx="6364224" cy="312724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505456"/>
            <a:ext cx="6108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724912"/>
            <a:ext cx="6108192" cy="27614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687568"/>
            <a:ext cx="11704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217261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74950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48102" y="1115568"/>
            <a:ext cx="217261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48732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1884" y="1115568"/>
            <a:ext cx="217261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1884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22515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95667" y="1115568"/>
            <a:ext cx="217261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95667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6297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9449" y="1115568"/>
            <a:ext cx="217261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69449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6687"/>
            <a:ext cx="7827264" cy="333326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30768" y="2212848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0496" y="2477073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30768" y="2878531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0496" y="2905963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0496" y="31427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0768" y="3544214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0496" y="3571646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0496" y="3808439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30768" y="4209897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0496" y="423732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0496" y="447412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30768" y="4875580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40496" y="490301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5139805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activo 11/08. Lámina 2: noche, umbral y reubicación.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2. Placa Bancaria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Cuando se inyecta Falabella, se corta Placa y el mall sale por Falabella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Placa Bancaria se lleva 68 % de julio (7.084 m³). Pasillo Técnico (26 m³) y ARROW (0,5 m³) casi no miden: son los puntos para reubicar y partir la línea.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DESDE EL 15/08 EL MALL SALE POR FALABELLA</a:t>
            </a:r>
          </a:p>
        </p:txBody>
      </p:sp>
      <p:pic>
        <p:nvPicPr>
          <p:cNvPr id="11" name="Picture 10" descr="mam_placa_vs_falabel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4" name="Picture 13" descr="mam_placa_noches_jul_a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Desde el 15/08 Placa se fue a 0. Ya pasó: se inyecta Falabella, se corta Placa y el mall sale por Falabella.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Umbrales: Placa 290 m³/día (julio andaba en 229). Falabella 140 m³/día (ahora ~112). Noche 15 m³: el mall está cerrado y esa madrugada es alta. Siguiente paso: subdividir la línea de Falabella para ver hacia dónde va el consumo de noche.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Quilicura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8776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q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6.056 m³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5.994 m³    99 %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Alim. Baños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62 m³    1 %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/ relocalizado 17/02/2026  ·  Capacitación 14/11/2025  ·  Mario Freitez  ·  Tomás Saba  ·  Sebastián Araneda  ·  Mantención: I. Dustan, K. Varas, L. Méndez, C. Leyto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3.148   ·   Junio 4.033   ·   Julio 6.056   ·   Agosto 1–17: 3.487   ·   proy. ago 6.360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concentra el recinto. Lámina 2: alza desde junio, umbral y control de noche.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2. Matriz Principal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Alza desde junio  ·  umbrales  ·  la noche pide un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Matriz Principal se lleva 99 % de julio. Desde el 22/06 el día se duplicó (junio 131 → julio 193 → agosto 202 m³/día) y se quedó arriba. Baños es uso hábil: no es el problema.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DÍA · el alza desde junio se sostiene</a:t>
            </a:r>
          </a:p>
        </p:txBody>
      </p:sp>
      <p:pic>
        <p:nvPicPr>
          <p:cNvPr id="11" name="Picture 10" descr="maq_matriz_diario_jun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7595"/>
            <a:ext cx="5650992" cy="250802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desde el 01/06</a:t>
            </a:r>
          </a:p>
        </p:txBody>
      </p:sp>
      <p:pic>
        <p:nvPicPr>
          <p:cNvPr id="14" name="Picture 13" descr="maq_matriz_noches_jun_a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58468"/>
            <a:ext cx="5632704" cy="252627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Umbrales: diario 240 m³/día (julio ~193). Noche 15 m³. Desde el 22/06 la madrugada anda en 21,9 m³ (antes 11,2). Mínimo típico por hora 00–06: 3 m³/h.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On/off 00–06 en Matriz: 21,9 m³/noche = $30.688/noche  ·  658 m³/mes = $920.640/mes (tarifa $1.400/m³).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Buenaventura (San Ignacio)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8776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5.116 m³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4.067 m³    79 %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San Ignacio 300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1.049 m³    21 %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18/11/2025  ·  Capacitación 11/12/2025  ·  Aliro Cortés  ·  Tomás Saba  ·  Sebastián Araneda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1.565   ·   Junio 1.762   ·   Julio 5.116   ·   Agosto 1–17: 2.686   ·   proy. ago 4.899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San Ignacio 500 es el mayor volumen. Lámina 2: control nocturno desde 17/07, ahorro y umbral.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2. San Ignacio 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Control nocturno operativo  ·  ahorro  ·  umbral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11475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07008"/>
            <a:ext cx="114757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San Ignacio 500 se lleva 79 % de julio. Control on/off operativo desde el 17/07: la madrugada pasó de 32 a 2 m³ (el 15/07 eran 36 m³) y se sostiene hasta hoy.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Ahorro del corte 00–06: 29,7 m³/noche = $41.566/noche  ·  $1.246.980/mes. Acumulado 17/07–17/08 (32 noches): 950 m³ = $1.330.112 (tarifa $1.400/m³).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833872" cy="329184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28600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AHORRO  ·  noche típica antes vs con control</a:t>
            </a:r>
          </a:p>
        </p:txBody>
      </p:sp>
      <p:pic>
        <p:nvPicPr>
          <p:cNvPr id="12" name="Picture 11" descr="bom_si500_ahor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719514"/>
            <a:ext cx="5650992" cy="251625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163056" y="2249424"/>
            <a:ext cx="5815584" cy="329184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2286000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el corte se ve y se sostiene</a:t>
            </a:r>
          </a:p>
        </p:txBody>
      </p:sp>
      <p:pic>
        <p:nvPicPr>
          <p:cNvPr id="15" name="Picture 14" descr="bom_si500_noches_jul_a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722411"/>
            <a:ext cx="5632704" cy="251045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Desde el 17/07 no hay noche alta: residual típico 2 m³ (máximo 4,4). No se lee como fuga. Umbrales a activar: San Ignacio 500 diario 145 m³/día (agosto ~115) y noche 8 m³ (avisa si el corte se cae). San Ignacio 300: alerta de umbral noche 4 m³.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El Bosque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15/05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eb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2.371 m³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1.724 m³    73 %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Anillo Plaza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647 m³    27 %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29/10/2025 / relocalizado 16/01/2026  ·  Capacitación 20/11/2025  ·  Tamara Martínez  ·  Tomás Saba  ·  Sebastián Araneda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1.015   ·   Junio 2.116   ·   Julio 2.371   ·   Agosto 1–17: 1.217   ·   proy. ago 2.218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1° piso y Anillo Plaza. Matriz A.A. desactivada 15/05. Lámina 2: alza Anillo y umbrales.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2. Anillo Plaza y Matriz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Matriz A.A. desactivada 15/05  ·  alza Anillo  ·  umbrales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00584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11475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07008"/>
            <a:ext cx="11475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On/off 00–06: Anillo Plaza 4,3 m³/noche = $5.980/noche · $179.388/mes. Matriz 1° piso 6,8 m³/noche = $9.467/noche · $284.020/mes. Los dos: 11 m³/noche = 331 m³/mes = $463.408/mes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Umbrales a activar (total del día): Anillo Plaza 22 m³/día (julio 21; el 09/07 llegó a 58). Matriz 1° piso 75 m³/día (agosto ~58 × 1,25).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084831"/>
            <a:ext cx="583387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12140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ANILLO PLAZA  ·  promedio día vs noche</a:t>
            </a:r>
          </a:p>
        </p:txBody>
      </p:sp>
      <p:pic>
        <p:nvPicPr>
          <p:cNvPr id="12" name="Picture 11" descr="aeb_anillo_dia_noch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36040"/>
            <a:ext cx="5650992" cy="251860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163056" y="2084831"/>
            <a:ext cx="581558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2121408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MATRIZ 1° PISO  ·  promedio día vs noche</a:t>
            </a:r>
          </a:p>
        </p:txBody>
      </p:sp>
      <p:pic>
        <p:nvPicPr>
          <p:cNvPr id="15" name="Picture 14" descr="aeb_matriz_dia_noch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640115"/>
            <a:ext cx="5632704" cy="251045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Matriz A.A. se desactivó el 15/05: desde ese día el recinto se lee en Matriz 1° piso y Anillo Plaza. Anillo Plaza subió (mayo 7 → junio 15 → julio 21 m³/día; pico 58 el 09/07). Agosto 13: ¿hay un trabajo en curso?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Curauma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8776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ur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618 m³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332 m³    54 %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Anillo Norte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287 m³    46 %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29/04/2026 (Anillo Norte / Anillo Sur)  ·  Capacitación 12/12/2025  ·  Joceline Lazo  ·  Constanza Vilches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Junio 664   ·   Julio 618   ·   Agosto 1–17: 366   ·   proy. ago 667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Cambio de monitoreo: Anillo Norte y Sur desde el 19/05 (mayo no se grafica). Lámina 2: diferencia, noche y umbral.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2. Anillo Sur y Norte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Diferencia chica  ·  noche 00–06  ·  umbral del día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Anillo Sur anda un poco sobre Norte: julio 54 % vs 46 % (unos 1,5 m³/día). Los dos cubren el mall; la diferencia es chica y se sostiene.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los dos anillos</a:t>
            </a:r>
          </a:p>
        </p:txBody>
      </p:sp>
      <p:pic>
        <p:nvPicPr>
          <p:cNvPr id="11" name="Picture 10" descr="cur_noches_jun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DÍA  ·  promedio mes  ·  Sur un poco sobre Norte</a:t>
            </a:r>
          </a:p>
        </p:txBody>
      </p:sp>
      <p:pic>
        <p:nvPicPr>
          <p:cNvPr id="14" name="Picture 13" descr="cur_dia_sur_nor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Noche típica 00–06: Sur 0,8 m³  ·  Norte 0,4 m³. La madrugada sigue el mismo patrón chico; no se lee como fuga.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Umbrales a activar (total del día): Anillo Sur 14 m³/día (junio–agosto ~11 × 1,25). Anillo Norte 13 m³/día (junio–agosto ~10 × 1,25).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Parque Arauco Kennedy   |   10 puntos WES   |   julio = cabecera (sin cadena DL)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7860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115568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604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1115568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3348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115568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1092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1115568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1810512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7860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1810512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5604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1810512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3348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1810512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1092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1810512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01168" y="2432304"/>
            <a:ext cx="7973568" cy="318211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ak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63" y="2487168"/>
            <a:ext cx="7164176" cy="3072383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8302752" y="2432304"/>
            <a:ext cx="3675887" cy="318211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30768" y="2478024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cabecera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30768" y="264261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31.239 m³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30768" y="285292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40496" y="288036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45C26"/>
                </a:solidFill>
                <a:latin typeface="Calibri"/>
              </a:rPr>
              <a:t>Sandía Antigua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299886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13.661 m³    43,7 %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30768" y="323697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40496" y="326440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5A8C6E"/>
                </a:solidFill>
                <a:latin typeface="Calibri"/>
              </a:rPr>
              <a:t>Sandía Nueva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96" y="338291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9.619 m³    30,8 %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30768" y="3621024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40496" y="3648456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77B4"/>
                </a:solidFill>
                <a:latin typeface="Calibri"/>
              </a:rPr>
              <a:t>Locales Gast.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3766962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4.583 m³    14,7 %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30768" y="4005072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40496" y="4032504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0496" y="4151010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3.086 m³    9,9 %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30768" y="4389120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40496" y="4416552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Pileta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0496" y="4535058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172 m³    0,5 %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430768" y="477316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40496" y="480060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C5A5A"/>
                </a:solidFill>
                <a:latin typeface="Calibri"/>
              </a:rPr>
              <a:t>Restaurante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0496" y="491910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98 m³    0,3 %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430768" y="515721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0496" y="518464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BA3C9"/>
                </a:solidFill>
                <a:latin typeface="Calibri"/>
              </a:rPr>
              <a:t>Cascada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40496" y="530315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20 m³    &lt;0,1 %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12/12/2025  ·  Capacitación 17/12/2025  ·  Francisco Jeldres  ·  Paula Azolas  ·  Mantención: C. Naranjo, M. Jara, R. Moreno, R. Díaz, J. Gutiérrez, H. Fierro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26.357   ·   Junio 20.927   ·   Julio 31.239   ·   Agosto 1–17: 21.494   ·   proy. ago 39.195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Julio = cabecera (7 puntos). Distrito de Lujo, Bazar y DL Kennedy no se suman (lámina 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2. Cadena Sandía / Distrito de 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Sandía Antigua y Sandía Nueva alimentan Distrito de Lujo  ·  se divide en Bazar Gourmet y DL Kennedy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51206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Sandía Antigua y Sandía Nueva alimentan Distrito de Lujo. Desde ahí el caudal se divide en Bazar Gourmet y DL Kennedy. Por eso esos tres puntos no se suman a la cabecera: sería doble conteo.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2032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591056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700784"/>
            <a:ext cx="20482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Distrito de Lujo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63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46336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8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1664208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" y="2157984"/>
            <a:ext cx="5833872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219456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10/08 · perfil 24 h  (sombra = 00:00–06:00)</a:t>
            </a:r>
          </a:p>
        </p:txBody>
      </p:sp>
      <p:pic>
        <p:nvPicPr>
          <p:cNvPr id="24" name="Picture 23" descr="pak_cadena_perfil_202608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72616"/>
            <a:ext cx="5650992" cy="251860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163056" y="2157984"/>
            <a:ext cx="5815584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2194560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Bazar Gourmet y DL Kennedy</a:t>
            </a:r>
          </a:p>
        </p:txBody>
      </p:sp>
      <p:pic>
        <p:nvPicPr>
          <p:cNvPr id="27" name="Picture 26" descr="pak_cadena_noches_j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676691"/>
            <a:ext cx="5632704" cy="25104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669280"/>
            <a:ext cx="114757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Noche típica 00–06: Bazar Gourmet 28,9 m³  ·  DL Kennedy 1,2 m³. El que más gasta de madrugada es Bazar Gourmet.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Propuesta: on/off 00–06 en Bazar Gourmet. 28,9 m³/noche = $40.460/noche  ·  867 m³/mes = $1.213.800/mes (tarifa $1.400/m³). DL Kennedy queda en 1,2 m³/noche.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