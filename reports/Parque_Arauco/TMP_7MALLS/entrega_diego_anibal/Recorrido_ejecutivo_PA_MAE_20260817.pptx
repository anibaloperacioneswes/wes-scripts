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bmp" ContentType="image/bmp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bmp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1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1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2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22.png"/><Relationship Id="rId4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rque arauco fond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246120"/>
            <a:ext cx="12191695" cy="361188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429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WES  ·  Parque Arauco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22191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200" b="1">
                <a:solidFill>
                  <a:srgbClr val="FFFFFF"/>
                </a:solidFill>
                <a:latin typeface="Calibri"/>
              </a:rPr>
              <a:t>Recorrido ejecutivo por recinto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262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Una lámina de presentación por recinto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DCE6F0"/>
                </a:solidFill>
                <a:latin typeface="Calibri"/>
              </a:rPr>
              <a:t>Período 01/05/2026 – 17/08/2026   |   Emisión 18 agosto 2026</a:t>
            </a:r>
          </a:p>
          <a:p>
            <a:pPr algn="l">
              <a:spcAft>
                <a:spcPts val="300"/>
              </a:spcAft>
            </a:pPr>
            <a:r>
              <a:rPr sz="1600" b="0">
                <a:solidFill>
                  <a:srgbClr val="C9A227"/>
                </a:solidFill>
                <a:latin typeface="Calibri"/>
              </a:rPr>
              <a:t>MAE  ·  MAM  ·  MAQ  ·  BOM  ·  AEB  ·  CUR  ·  PAK</a:t>
            </a:r>
          </a:p>
        </p:txBody>
      </p:sp>
      <p:pic>
        <p:nvPicPr>
          <p:cNvPr id="7" name="Picture 6" descr="logo wes.bmp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0" y="6263640"/>
            <a:ext cx="1234440" cy="27367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MAE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Mall Arauco Estación   |   4 puntos WES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2894076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115568"/>
            <a:ext cx="27660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Estanque Norte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481328"/>
            <a:ext cx="27660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locales mall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68396" y="1024128"/>
            <a:ext cx="2894076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41548" y="1115568"/>
            <a:ext cx="27660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Pizza Hut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35624" y="1024128"/>
            <a:ext cx="2894076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08776" y="1115568"/>
            <a:ext cx="27660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Estanque Sur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08776" y="1481328"/>
            <a:ext cx="27660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sala de bomba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02852" y="1024128"/>
            <a:ext cx="2894076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76004" y="1115568"/>
            <a:ext cx="27660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Baños Públicos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01168" y="1792224"/>
            <a:ext cx="7973568" cy="382219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mae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031551"/>
            <a:ext cx="7827264" cy="3343536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8302752" y="1792224"/>
            <a:ext cx="3675887" cy="382219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30768" y="1837943"/>
            <a:ext cx="3419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último mes cerrado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30768" y="2002536"/>
            <a:ext cx="34198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3.074 m³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30768" y="2212848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40496" y="2240279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Pizza Hut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40496" y="2535448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1.169 m³    38 %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430768" y="3044952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40496" y="3072384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Estanque Norte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40496" y="3367552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886 m³    29 %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430768" y="3877056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40496" y="3904488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77B4"/>
                </a:solidFill>
                <a:latin typeface="Calibri"/>
              </a:rPr>
              <a:t>Estanque Sur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40496" y="4199656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802 m³    26 %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30768" y="4709160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40496" y="4736592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BA3C9"/>
                </a:solidFill>
                <a:latin typeface="Calibri"/>
              </a:rPr>
              <a:t>Baños Públicos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40496" y="5031760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217 m³    7 %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20/10/2025  ·  Capacitación 18/02/2025  ·  medioambiente.dcl@parauco.com  ·  Sala de monitores MAE  ·  Sergio Fuenzalida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Mayo 5.107   ·   Junio 3.179   ·   Julio 3.074   ·   Agosto 1–17: 1.701   ·   proy. ago 3.101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Mayo cierra más alto por Estanque Sur, antes de la reparación del 10/06.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MAE  ·  Hallazgos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Estanque Sur: reparación de presostatos (10/06)  ·  Estanque Norte: control nocturno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1481328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24128"/>
            <a:ext cx="11475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HALLAZGOS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207008"/>
            <a:ext cx="11475720" cy="1225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Estanque Norte (control 05/08, 00:00–05:00): noche típica 4,8 → 1,1 m³, ahorro 3,7 m³. × 5 h de control × 30 días = 555 m³/mes = $777.000/mes (tarifa $1.400/m³). Es el que más ahorra de los controles MAE.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Estanque Sur: el 10/06 se repararon los presostatos. Venía en 89 m³/día (mayo–9/jun) y ese día ya marca 39 m³. Desde el 11/06 se sostiene en 28 m³/día (−61 m³/día, 68%). A $1.400/m³: $84.897/día  ·  $2.546.923/mes  ·  acumulado 11/06–17/08: $5.688.128 (4.063 m³ en 67 días).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Umbrales a activar (total 24 h): Estanque Norte 40 m³/día  ·  Estanque Sur 35 m³/día  ·  Pizza Hut 50 m³/día  ·  Baños Públicos 10 m³/día.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1168" y="2560320"/>
            <a:ext cx="5285232" cy="303580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9184" y="259689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CONTROLES NOCTURNOS — noche típica antes vs con control</a:t>
            </a:r>
          </a:p>
        </p:txBody>
      </p:sp>
      <p:pic>
        <p:nvPicPr>
          <p:cNvPr id="12" name="Picture 11" descr="mae_controles_nocturn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" y="2816352"/>
            <a:ext cx="5010912" cy="2670048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614416" y="2560320"/>
            <a:ext cx="6364224" cy="303580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42432" y="2596896"/>
            <a:ext cx="61081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ESTANQUE SUR — m³/día y costo evitado</a:t>
            </a:r>
          </a:p>
        </p:txBody>
      </p:sp>
      <p:pic>
        <p:nvPicPr>
          <p:cNvPr id="15" name="Picture 14" descr="mae_sur_diario_presostato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2432" y="2816352"/>
            <a:ext cx="6108192" cy="26700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56032" y="5687568"/>
            <a:ext cx="11704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Pizza Hut (control 01/07): noche típica 0,1 → 0 m³.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Baños Guardias: control instalado; no está solicitado el uso.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MAM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Mall Arauco Maipú   |   5 puntos WES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230063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115568"/>
            <a:ext cx="217261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Placa Bancaria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74950" y="1024128"/>
            <a:ext cx="230063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48102" y="1115568"/>
            <a:ext cx="217261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Ripley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48732" y="1024128"/>
            <a:ext cx="230063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1884" y="1115568"/>
            <a:ext cx="217261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Falabella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1884" y="1481328"/>
            <a:ext cx="217261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activo 11/08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22515" y="1024128"/>
            <a:ext cx="230063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95667" y="1115568"/>
            <a:ext cx="217261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Pasillo Técnico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95667" y="1481328"/>
            <a:ext cx="217261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residual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96297" y="1024128"/>
            <a:ext cx="230063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69449" y="1115568"/>
            <a:ext cx="217261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Salida ARROW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69449" y="1481328"/>
            <a:ext cx="217261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residual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01168" y="1792224"/>
            <a:ext cx="7973568" cy="382219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mam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036687"/>
            <a:ext cx="7827264" cy="3333264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8302752" y="1792224"/>
            <a:ext cx="3675887" cy="382219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30768" y="1837943"/>
            <a:ext cx="3419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último mes cerrado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30768" y="2002536"/>
            <a:ext cx="34198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10.356 m³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430768" y="2212848"/>
            <a:ext cx="3419856" cy="629107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40496" y="2240279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Placa Bancaria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40496" y="2477073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7.084 m³    68 %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430768" y="2878531"/>
            <a:ext cx="3419856" cy="629107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40496" y="2905963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77B4"/>
                </a:solidFill>
                <a:latin typeface="Calibri"/>
              </a:rPr>
              <a:t>Ripley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40496" y="3142756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3.245 m³    31 %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30768" y="3544214"/>
            <a:ext cx="3419856" cy="629107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40496" y="3571646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BA3C9"/>
                </a:solidFill>
                <a:latin typeface="Calibri"/>
              </a:rPr>
              <a:t>Pasillo Técnico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40496" y="3808439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26 m³    0,3 %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430768" y="4209897"/>
            <a:ext cx="3419856" cy="629107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40496" y="4237329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5A8C6E"/>
                </a:solidFill>
                <a:latin typeface="Calibri"/>
              </a:rPr>
              <a:t>Salida ARROW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40496" y="4474122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1 m³    &lt;0,1 %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430768" y="4875580"/>
            <a:ext cx="3419856" cy="629107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540496" y="4903012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C9A227"/>
                </a:solidFill>
                <a:latin typeface="Calibri"/>
              </a:rPr>
              <a:t>Falabella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40496" y="5139805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0 m³    0 % · 11/08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06/11/2025  ·  Capacitación 14/11/2025  ·  Miguel Rupayan  ·  Constanza Vilches  ·  Mantención: C. Bustamante, O. Cuevas y Supervisor Eléctrico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Mayo 7.511   ·   Junio 10.014   ·   Julio 10.356   ·   Agosto 1–17: 4.165   ·   proy. ago 7.595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Junio sube por Placa (18/06). Falabella activo 11/08. Lámina 2: noche, umbral y reubicación.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MAM  ·  2. Placa Bancaria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Cuando se inyecta Falabella, se corta Placa y el mall sale por Falabella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1005840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24128"/>
            <a:ext cx="11475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HALLAZGOS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207008"/>
            <a:ext cx="114757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D3B66"/>
                </a:solidFill>
                <a:latin typeface="Calibri"/>
              </a:rPr>
              <a:t>Placa Bancaria se lleva 68 % de julio (7.084 m³). Pasillo Técnico (26 m³) y ARROW (0,5 m³) casi no miden: son los puntos para reubicar y partir la línea.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Umbrales a activar (total 24 h): Placa 290 m³/día (julio andaba en 229)  ·  Falabella 140 m³/día (ahora ~112).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1168" y="2084831"/>
            <a:ext cx="5833872" cy="345643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9184" y="212140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DESDE EL 15/08 EL MALL SALE POR FALABELLA</a:t>
            </a:r>
          </a:p>
        </p:txBody>
      </p:sp>
      <p:pic>
        <p:nvPicPr>
          <p:cNvPr id="12" name="Picture 11" descr="mam_placa_vs_falabell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636040"/>
            <a:ext cx="5650992" cy="2518606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163056" y="2084831"/>
            <a:ext cx="5815584" cy="345643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91072" y="2121408"/>
            <a:ext cx="55595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NOCHE 00–06  ·  mall cerrado</a:t>
            </a:r>
          </a:p>
        </p:txBody>
      </p:sp>
      <p:pic>
        <p:nvPicPr>
          <p:cNvPr id="15" name="Picture 14" descr="mam_placa_noches_jul_a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4496" y="2640115"/>
            <a:ext cx="5632704" cy="2510456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201168" y="5632704"/>
            <a:ext cx="11777472" cy="1060704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5687568"/>
            <a:ext cx="1147572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0D3B66"/>
                </a:solidFill>
                <a:latin typeface="Calibri"/>
              </a:rPr>
              <a:t>Desde el 15/08 Placa se fue a 0. Ya pasó: se inyecta Falabella, se corta Placa y el mall sale por Falabella. Siguiente paso: subdividir la línea de Falabella para ver hacia dónde va el consumo de noche.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MAQ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Mall Arauco Quilicura   |   2 puntos WES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115568"/>
            <a:ext cx="573328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Matriz Principal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35624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08776" y="1115568"/>
            <a:ext cx="573328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Alim. Baños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08776" y="1481328"/>
            <a:ext cx="5733288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uso hábil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1168" y="1792224"/>
            <a:ext cx="7973568" cy="382219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maq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031551"/>
            <a:ext cx="7827264" cy="3343536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8302752" y="1792224"/>
            <a:ext cx="3675887" cy="382219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30768" y="1837943"/>
            <a:ext cx="3419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último mes cerrado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30768" y="2002536"/>
            <a:ext cx="34198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6.056 m³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30768" y="2212848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40496" y="2240279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Matriz Principal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0496" y="2535448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5.994 m³    99 %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30768" y="3877056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40496" y="3904488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BA3C9"/>
                </a:solidFill>
                <a:latin typeface="Calibri"/>
              </a:rPr>
              <a:t>Alim. Baños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40496" y="4199656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62 m³    1 %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06/11/2025 / relocalizado 17/02/2026  ·  Capacitación 14/11/2025  ·  Mario Freitez  ·  Tomás Saba  ·  Sebastián Araneda  ·  Mantención: I. Dustan, K. Varas, L. Méndez, C. Leyto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Mayo 3.148   ·   Junio 4.033   ·   Julio 6.056   ·   Agosto 1–17: 3.487   ·   proy. ago 6.360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Matriz concentra el recinto. Lámina 2: alza desde junio, umbral y control de noche.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MAQ  ·  2. Matriz Principal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Alza desde junio  ·  umbrales  ·  la noche pide un control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1005840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24128"/>
            <a:ext cx="11475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HALLAZGOS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207008"/>
            <a:ext cx="114757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D3B66"/>
                </a:solidFill>
                <a:latin typeface="Calibri"/>
              </a:rPr>
              <a:t>Matriz Principal se lleva 99 % de julio. Desde el 22/06 el día se duplicó (junio 131 → julio 193 → agosto 202 m³/día) y se quedó arriba. Baños es uso hábil: no es el problema.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Umbral a activar (total 24 h): Matriz Principal 240 m³/día (julio ~193).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1168" y="2084831"/>
            <a:ext cx="5833872" cy="345643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9184" y="212140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DÍA · el alza desde junio se sostiene</a:t>
            </a:r>
          </a:p>
        </p:txBody>
      </p:sp>
      <p:pic>
        <p:nvPicPr>
          <p:cNvPr id="12" name="Picture 11" descr="maq_matriz_diario_jun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641331"/>
            <a:ext cx="5650992" cy="2508024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163056" y="2084831"/>
            <a:ext cx="5815584" cy="345643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91072" y="2121408"/>
            <a:ext cx="55595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NOCHE 00–06  ·  desde el 01/06</a:t>
            </a:r>
          </a:p>
        </p:txBody>
      </p:sp>
      <p:pic>
        <p:nvPicPr>
          <p:cNvPr id="15" name="Picture 14" descr="maq_matriz_noches_jun_a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4496" y="2632204"/>
            <a:ext cx="5632704" cy="2526278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201168" y="5632704"/>
            <a:ext cx="11777472" cy="1060704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5687568"/>
            <a:ext cx="1147572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D3B66"/>
                </a:solidFill>
                <a:latin typeface="Calibri"/>
              </a:rPr>
              <a:t>Desde el 22/06 la madrugada anda en 21,9 m³ (antes 11,2). Mínimo típico por hora 00–06: 3 m³/h.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On/off 00–06 en Matriz: 21,9 m³/noche = $30.688/noche  ·  658 m³/mes = $920.640/mes (tarifa $1.400/m³).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BOM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Buenaventura (San Ignacio)   |   2 puntos WES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115568"/>
            <a:ext cx="573328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San Ignacio 500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35624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08776" y="1115568"/>
            <a:ext cx="573328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San Ignacio 300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08776" y="1481328"/>
            <a:ext cx="5733288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monitoreo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1168" y="1792224"/>
            <a:ext cx="7973568" cy="382219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bom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031551"/>
            <a:ext cx="7827264" cy="3343536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8302752" y="1792224"/>
            <a:ext cx="3675887" cy="382219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30768" y="1837943"/>
            <a:ext cx="3419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último mes cerrado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30768" y="2002536"/>
            <a:ext cx="34198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5.116 m³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30768" y="2212848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40496" y="2240279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San Ignacio 500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0496" y="2535448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4.067 m³    79 %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30768" y="3877056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40496" y="3904488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San Ignacio 300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40496" y="4199656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1.049 m³    21 %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18/11/2025  ·  Capacitación 11/12/2025  ·  Aliro Cortés  ·  Tomás Saba  ·  Sebastián Araneda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Mayo 1.565   ·   Junio 1.762   ·   Julio 5.116   ·   Agosto 1–17: 2.686   ·   proy. ago 4.899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San Ignacio 500 es el mayor volumen. Lámina 2: control nocturno desde 17/07, ahorro y umbral.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BOM  ·  2. San Ignacio 500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Control nocturno operativo  ·  ahorro  ·  umbral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1207008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24128"/>
            <a:ext cx="11475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HALLAZGOS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207008"/>
            <a:ext cx="1147572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D3B66"/>
                </a:solidFill>
                <a:latin typeface="Calibri"/>
              </a:rPr>
              <a:t>San Ignacio 500 se lleva 79 % de julio. Control on/off operativo desde el 17/07: la madrugada pasó de 32 a 2 m³ (el 15/07 eran 36 m³) y se sostiene hasta hoy.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Ahorro del corte 00–06: 29,7 m³/noche = $41.566/noche  ·  $1.246.980/mes. Acumulado 17/07–17/08 (32 noches): 950 m³ = $1.330.112 (tarifa $1.400/m³).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Umbrales a activar (total 24 h): San Ignacio 500 145 m³/día (agosto ~115)  ·  San Ignacio 300 45 m³/día.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1168" y="2286000"/>
            <a:ext cx="5833872" cy="3255264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9184" y="2322576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AHORRO  ·  noche típica antes vs con control</a:t>
            </a:r>
          </a:p>
        </p:txBody>
      </p:sp>
      <p:pic>
        <p:nvPicPr>
          <p:cNvPr id="12" name="Picture 11" descr="bom_si500_ahor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737802"/>
            <a:ext cx="5650992" cy="251625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163056" y="2286000"/>
            <a:ext cx="5815584" cy="3255264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91072" y="2322576"/>
            <a:ext cx="55595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NOCHE 00–06  ·  el corte se ve y se sostiene</a:t>
            </a:r>
          </a:p>
        </p:txBody>
      </p:sp>
      <p:pic>
        <p:nvPicPr>
          <p:cNvPr id="15" name="Picture 14" descr="bom_si500_noches_jul_a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4496" y="2740699"/>
            <a:ext cx="5632704" cy="2510456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201168" y="5632704"/>
            <a:ext cx="11777472" cy="1060704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5687568"/>
            <a:ext cx="1147572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D3B66"/>
                </a:solidFill>
                <a:latin typeface="Calibri"/>
              </a:rPr>
              <a:t>Desde el 17/07 no hay noche alta: residual típico 2 m³ (máximo 4,4). No se lee como fuga.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AEB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Arauco El Bosque   |   2 puntos WES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115568"/>
            <a:ext cx="573328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Matriz 1° piso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481328"/>
            <a:ext cx="5733288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activo 15/05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35624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08776" y="1115568"/>
            <a:ext cx="573328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Anillo Plaza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1168" y="1792224"/>
            <a:ext cx="7973568" cy="382219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aeb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031551"/>
            <a:ext cx="7827264" cy="3343536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8302752" y="1792224"/>
            <a:ext cx="3675887" cy="382219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30768" y="1837943"/>
            <a:ext cx="3419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último mes cerrado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30768" y="2002536"/>
            <a:ext cx="34198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2.371 m³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30768" y="2212848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40496" y="2240279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Matriz 1° piso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0496" y="2535448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1.724 m³    73 %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30768" y="3877056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40496" y="3904488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Anillo Plaza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40496" y="4199656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647 m³    27 %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29/10/2025 / relocalizado 16/01/2026  ·  Capacitación 20/11/2025  ·  Tamara Martínez  ·  Tomás Saba  ·  Sebastián Araneda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Mayo 1.015   ·   Junio 2.116   ·   Julio 2.371   ·   Agosto 1–17: 1.217   ·   proy. ago 2.218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Matriz 1° piso y Anillo Plaza. Matriz A.A. desactivada 15/05. Lámina 2: alza Anillo y umbrales.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AEB  ·  2. Anillo Plaza y Matriz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Matriz A.A. desactivada 15/05  ·  alza Anillo  ·  umbrales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1005840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24128"/>
            <a:ext cx="11475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HALLAZGOS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207008"/>
            <a:ext cx="114757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On/off 00–06: Anillo Plaza 4,3 m³/noche = $5.980/noche · $179.388/mes. Matriz 1° piso 6,8 m³/noche = $9.467/noche · $284.020/mes. Los dos: 11 m³/noche = 331 m³/mes = $463.408/mes (tarifa $1.400/m³).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Umbrales a activar (total 24 h): Anillo Plaza 22 m³/día (julio 21; el 09/07 llegó a 58). Matriz 1° piso 75 m³/día (agosto ~58 × 1,25).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1168" y="2084831"/>
            <a:ext cx="5833872" cy="345643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9184" y="212140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ANILLO PLAZA  ·  promedio día vs noche</a:t>
            </a:r>
          </a:p>
        </p:txBody>
      </p:sp>
      <p:pic>
        <p:nvPicPr>
          <p:cNvPr id="12" name="Picture 11" descr="aeb_anillo_dia_noch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636040"/>
            <a:ext cx="5650992" cy="2518606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163056" y="2084831"/>
            <a:ext cx="5815584" cy="345643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91072" y="2121408"/>
            <a:ext cx="55595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MATRIZ 1° PISO  ·  promedio día vs noche</a:t>
            </a:r>
          </a:p>
        </p:txBody>
      </p:sp>
      <p:pic>
        <p:nvPicPr>
          <p:cNvPr id="15" name="Picture 14" descr="aeb_matriz_dia_noch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4496" y="2640115"/>
            <a:ext cx="5632704" cy="2510456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201168" y="5632704"/>
            <a:ext cx="11777472" cy="1060704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5687568"/>
            <a:ext cx="1147572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D3B66"/>
                </a:solidFill>
                <a:latin typeface="Calibri"/>
              </a:rPr>
              <a:t>Matriz A.A. se desactivó el 15/05: desde ese día el recinto se lee en Matriz 1° piso y Anillo Plaza. Anillo Plaza subió (mayo 7 → junio 15 → julio 21 m³/día; pico 58 el 09/07). Agosto 13: ¿hay un trabajo en curso?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CUR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Arauco Curauma   |   2 puntos WES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115568"/>
            <a:ext cx="573328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Anillo Norte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35624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08776" y="1115568"/>
            <a:ext cx="573328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Anillo Sur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1168" y="1792224"/>
            <a:ext cx="7973568" cy="382219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ur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031551"/>
            <a:ext cx="7827264" cy="3343536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8302752" y="1792224"/>
            <a:ext cx="3675887" cy="382219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30768" y="1837943"/>
            <a:ext cx="3419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último mes cerrado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30768" y="2002536"/>
            <a:ext cx="34198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618 m³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30768" y="2212848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40496" y="2240279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Anillo Sur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0496" y="2535448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332 m³    54 %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30768" y="3877056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40496" y="3904488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C9A227"/>
                </a:solidFill>
                <a:latin typeface="Calibri"/>
              </a:rPr>
              <a:t>Anillo Norte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0496" y="4199656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287 m³    46 %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29/04/2026 (Anillo Norte / Anillo Sur)  ·  Capacitación 12/12/2025  ·  Joceline Lazo  ·  Constanza Vilches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Junio 664   ·   Julio 618   ·   Agosto 1–17: 366   ·   proy. ago 667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Cambio de monitoreo: Anillo Norte y Sur desde el 19/05 (mayo no se grafica). Lámina 2: diferencia, noche y umbral.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CUR  ·  2. Anillo Sur y Norte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Diferencia chica  ·  noche 00–06  ·  umbral del día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1005840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24128"/>
            <a:ext cx="11475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HALLAZGOS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207008"/>
            <a:ext cx="114757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D3B66"/>
                </a:solidFill>
                <a:latin typeface="Calibri"/>
              </a:rPr>
              <a:t>Anillo Sur anda un poco sobre Norte: julio 54 % vs 46 % (unos 1,5 m³/día). Los dos cubren el mall; la diferencia es chica y se sostiene.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Umbrales a activar (total 24 h): Anillo Sur 14 m³/día (junio–agosto ~11 × 1,25)  ·  Anillo Norte 13 m³/día (junio–agosto ~10 × 1,25).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1168" y="2084831"/>
            <a:ext cx="5833872" cy="345643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9184" y="212140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NOCHE 00–06  ·  los dos anillos</a:t>
            </a:r>
          </a:p>
        </p:txBody>
      </p:sp>
      <p:pic>
        <p:nvPicPr>
          <p:cNvPr id="12" name="Picture 11" descr="cur_noches_jun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636040"/>
            <a:ext cx="5650992" cy="2518606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163056" y="2084831"/>
            <a:ext cx="5815584" cy="345643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91072" y="2121408"/>
            <a:ext cx="55595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DÍA  ·  promedio mes  ·  Sur un poco sobre Norte</a:t>
            </a:r>
          </a:p>
        </p:txBody>
      </p:sp>
      <p:pic>
        <p:nvPicPr>
          <p:cNvPr id="15" name="Picture 14" descr="cur_dia_sur_nor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4496" y="2640115"/>
            <a:ext cx="5632704" cy="2510456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201168" y="5632704"/>
            <a:ext cx="11777472" cy="1060704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5687568"/>
            <a:ext cx="1147572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D3B66"/>
                </a:solidFill>
                <a:latin typeface="Calibri"/>
              </a:rPr>
              <a:t>Noche típica 00–06: Sur 0,8 m³  ·  Norte 0,4 m³. La madrugada sigue el mismo patrón chico; no se lee como fuga.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PAK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Parque Arauco Kennedy   |   10 puntos WES   |   julio = cabecera (sin cadena DL)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115568"/>
            <a:ext cx="21579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Matriz Andén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78608" y="1024128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51760" y="1115568"/>
            <a:ext cx="21579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Locales Gast.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56048" y="1024128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0" y="1115568"/>
            <a:ext cx="21579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Sandía Antigua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1444752"/>
            <a:ext cx="215798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A5A5A"/>
                </a:solidFill>
                <a:latin typeface="Calibri"/>
              </a:rPr>
              <a:t>alimenta DL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33488" y="1024128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0" y="1115568"/>
            <a:ext cx="21579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Sandía Nueva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1444752"/>
            <a:ext cx="215798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A5A5A"/>
                </a:solidFill>
                <a:latin typeface="Calibri"/>
              </a:rPr>
              <a:t>alimenta DL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10928" y="1024128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8C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84080" y="1115568"/>
            <a:ext cx="21579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Restaurante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01168" y="1719072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320" y="1810512"/>
            <a:ext cx="21579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Pileta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578608" y="1719072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651760" y="1810512"/>
            <a:ext cx="21579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Cascada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956048" y="1719072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0" y="1810512"/>
            <a:ext cx="21579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Distrito Lujo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0" y="2139696"/>
            <a:ext cx="215798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A5A5A"/>
                </a:solidFill>
                <a:latin typeface="Calibri"/>
              </a:rPr>
              <a:t>cadena · no suma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33488" y="1719072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06640" y="1810512"/>
            <a:ext cx="21579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Bazar Gourmet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06640" y="2139696"/>
            <a:ext cx="215798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A5A5A"/>
                </a:solidFill>
                <a:latin typeface="Calibri"/>
              </a:rPr>
              <a:t>sale de DL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710928" y="1719072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84080" y="1810512"/>
            <a:ext cx="21579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DL Kennedy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84080" y="2139696"/>
            <a:ext cx="215798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A5A5A"/>
                </a:solidFill>
                <a:latin typeface="Calibri"/>
              </a:rPr>
              <a:t>sale de DL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01168" y="2432304"/>
            <a:ext cx="7973568" cy="318211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pak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863" y="2487168"/>
            <a:ext cx="7164176" cy="3072383"/>
          </a:xfrm>
          <a:prstGeom prst="rect">
            <a:avLst/>
          </a:prstGeom>
        </p:spPr>
      </p:pic>
      <p:sp>
        <p:nvSpPr>
          <p:cNvPr id="34" name="Rounded Rectangle 33"/>
          <p:cNvSpPr/>
          <p:nvPr/>
        </p:nvSpPr>
        <p:spPr>
          <a:xfrm>
            <a:off x="8302752" y="2432304"/>
            <a:ext cx="3675887" cy="318211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30768" y="2478024"/>
            <a:ext cx="3419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cabecera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30768" y="2642616"/>
            <a:ext cx="34198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31.239 m³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430768" y="2852928"/>
            <a:ext cx="3419856" cy="34747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540496" y="2880360"/>
            <a:ext cx="3200400" cy="145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45C26"/>
                </a:solidFill>
                <a:latin typeface="Calibri"/>
              </a:rPr>
              <a:t>Sandía Antigua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40496" y="2998866"/>
            <a:ext cx="3200400" cy="1806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13.661 m³    43,7 %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430768" y="3236976"/>
            <a:ext cx="3419856" cy="34747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540496" y="3264408"/>
            <a:ext cx="3200400" cy="145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5A8C6E"/>
                </a:solidFill>
                <a:latin typeface="Calibri"/>
              </a:rPr>
              <a:t>Sandía Nueva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40496" y="3382914"/>
            <a:ext cx="3200400" cy="1806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9.619 m³    30,8 %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430768" y="3621024"/>
            <a:ext cx="3419856" cy="34747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540496" y="3648456"/>
            <a:ext cx="3200400" cy="145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77B4"/>
                </a:solidFill>
                <a:latin typeface="Calibri"/>
              </a:rPr>
              <a:t>Locales Gast.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40496" y="3766962"/>
            <a:ext cx="3200400" cy="1806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4.583 m³    14,7 %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430768" y="4005072"/>
            <a:ext cx="3419856" cy="34747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540496" y="4032504"/>
            <a:ext cx="3200400" cy="145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0D3B66"/>
                </a:solidFill>
                <a:latin typeface="Calibri"/>
              </a:rPr>
              <a:t>Matriz Andén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40496" y="4151010"/>
            <a:ext cx="3200400" cy="1806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3.086 m³    9,9 %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430768" y="4389120"/>
            <a:ext cx="3419856" cy="34747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540496" y="4416552"/>
            <a:ext cx="3200400" cy="145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Pileta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540496" y="4535058"/>
            <a:ext cx="3200400" cy="1806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172 m³    0,5 %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430768" y="4773168"/>
            <a:ext cx="3419856" cy="34747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8C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540496" y="4800600"/>
            <a:ext cx="3200400" cy="145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8C5A5A"/>
                </a:solidFill>
                <a:latin typeface="Calibri"/>
              </a:rPr>
              <a:t>Restaurante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540496" y="4919106"/>
            <a:ext cx="3200400" cy="1806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98 m³    0,3 %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430768" y="5157216"/>
            <a:ext cx="3419856" cy="34747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540496" y="5184648"/>
            <a:ext cx="3200400" cy="145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BA3C9"/>
                </a:solidFill>
                <a:latin typeface="Calibri"/>
              </a:rPr>
              <a:t>Cascada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540496" y="5303154"/>
            <a:ext cx="3200400" cy="1806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20 m³    &lt;0,1 %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12/12/2025  ·  Capacitación 17/12/2025  ·  Francisco Jeldres  ·  Paula Azolas  ·  Mantención: C. Naranjo, M. Jara, R. Moreno, R. Díaz, J. Gutiérrez, H. Fierro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Mayo 26.357   ·   Junio 20.927   ·   Julio 31.239   ·   Agosto 1–17: 21.494   ·   proy. ago 39.195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Julio = cabecera (7 puntos). Distrito de Lujo, Bazar y DL Kennedy no se suman (lámina 2).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PAK  ·  2. Cadena Sandía / Distrito de Lujo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Sandía Antigua y Sandía Nueva alimentan Distrito de Lujo  ·  se divide en Bazar Gourmet y DL Kennedy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1115568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24128"/>
            <a:ext cx="11475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HALLAZGOS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207008"/>
            <a:ext cx="11475720" cy="859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Sandía Antigua y Sandía Nueva alimentan Distrito de Lujo. Desde ahí el caudal se divide en Bazar Gourmet y DL Kennedy. Por eso esos tres puntos no se suman a la cabecera: sería doble conteo.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Propuesta: on/off 00–06 en Bazar Gourmet (el que más gasta de noche: 28,9 m³ vs 1,2 m³). 28,9 m³/noche = $40.460/noche  ·  867 m³/mes = $1.213.800/mes (tarifa $1.400/m³).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Umbrales a activar (total 24 h): Distrito de Lujo 390 m³/día  ·  Bazar Gourmet 250 m³/día  ·  DL Kennedy 20 m³/día.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1168" y="2157984"/>
            <a:ext cx="1938528" cy="38404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2267712"/>
            <a:ext cx="1792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Sandía Antigua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468880" y="2157984"/>
            <a:ext cx="1938528" cy="38404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42032" y="2267712"/>
            <a:ext cx="1792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Sandía Nueva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64608" y="2157984"/>
            <a:ext cx="2194560" cy="384048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37760" y="2267712"/>
            <a:ext cx="20482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Distrito de Lujo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16368" y="2157984"/>
            <a:ext cx="1938528" cy="38404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267712"/>
            <a:ext cx="1792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Bazar Gourmet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546336" y="2157984"/>
            <a:ext cx="1938528" cy="38404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19488" y="2267712"/>
            <a:ext cx="1792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DL Kennedy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39696" y="2231136"/>
            <a:ext cx="32918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07408" y="2231136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>
                <a:solidFill>
                  <a:srgbClr val="C9A227"/>
                </a:solidFill>
                <a:latin typeface="Calibri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59168" y="2231136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>
                <a:solidFill>
                  <a:srgbClr val="C9A227"/>
                </a:solidFill>
                <a:latin typeface="Calibri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01168" y="2596896"/>
            <a:ext cx="5833872" cy="2944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9184" y="2633472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10/08 · perfil 24 h  (sombra = 00:00–06:00)</a:t>
            </a:r>
          </a:p>
        </p:txBody>
      </p:sp>
      <p:pic>
        <p:nvPicPr>
          <p:cNvPr id="25" name="Picture 24" descr="pak_cadena_perfil_202608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892072"/>
            <a:ext cx="5650992" cy="2518606"/>
          </a:xfrm>
          <a:prstGeom prst="rect">
            <a:avLst/>
          </a:prstGeom>
        </p:spPr>
      </p:pic>
      <p:sp>
        <p:nvSpPr>
          <p:cNvPr id="26" name="Rounded Rectangle 25"/>
          <p:cNvSpPr/>
          <p:nvPr/>
        </p:nvSpPr>
        <p:spPr>
          <a:xfrm>
            <a:off x="6163056" y="2596896"/>
            <a:ext cx="5815584" cy="2944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91072" y="2633472"/>
            <a:ext cx="55595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NOCHE 00–06  ·  Bazar Gourmet y DL Kennedy</a:t>
            </a:r>
          </a:p>
        </p:txBody>
      </p:sp>
      <p:pic>
        <p:nvPicPr>
          <p:cNvPr id="28" name="Picture 27" descr="pak_cadena_noches_ju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4496" y="2896147"/>
            <a:ext cx="5632704" cy="2510456"/>
          </a:xfrm>
          <a:prstGeom prst="rect">
            <a:avLst/>
          </a:prstGeom>
        </p:spPr>
      </p:pic>
      <p:sp>
        <p:nvSpPr>
          <p:cNvPr id="29" name="Rounded Rectangle 28"/>
          <p:cNvSpPr/>
          <p:nvPr/>
        </p:nvSpPr>
        <p:spPr>
          <a:xfrm>
            <a:off x="201168" y="5632704"/>
            <a:ext cx="11777472" cy="1060704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5669280"/>
            <a:ext cx="1147572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Noche típica 00–06: Bazar Gourmet 28,9 m³  ·  DL Kennedy 1,2 m³. DL Kennedy queda en 1,2 m³/noche.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