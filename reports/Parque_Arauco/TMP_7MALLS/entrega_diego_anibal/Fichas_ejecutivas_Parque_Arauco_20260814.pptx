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246120"/>
            <a:ext cx="12191695" cy="36118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WES  ·  Parque Arauco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Fichas ejecutivas por recinto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Período 01/06/2026 – 14/08/2026   |   Emisión 14 agosto 2026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DCE6F0"/>
                </a:solidFill>
                <a:latin typeface="Calibri"/>
              </a:rPr>
              <a:t>5 variables por mall  ·  controles nocturnos descartados del análisis de fugas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9A227"/>
                </a:solidFill>
                <a:latin typeface="Calibri"/>
              </a:rPr>
              <a:t>MAE · MAM · MAQ · BOM · AEB · CUR · PAK   |   Puntos activos WES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Cómo leer las fichas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Misma lógica del PPT 7 Malls (entrega Diego / Aníbal), actualizado a agosto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2471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99031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Puntos WES activos del recinto. Se excluyen relocalizados en cero (Red de Incendio, Matriz/Baños CUR antiguos, Baños 5/6 PAK, KFC/Poniente 7/Locales comida). Impulsión Falabella (MAM) quedó activa el 11/08/2026.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075688"/>
            <a:ext cx="11521440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2. Consumo mensualizado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Suma de puntos WES del recinto: junio, julio y agosto 1–14, más proyección lineal a 31 días. En Kennedy no se suma la cadena DL (doble conteo).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099816"/>
            <a:ext cx="11521440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3. Hallazgos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4728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Tendencia jun–ago y puntos de mayor aporte. La noche de un punto CON control no se lee como fuga.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123944"/>
            <a:ext cx="11521440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9709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71416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Lo que queremos pasar al JO / mantención / medioambiente del mall.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148072"/>
            <a:ext cx="11521440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22122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5. Controles nocturnos (descartados)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95544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San Ignacio 500 desde 16/07 · Pizza Hut desde 01/07 · Estanque Norte desde 05/08 · Estanque Sur: corte on/off de mantención nocturna. Verificados con perfil 0–6 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MAE  ·  Mall Arauco Estación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4 puntos activos + 1 adicional   |   01/06/2026 – 14/08/2026   |   Recepción 20/10/2025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24128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7899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53312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Estanque Norte Locales Mall (000025-01)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Baños Públicos (000025-04)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PIZZA HUT (000025-07)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Sala de Bomba Estanque Sur (000025-19)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Abastecimiento Sur Terminal (000025-02) — activo, fuera del deck 7 Malls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24128"/>
            <a:ext cx="7635240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78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2. CONSUMO MENSUALIZADO (PUNTOS WES)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53312"/>
            <a:ext cx="3611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Junio: 3.178,7 m³  (106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Julio: 3.073,5 m³  (99,1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Agosto 1–14: 1.376,9 m³  (98,3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Proyección agosto: 3.048,8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Mayor aporte: Sala de Bomba Estanque Sur — jun 1.365,2 / jul 801,9 / ago 431,8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Variación m³/día: jul vs jun -6%  ·  ago vs jul -1%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Suma de los 4 puntos del deck (sin 000025-02).</a:t>
            </a:r>
          </a:p>
        </p:txBody>
      </p:sp>
      <p:pic>
        <p:nvPicPr>
          <p:cNvPr id="13" name="Picture 12" descr="mensual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25880"/>
            <a:ext cx="3611880" cy="1488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28600" y="3456432"/>
            <a:ext cx="585216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5112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92D30"/>
                </a:solidFill>
                <a:latin typeface="Calibri"/>
              </a:rPr>
              <a:t>3. HALLAZGOS / 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785615"/>
            <a:ext cx="559612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Reparación 10/06 en red Sur (validada con mantención): Estanque Sur pasó de 83,1 a 29,4 m³/día y se mantiene (~27–29 m³/día jul–ago). No es fuga residual.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Pizza Hut: control nocturno desde 01/07 funciona (noche ~0 m³ el 10/08). El alza de julio (23,8 → 37,7 m³/día) es diurna; agosto baja a 14,1 m³/día. Noche descartada.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Estanque Norte: control desde 05/08. La noche no explica el alza (ago 1–4: 41 m³/día; 5–14: 50 m³/día). Revisar locales mall en horario hábil.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Baños Públicos: 16,3 → 7,0 → 3,5 m³/día. Noches ya ~0. Control instalado sin funcionamiento: no es prioridad.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56432"/>
            <a:ext cx="571500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5112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7C5B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785615"/>
            <a:ext cx="546811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Confirmar que el corte on/off de Estanque Sur queda a cargo permanente de mantención nocturna.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No abrir orden de fuga por noches de Norte / Pizza Hut / Sur: controles activos o corte operativo.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Revisar alza diurna de Estanque Norte en agosto (locales mall).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Incorporar Abastecimiento Sur Terminal (000025-02) al tablero del recinto si corresponde a la cuenta del mall.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5440680"/>
            <a:ext cx="11704320" cy="126187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54864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5. CONTROLES NOCTURNOS — DESCARTADOS DEL ANÁLISIS DE FUGAS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742432"/>
            <a:ext cx="11430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Estanque Sur (000025-19): corte on/off a cargo de personal de mantención nocturno — DESCARTADO.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Pizza Hut (000025-07): control nocturno desde 01/07/2026 (00:00–06:00) — DESCARTADO. Verificado 10/08: 0 m³ en 0–6 h.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Estanque Norte (000025-01): control nocturno desde 05/08/2026 — DESCARTADO.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Baños Públicos: control instalado sin funcionamiento; noches ya ~0 — no se interpreta como fuga.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MAM  ·  Mall Arauco Maipú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5 puntos activos   |   01/06/2026 – 14/08/2026   |   Recepción 06/11/2025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24128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7899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53312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Placa Bancaria (000025-08)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Impulsión Falabella (000025-09) — activo desde 11/08/2026 (OC / cambio de equipo)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Impulsión Ripley (000025-10)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Matriz Pasillo Tecnico Boulevard (000025-32)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Salida de emergencia pasillo 1 ARROW (000025-33)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24128"/>
            <a:ext cx="7635240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78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2. CONSUMO MENSUALIZADO (PUNTOS WES)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53312"/>
            <a:ext cx="3611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Junio: 10.014,1 m³  (333,8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Julio: 10.356,1 m³  (334,1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Agosto 1–14: 3.583,8 m³  (256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Proyección agosto: 7.935,5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Mayor aporte: Placa Bancaria — jun 7.241,6 / jul 7.083,9 / ago 1.972,1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Variación m³/día: jul vs jun 0%  ·  ago vs jul -23%</a:t>
            </a:r>
          </a:p>
        </p:txBody>
      </p:sp>
      <p:pic>
        <p:nvPicPr>
          <p:cNvPr id="13" name="Picture 12" descr="mensual_M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25880"/>
            <a:ext cx="3611880" cy="1488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28600" y="3456432"/>
            <a:ext cx="585216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5112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92D30"/>
                </a:solidFill>
                <a:latin typeface="Calibri"/>
              </a:rPr>
              <a:t>3. HALLAZGOS / 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785615"/>
            <a:ext cx="559612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Placa Bancaria concentra ~68% del volumen monitoreado (jun–ago).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Auditoría 18/06: Placa subió de 160,5 a 347,2 m³/día. Julio 228,5 m³/día. Agosto 1–14 vuelve a 137,0 m³/día (bajo el nivel pre-auditoría). Noche 10/08 = 0 m³.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Ripley: noches tendiendo a cero (lámina 9 del deck); volumen jul 3.245 m³, estable en agosto (~97 m³/día).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Pasillo Técnico Boulevard y salida ARROW: consumo residual (69,8 y 1,1 m³ en el período).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Impulsión Falabella (000025-09) ACTIVA desde el 11/08/2026. Jun–jul = 0 (equipo fuera). 11/08 puesta en marcha 24,6 m³ (día parcial). 12–14/08: 55,3 / 66,1 / 24,1 m³. 15–16/08: 120,5 y 112,1 m³/día. Noche 12/08 7,9 m³ y 13/08 13,1 m³ (0–6 h). Sin control; baseline 2–3 semanas.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56432"/>
            <a:ext cx="571500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5112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7C5B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785615"/>
            <a:ext cx="546811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Incorporar Impulsión Falabella al tablero diario: ya no está en espera de OC; activo desde el 11/08.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No comparar Falabella con junio–julio (serie en cero). Seguir 2–3 semanas para fijar baseline diurno y nocturno.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Mantener seguimiento de Placa Bancaria: el alza del 18/06 se revirtió en agosto; no reabrir como fuga nocturna.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Pasillo y ARROW: dejar como referencia de red (no priorizar).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5440680"/>
            <a:ext cx="11704320" cy="126187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54864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5. CONTROLES NOCTURNOS — DESCARTADOS DEL ANÁLISIS DE FUGAS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742432"/>
            <a:ext cx="11430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Sin control nocturno WES declarado en este recinto.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Ripley y Placa: patrón nocturno del deck ya era ~0; se descarta fuga de madrugada.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Falabella: las noches desde el 12/08 (8–13 m³ en 0–6 h) NO se descartan; el punto recién entra en medición.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MAQ  ·  Mall Arauco Quilicura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2 puntos activos   |   01/06/2026 – 14/08/2026   |   Recepción 06/11/2025 (original) / 17/02/2026 (relocalizado)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24128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7899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53312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Matriz Principal (000025-13)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Alimentación Baños (000025-34)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24128"/>
            <a:ext cx="7635240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78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2. CONSUMO MENSUALIZADO (PUNTOS WES)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53312"/>
            <a:ext cx="3611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Junio: 4.033,3 m³  (134,4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Julio: 6.056 m³  (195,4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Agosto 1–14: 2.901,3 m³  (207,2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Proyección agosto: 6.424,3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Mayor aporte: Matriz Principal — jun 3.930,8 / jul 5.993,6 / ago 2.854,9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Variación m³/día: jul vs jun 45%  ·  ago vs jul 6%</a:t>
            </a:r>
          </a:p>
        </p:txBody>
      </p:sp>
      <p:pic>
        <p:nvPicPr>
          <p:cNvPr id="13" name="Picture 12" descr="mensual_MA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25880"/>
            <a:ext cx="3611880" cy="1488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28600" y="3456432"/>
            <a:ext cx="585216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5112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92D30"/>
                </a:solidFill>
                <a:latin typeface="Calibri"/>
              </a:rPr>
              <a:t>3. HALLAZGOS / 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785615"/>
            <a:ext cx="559612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Matriz Principal = 98,4% del recinto. Baños = 1,6%.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Alza clara: 131 m³/día en junio → 193 m³/día en julio y 195 m³/día en agosto (1–14).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10/08 Matriz: 23,7 m³ en 0–6 h (de 198 m³ del día). Sigue el patrón del deck (21,7 m³/noche; sin noches en cero).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Alimentación Baños: bajo y estable (jun 103 / jul 62 / ago 44 m³); uso hábil.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Red de Incendio (000025-14) relocalizada: 0 m³. No forma parte del activo.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56432"/>
            <a:ext cx="571500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5112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7C5B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785615"/>
            <a:ext cx="546811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Implementar control on/off 00:00–08:00 en Matriz Principal (igual que estanques MAE).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Oportunidad de orden de magnitud: ~24 m³/noche × 30 ≈ 720 m³/mes si se corta el caudal inhábil.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No hay control nocturno que descartar: este es el hallazgo principal del recinto.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5440680"/>
            <a:ext cx="11704320" cy="126187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54864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5. CONTROLES NOCTURNOS — DESCARTADOS DEL ANÁLISIS DE FUGAS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742432"/>
            <a:ext cx="11430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No hay control nocturno activo en Quilicura.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El consumo de madrugada de Matriz Principal NO se descarta: es la variable a gestionar.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BOM  ·  Buenaventura (San Ignacio)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2 puntos activos   |   01/06/2026 – 14/08/2026   |   Recepción 18/11/2025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24128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7899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53312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San Ignacio 300 (000025-17)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San Ignacio 500 (000025-18)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24128"/>
            <a:ext cx="7635240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78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2. CONSUMO MENSUALIZADO (PUNTOS WES)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53312"/>
            <a:ext cx="3611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Junio: 1.761,6 m³  (58,7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Julio: 5.115,6 m³  (165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Agosto 1–14: 2.180,7 m³  (155,8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Proyección agosto: 4.828,7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Mayor aporte: San Ignacio 500 — jun 1.415,3 / jul 4.066,5 / ago 1.614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Variación m³/día: jul vs jun 181%  ·  ago vs jul -6%</a:t>
            </a:r>
          </a:p>
        </p:txBody>
      </p:sp>
      <p:pic>
        <p:nvPicPr>
          <p:cNvPr id="13" name="Picture 12" descr="mensual_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25880"/>
            <a:ext cx="3611880" cy="1488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28600" y="3456432"/>
            <a:ext cx="585216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5112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92D30"/>
                </a:solidFill>
                <a:latin typeface="Calibri"/>
              </a:rPr>
              <a:t>3. HALLAZGOS / 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785615"/>
            <a:ext cx="559612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San Ignacio 500 = ~80% del recinto. Alza desde el 26/06 (36,7 → 99,6 m³/día) y 1–15/07 en 148,7 m³/día.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Control nocturno 500 desde 16/07 FUNCIONA: 15/07 noche 42,4 m³ → 20/07 3,3 m³ → 10/08 2,3 m³. Noche DESCARTADA como fuga.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El volumen diurno no volvió a la base de junio: 16–31/07 114,8 m³/día y 1–14/08 111,2 m³/día vs 36,7 m³/día (1–25/06). Queda alza operacional de día.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San Ignacio 300 (solo monitoreo): 11,5 → 33,8 → 38,8 m³/día. El 10/08, 11,6 m³ de 22,6 m³ fueron en 0–6 h (~51% nocturno). Sin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56432"/>
            <a:ext cx="571500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5112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7C5B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785615"/>
            <a:ext cx="546811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500: no reabrir fuga nocturna. Pedir a operaciones la causa del caudal diurno/vespertino que quedó alto desde el 26/06.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300: revisar consumo de madrugada sostenido e implementar control on/off (no está cubierto).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Mensaje al JO (Aliro Cortés): el control de 500 ya aporta; el ahorro grande ahora está en el día y en el 300.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5440680"/>
            <a:ext cx="11704320" cy="126187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54864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5. CONTROLES NOCTURNOS — DESCARTADOS DEL ANÁLISIS DE FUGAS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742432"/>
            <a:ext cx="11430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San Ignacio 500 (000025-18): control nocturno desde 16/07/2026 — DESCARTADO (verificado: noche 42 → 2 m³).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San Ignacio 300: sin control. No se descarta.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AEB  ·  Arauco El Bosque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2 puntos activos   |   01/06/2026 – 14/08/2026   |   Recepción 29/10/2025 (original) / 16/01/2026 (relocalizado)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24128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7899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53312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Matriz principal 1°piso (000025-11)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Anillo Plaza (000025-12)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24128"/>
            <a:ext cx="7635240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78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2. CONSUMO MENSUALIZADO (PUNTOS WES)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53312"/>
            <a:ext cx="3611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Junio: 2.116,3 m³  (70,5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Julio: 2.370,9 m³  (76,5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Agosto 1–14: 1.004,8 m³  (71,8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Proyección agosto: 2.225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Mayor aporte: Matriz principal 1°piso — jun 1.651,6 / jul 1.724,2 / ago 818,8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Variación m³/día: jul vs jun 8%  ·  ago vs jul -6%</a:t>
            </a:r>
          </a:p>
        </p:txBody>
      </p:sp>
      <p:pic>
        <p:nvPicPr>
          <p:cNvPr id="13" name="Picture 12" descr="mensual_A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25880"/>
            <a:ext cx="3611880" cy="1488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28600" y="3456432"/>
            <a:ext cx="585216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5112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92D30"/>
                </a:solidFill>
                <a:latin typeface="Calibri"/>
              </a:rPr>
              <a:t>3. HALLAZGOS / 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785615"/>
            <a:ext cx="559612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Puntos activos: Matriz principal 1° piso (000025-11) y Anillo Plaza (000025-12). Matriz A.A. (000025-30) = 0 m³ en el período (no operativo).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Matriz 11: jun 1.651,6 / jul 1.724,2 / ago 818,8 m³ (~55 m³/día, estable).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10/08 Matriz: 7,6 m³ en 0–6 h (base inhábil del deck: 7,9 m³/noche). Sin control.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Anillo Plaza: jul 646,7 m³ (alza vs jun 464,7); 10/08 noche 2,7 de 12,2 m³.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La portada del deck 7 Malls aún nombra Matriz A.A.; el dato activo es 000025-11.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56432"/>
            <a:ext cx="571500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5112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7C5B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785615"/>
            <a:ext cx="546811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Replicar control on/off 00:00–08:00 en Matriz (como estanques MAE). Oportunidad ~8 m³/noche.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Revisar llaves / equipos del Anillo Plaza para bajar la base nocturna.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Actualizar el listado del recinto: activo 11+12; 30 en cero.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5440680"/>
            <a:ext cx="11704320" cy="126187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54864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5. CONTROLES NOCTURNOS — DESCARTADOS DEL ANÁLISIS DE FUGAS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742432"/>
            <a:ext cx="11430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No hay control nocturno activo en El Bosque.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La noche de Matriz y Anillo NO se descarta: es la oportunidad de ahorro del recinto.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CUR  ·  Arauco Curauma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2 puntos activos   |   01/06/2026 – 14/08/2026   |   Recepción 29/04/2026 (Anillo Norte / Anillo Sur)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24128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7899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53312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CUR Anillo Sur (000025-37)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CUR Anillo Norte (000025-38)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24128"/>
            <a:ext cx="7635240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78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2. CONSUMO MENSUALIZADO (PUNTOS WES)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53312"/>
            <a:ext cx="3611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Junio: 663,8 m³  (22,1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Julio: 618,5 m³  (20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Agosto 1–14: 304,3 m³  (21,7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Proyección agosto: 673,9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Mayor aporte: CUR Anillo Sur — jun 342,3 / jul 331,9 / ago 159,2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Variación m³/día: jul vs jun -10%  ·  ago vs jul 9%</a:t>
            </a:r>
          </a:p>
        </p:txBody>
      </p:sp>
      <p:pic>
        <p:nvPicPr>
          <p:cNvPr id="13" name="Picture 12" descr="mensual_C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25880"/>
            <a:ext cx="3611880" cy="1488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28600" y="3456432"/>
            <a:ext cx="585216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5112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92D30"/>
                </a:solidFill>
                <a:latin typeface="Calibri"/>
              </a:rPr>
              <a:t>3. HALLAZGOS / 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785615"/>
            <a:ext cx="559612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Red reconfigurada: Anillo Norte (000025-38) y Anillo Sur (000025-37). Matriz/Baños 15–16 = 0 m³ (no comparables).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Volumen conjunto estable: jun 663,8 / jul 618,5 / ago 304,3 m³ (~20–22 m³/día).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Ambos anillos aportan en partes similares (Sur levemente mayor).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En el deck se cuadró WES vs boleta Esval N° 2368516 (18/05–16/06); la diferencia se explicó por desfase de lecturas, no por pérdida.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56432"/>
            <a:ext cx="571500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5112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7C5B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785615"/>
            <a:ext cx="546811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Enviar la(s) boleta(s) Esval de junio–agosto para repetir el cuadre WES vs cuenta.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No hay control nocturno que activar como prioridad: el recinto está estable y acotado.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Mantener a Joceline Lazo / medioambiente.dcl en el tablero de los dos anillos.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5440680"/>
            <a:ext cx="11704320" cy="126187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54864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5. CONTROLES NOCTURNOS — DESCARTADOS DEL ANÁLISIS DE FUGAS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742432"/>
            <a:ext cx="11430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Sin control nocturno WES en Curauma.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No se declara fuga nocturna en este recinto para el período.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PAK  ·  Parque Arauco Kennedy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10 puntos activos   |   01/06/2026 – 14/08/2026   |   Recepción 12/12/2025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24128"/>
            <a:ext cx="3977639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7899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53312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Impulsión Anden 3-4 Matriz Principal (000025-20)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Impulsión Anden 3-4 Locales Gast. (000025-21)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Sala de Bomba Sandia Antigua (000025-22)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Llenado Pileta (000025-23)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Llenado Pileta Cascada (000025-24)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Distrito de lujo DL (000025-27)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Sala de Bomba Sandia Nueva (000025-28)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Impulsión Anden 3-4 Restaurante (000025-29)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PAK BAZAR GOURMET (000025-35)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PAK DL KENNEDY (000025-36)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24128"/>
            <a:ext cx="7635240" cy="2331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78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2. CONSUMO MENSUALIZADO (PUNTOS WES)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53312"/>
            <a:ext cx="3611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Junio: 20.927,5 m³  (697,6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Julio: 31.239 m³  (1.007,7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Agosto 1–14: 17.879,2 m³  (1.277,1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Proyección agosto: 39.589,7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Cifras de cabecera (20+21+22+23+24+28+29). DL/Bazar/Kennedy no se suman.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Mayor cabecera: Sala de Bomba Sandia Antigua — jun 8.532,6 / jul 13.661,2 / ago 7.497,6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Variación m³/día: jul vs jun 44%  ·  ago vs jul 27%</a:t>
            </a:r>
          </a:p>
        </p:txBody>
      </p:sp>
      <p:pic>
        <p:nvPicPr>
          <p:cNvPr id="13" name="Picture 12" descr="mensual_P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25880"/>
            <a:ext cx="3611880" cy="1488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28600" y="3456432"/>
            <a:ext cx="585216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5112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92D30"/>
                </a:solidFill>
                <a:latin typeface="Calibri"/>
              </a:rPr>
              <a:t>3. HALLAZGOS / 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785615"/>
            <a:ext cx="559612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10 puntos activos. Baños 5/6 (25–26) relocalizados a Bazar Gourmet (35) y DL Kennedy (36).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Cadena: Sandía Antigua (22) y Sandía Nueva (28) alimentan DL (27), que se reparte en Bazar (35) y DL Kennedy (36). No sumar la cadena para facturar.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Consumo de cabecera (sin doble conteo): jun 20.927,5 / jul 31.239 / ago 17.879,2 m³.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10/08 DL: 47,5 m³ en 0–6 h (de 221 m³ del día). El deck ya marcaba al DL como el mayor nocturno de la cadena.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Andén Locales Gastronómicos (21) sube: jun 3.006,5 → jul 4.583,2 m³. Piletas: volumen menor.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56432"/>
            <a:ext cx="571500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5112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7C5B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785615"/>
            <a:ext cx="546811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Evaluar control on/off 00:00–08:00 en Distrito de Lujo y salas de bomba Sandía (mismo criterio MAE).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No usar la suma de los 10 puntos como consumo del mall: hay doble conteo de la cadena DL.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Mensaje a JO (Francisco Jeldres) / mantención: la noche del DL es la variable de mayor impacto.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5440680"/>
            <a:ext cx="11704320" cy="126187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54864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5. CONTROLES NOCTURNOS — DESCARTADOS DEL ANÁLISIS DE FUGAS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742432"/>
            <a:ext cx="11430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Sin control nocturno WES activo en Kennedy.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El patrón 0–8 h del DL NO se descarta: es el hallazgo a gestionar.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Consolidado  ·  mensaje por recinto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Puntos WES  |  01/06/2026 – 14/08/2026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6032" y="1097280"/>
          <a:ext cx="11658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77240"/>
                <a:gridCol w="1234440"/>
                <a:gridCol w="1234440"/>
                <a:gridCol w="1371600"/>
                <a:gridCol w="1097280"/>
                <a:gridCol w="420624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Mall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Puntos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Junio m³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Julio m³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Ago 1–14 m³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m³/día ago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Mensaje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MAE Estación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3.179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3.074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1.377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98,3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Noches Norte/Pizza/Sur descartadas. Norte: alza diurna ago.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MAM Maipú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10.014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10.356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3.584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Placa se revirtió en ago. Falabella activa desde 11/08.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MAQ Quilicura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4.033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6.056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2.901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207,2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Matriz ~24 m³/noche — pedir control on/off.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BOM Buenaventura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1.762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5.116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2.181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155,8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500 noche OK desde 16/07; queda alza diurna + noche del 300.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AEB El Bosque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2.116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2.371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1.005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71,8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Activo 11+12. Pedir control inhábil en Matriz.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CUR Curauma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21,7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Estable. Pedir boletas Esval jun–ago.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PAK Kennedy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20.927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31.239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17.879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1.277,1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Cifras de cabecera (sin DL). Noche DL ~47 m³ (10/08) — control.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6032" y="6355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Fuente: API WES. Controles informados por operación (16/07 SI500, 01/07 Pizza Hut, 05/08 Estanque Norte, corte Sur por mantención nocturna).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