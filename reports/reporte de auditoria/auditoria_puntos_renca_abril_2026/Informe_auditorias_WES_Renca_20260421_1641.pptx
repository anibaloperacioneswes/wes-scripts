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5687568"/>
            <a:ext cx="8503920" cy="502920"/>
          </a:xfrm>
          <a:prstGeom prst="rect">
            <a:avLst/>
          </a:prstGeom>
          <a:noFill/>
        </p:spPr>
        <p:txBody>
          <a:bodyPr wrap="none">
            <a:spAutoFit/>
          </a:bodyPr>
          <a:lstStyle/>
          <a:p>
            <a:pPr algn="ctr">
              <a:defRPr sz="1400" b="1">
                <a:solidFill>
                  <a:srgbClr val="3C3C3C"/>
                </a:solidFill>
              </a:defRPr>
            </a:pPr>
            <a:r>
              <a:t>21 ABRIL 2026</a:t>
            </a:r>
          </a:p>
        </p:txBody>
      </p:sp>
      <p:sp>
        <p:nvSpPr>
          <p:cNvPr id="3" name="TextBox 2"/>
          <p:cNvSpPr txBox="1"/>
          <p:nvPr/>
        </p:nvSpPr>
        <p:spPr>
          <a:xfrm>
            <a:off x="3429000" y="3886200"/>
            <a:ext cx="5669280" cy="1828800"/>
          </a:xfrm>
          <a:prstGeom prst="rect">
            <a:avLst/>
          </a:prstGeom>
          <a:noFill/>
        </p:spPr>
        <p:txBody>
          <a:bodyPr wrap="none">
            <a:spAutoFit/>
          </a:bodyPr>
          <a:lstStyle/>
          <a:p>
            <a:pPr algn="ctr">
              <a:defRPr sz="2500" b="1">
                <a:solidFill>
                  <a:srgbClr val="000000"/>
                </a:solidFill>
              </a:defRPr>
            </a:pPr>
            <a:r>
              <a:t>Informe de auditorías WES </a:t>
            </a:r>
          </a:p>
          <a:p>
            <a:pPr algn="ctr">
              <a:spcBef>
                <a:spcPts val="600"/>
              </a:spcBef>
              <a:defRPr sz="1900" b="1">
                <a:solidFill>
                  <a:srgbClr val="000000"/>
                </a:solidFill>
              </a:defRPr>
            </a:pPr>
            <a:r>
              <a:t>CENTRO DE INTELIGENCIA HÍDRICA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182880"/>
            <a:ext cx="7498079" cy="822960"/>
          </a:xfrm>
          <a:prstGeom prst="rect">
            <a:avLst/>
          </a:prstGeom>
          <a:noFill/>
        </p:spPr>
        <p:txBody>
          <a:bodyPr wrap="none">
            <a:spAutoFit/>
          </a:bodyPr>
          <a:lstStyle/>
          <a:p>
            <a:pPr>
              <a:defRPr sz="3000" b="1">
                <a:solidFill>
                  <a:srgbClr val="003366"/>
                </a:solidFill>
              </a:defRPr>
            </a:pPr>
            <a:r>
              <a:t>AGREGADO RESUMEN DE PUNTOS</a:t>
            </a:r>
          </a:p>
        </p:txBody>
      </p:sp>
      <p:sp>
        <p:nvSpPr>
          <p:cNvPr id="3" name="TextBox 2"/>
          <p:cNvSpPr txBox="1"/>
          <p:nvPr/>
        </p:nvSpPr>
        <p:spPr>
          <a:xfrm>
            <a:off x="228600" y="960120"/>
            <a:ext cx="11430000" cy="5303520"/>
          </a:xfrm>
          <a:prstGeom prst="rect">
            <a:avLst/>
          </a:prstGeom>
          <a:noFill/>
        </p:spPr>
        <p:txBody>
          <a:bodyPr wrap="square">
            <a:spAutoFit/>
          </a:bodyPr>
          <a:lstStyle/>
          <a:p>
            <a:pPr>
              <a:defRPr sz="1100">
                <a:solidFill>
                  <a:srgbClr val="282828"/>
                </a:solidFill>
              </a:defRPr>
            </a:pPr>
            <a:r>
              <a:t>El presente informe consolida las auditorías de consumo hídrico con monitoreo inteligente WES en cinco establecimientos de Renca (incluye Colegio ICCO Renca).</a:t>
            </a:r>
          </a:p>
          <a:p>
            <a:pPr>
              <a:spcAft>
                <a:spcPts val="400"/>
              </a:spcAft>
              <a:defRPr sz="1100">
                <a:solidFill>
                  <a:srgbClr val="282828"/>
                </a:solidFill>
              </a:defRPr>
            </a:pPr>
          </a:p>
          <a:p>
            <a:pPr>
              <a:spcAft>
                <a:spcPts val="400"/>
              </a:spcAft>
              <a:defRPr sz="1100">
                <a:solidFill>
                  <a:srgbClr val="282828"/>
                </a:solidFill>
              </a:defRPr>
            </a:pPr>
            <a:r>
              <a:t>Se comparan dos ventanas de siete días en abril 2026: operación con control WES (13–19 abr) y período de referencia sin control (6–12 abr), alineado a los informes individuales y a la matriz «Consolidado» de cada carpeta de auditoría.</a:t>
            </a:r>
          </a:p>
          <a:p>
            <a:pPr>
              <a:spcAft>
                <a:spcPts val="400"/>
              </a:spcAft>
              <a:defRPr sz="1100">
                <a:solidFill>
                  <a:srgbClr val="282828"/>
                </a:solidFill>
              </a:defRPr>
            </a:pPr>
          </a:p>
          <a:p>
            <a:pPr>
              <a:spcAft>
                <a:spcPts val="400"/>
              </a:spcAft>
              <a:defRPr sz="1100">
                <a:solidFill>
                  <a:srgbClr val="282828"/>
                </a:solidFill>
              </a:defRPr>
            </a:pPr>
            <a:r>
              <a:t>Corresponde a la consolidación de auditorías realizadas en el marco del programa de Centro de Inteligencia Hídrica. Los totales semanales provienen de la suma hora a hora de la rejilla. El porcentaje de rendimiento indica el ahorro de volumen de la semana con WES respecto a la semana de referencia.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320040"/>
            <a:ext cx="10972800" cy="685800"/>
          </a:xfrm>
          <a:prstGeom prst="rect">
            <a:avLst/>
          </a:prstGeom>
          <a:noFill/>
        </p:spPr>
        <p:txBody>
          <a:bodyPr wrap="none">
            <a:spAutoFit/>
          </a:bodyPr>
          <a:lstStyle/>
          <a:p>
            <a:pPr>
              <a:defRPr sz="2400" b="1">
                <a:solidFill>
                  <a:srgbClr val="003366"/>
                </a:solidFill>
              </a:defRPr>
            </a:pPr>
            <a:r>
              <a:t>AGREGADO — DETALLE POR ESTABLECIMIENTO</a:t>
            </a:r>
          </a:p>
        </p:txBody>
      </p:sp>
      <p:graphicFrame>
        <p:nvGraphicFramePr>
          <p:cNvPr id="3" name="Table 2"/>
          <p:cNvGraphicFramePr>
            <a:graphicFrameLocks noGrp="1"/>
          </p:cNvGraphicFramePr>
          <p:nvPr/>
        </p:nvGraphicFramePr>
        <p:xfrm>
          <a:off x="411480" y="1005840"/>
          <a:ext cx="11292840" cy="2313432"/>
        </p:xfrm>
        <a:graphic>
          <a:graphicData uri="http://schemas.openxmlformats.org/drawingml/2006/table">
            <a:tbl>
              <a:tblPr firstRow="1" bandRow="1">
                <a:tableStyleId>{5C22544A-7EE6-4342-B048-85BDC9FD1C3A}</a:tableStyleId>
              </a:tblPr>
              <a:tblGrid>
                <a:gridCol w="2258568"/>
                <a:gridCol w="2258568"/>
                <a:gridCol w="2258568"/>
                <a:gridCol w="2258568"/>
                <a:gridCol w="2258568"/>
              </a:tblGrid>
              <a:tr h="385572">
                <a:tc>
                  <a:txBody>
                    <a:bodyPr/>
                    <a:lstStyle/>
                    <a:p>
                      <a:pPr>
                        <a:defRPr b="1" sz="1100"/>
                      </a:pPr>
                      <a:r>
                        <a:t>Nodo</a:t>
                      </a:r>
                    </a:p>
                  </a:txBody>
                  <a:tcPr/>
                </a:tc>
                <a:tc>
                  <a:txBody>
                    <a:bodyPr/>
                    <a:lstStyle/>
                    <a:p>
                      <a:pPr>
                        <a:defRPr b="1" sz="1100"/>
                      </a:pPr>
                      <a:r>
                        <a:t>Establecimiento (app)</a:t>
                      </a:r>
                    </a:p>
                  </a:txBody>
                  <a:tcPr/>
                </a:tc>
                <a:tc>
                  <a:txBody>
                    <a:bodyPr/>
                    <a:lstStyle/>
                    <a:p>
                      <a:pPr>
                        <a:defRPr b="1" sz="1100"/>
                      </a:pPr>
                      <a:r>
                        <a:t>m³ sem. Con WES</a:t>
                      </a:r>
                    </a:p>
                  </a:txBody>
                  <a:tcPr/>
                </a:tc>
                <a:tc>
                  <a:txBody>
                    <a:bodyPr/>
                    <a:lstStyle/>
                    <a:p>
                      <a:pPr>
                        <a:defRPr b="1" sz="1100"/>
                      </a:pPr>
                      <a:r>
                        <a:t>m³ sem. ref. Sin WES</a:t>
                      </a:r>
                    </a:p>
                  </a:txBody>
                  <a:tcPr/>
                </a:tc>
                <a:tc>
                  <a:txBody>
                    <a:bodyPr/>
                    <a:lstStyle/>
                    <a:p>
                      <a:pPr>
                        <a:defRPr b="1" sz="1100"/>
                      </a:pPr>
                      <a:r>
                        <a:t>% rendimiento</a:t>
                      </a:r>
                    </a:p>
                  </a:txBody>
                  <a:tcPr/>
                </a:tc>
              </a:tr>
              <a:tr h="385572">
                <a:tc>
                  <a:txBody>
                    <a:bodyPr/>
                    <a:lstStyle/>
                    <a:p>
                      <a:pPr>
                        <a:defRPr sz="1000"/>
                      </a:pPr>
                      <a:r>
                        <a:t>000017-08</a:t>
                      </a:r>
                    </a:p>
                  </a:txBody>
                  <a:tcPr/>
                </a:tc>
                <a:tc>
                  <a:txBody>
                    <a:bodyPr/>
                    <a:lstStyle/>
                    <a:p>
                      <a:pPr>
                        <a:defRPr sz="1000"/>
                      </a:pPr>
                      <a:r>
                        <a:t>Colegio ICCO Renca</a:t>
                      </a:r>
                    </a:p>
                  </a:txBody>
                  <a:tcPr/>
                </a:tc>
                <a:tc>
                  <a:txBody>
                    <a:bodyPr/>
                    <a:lstStyle/>
                    <a:p>
                      <a:pPr>
                        <a:defRPr sz="1000"/>
                      </a:pPr>
                      <a:r>
                        <a:t>214.8</a:t>
                      </a:r>
                    </a:p>
                  </a:txBody>
                  <a:tcPr/>
                </a:tc>
                <a:tc>
                  <a:txBody>
                    <a:bodyPr/>
                    <a:lstStyle/>
                    <a:p>
                      <a:pPr>
                        <a:defRPr sz="1000"/>
                      </a:pPr>
                      <a:r>
                        <a:t>341.8</a:t>
                      </a:r>
                    </a:p>
                  </a:txBody>
                  <a:tcPr/>
                </a:tc>
                <a:tc>
                  <a:txBody>
                    <a:bodyPr/>
                    <a:lstStyle/>
                    <a:p>
                      <a:pPr>
                        <a:defRPr sz="1000"/>
                      </a:pPr>
                      <a:r>
                        <a:t>37.2 %</a:t>
                      </a:r>
                    </a:p>
                  </a:txBody>
                  <a:tcPr/>
                </a:tc>
              </a:tr>
              <a:tr h="385572">
                <a:tc>
                  <a:txBody>
                    <a:bodyPr/>
                    <a:lstStyle/>
                    <a:p>
                      <a:pPr>
                        <a:defRPr sz="1000"/>
                      </a:pPr>
                      <a:r>
                        <a:t>000017-04</a:t>
                      </a:r>
                    </a:p>
                  </a:txBody>
                  <a:tcPr/>
                </a:tc>
                <a:tc>
                  <a:txBody>
                    <a:bodyPr/>
                    <a:lstStyle/>
                    <a:p>
                      <a:pPr>
                        <a:defRPr sz="1000"/>
                      </a:pPr>
                      <a:r>
                        <a:t>Esc. Lo Velásquez</a:t>
                      </a:r>
                    </a:p>
                  </a:txBody>
                  <a:tcPr/>
                </a:tc>
                <a:tc>
                  <a:txBody>
                    <a:bodyPr/>
                    <a:lstStyle/>
                    <a:p>
                      <a:pPr>
                        <a:defRPr sz="1000"/>
                      </a:pPr>
                      <a:r>
                        <a:t>33.0</a:t>
                      </a:r>
                    </a:p>
                  </a:txBody>
                  <a:tcPr/>
                </a:tc>
                <a:tc>
                  <a:txBody>
                    <a:bodyPr/>
                    <a:lstStyle/>
                    <a:p>
                      <a:pPr>
                        <a:defRPr sz="1000"/>
                      </a:pPr>
                      <a:r>
                        <a:t>36.7</a:t>
                      </a:r>
                    </a:p>
                  </a:txBody>
                  <a:tcPr/>
                </a:tc>
                <a:tc>
                  <a:txBody>
                    <a:bodyPr/>
                    <a:lstStyle/>
                    <a:p>
                      <a:pPr>
                        <a:defRPr sz="1000"/>
                      </a:pPr>
                      <a:r>
                        <a:t>10.1 %</a:t>
                      </a:r>
                    </a:p>
                  </a:txBody>
                  <a:tcPr/>
                </a:tc>
              </a:tr>
              <a:tr h="385572">
                <a:tc>
                  <a:txBody>
                    <a:bodyPr/>
                    <a:lstStyle/>
                    <a:p>
                      <a:pPr>
                        <a:defRPr sz="1000"/>
                      </a:pPr>
                      <a:r>
                        <a:t>000017-06</a:t>
                      </a:r>
                    </a:p>
                  </a:txBody>
                  <a:tcPr/>
                </a:tc>
                <a:tc>
                  <a:txBody>
                    <a:bodyPr/>
                    <a:lstStyle/>
                    <a:p>
                      <a:pPr>
                        <a:defRPr sz="1000"/>
                      </a:pPr>
                      <a:r>
                        <a:t>Piscina Municipal</a:t>
                      </a:r>
                    </a:p>
                  </a:txBody>
                  <a:tcPr/>
                </a:tc>
                <a:tc>
                  <a:txBody>
                    <a:bodyPr/>
                    <a:lstStyle/>
                    <a:p>
                      <a:pPr>
                        <a:defRPr sz="1000"/>
                      </a:pPr>
                      <a:r>
                        <a:t>297.8</a:t>
                      </a:r>
                    </a:p>
                  </a:txBody>
                  <a:tcPr/>
                </a:tc>
                <a:tc>
                  <a:txBody>
                    <a:bodyPr/>
                    <a:lstStyle/>
                    <a:p>
                      <a:pPr>
                        <a:defRPr sz="1000"/>
                      </a:pPr>
                      <a:r>
                        <a:t>698.7</a:t>
                      </a:r>
                    </a:p>
                  </a:txBody>
                  <a:tcPr/>
                </a:tc>
                <a:tc>
                  <a:txBody>
                    <a:bodyPr/>
                    <a:lstStyle/>
                    <a:p>
                      <a:pPr>
                        <a:defRPr sz="1000"/>
                      </a:pPr>
                      <a:r>
                        <a:t>57.4 %</a:t>
                      </a:r>
                    </a:p>
                  </a:txBody>
                  <a:tcPr/>
                </a:tc>
              </a:tr>
              <a:tr h="385572">
                <a:tc>
                  <a:txBody>
                    <a:bodyPr/>
                    <a:lstStyle/>
                    <a:p>
                      <a:pPr>
                        <a:defRPr sz="1000"/>
                      </a:pPr>
                      <a:r>
                        <a:t>000017-05</a:t>
                      </a:r>
                    </a:p>
                  </a:txBody>
                  <a:tcPr/>
                </a:tc>
                <a:tc>
                  <a:txBody>
                    <a:bodyPr/>
                    <a:lstStyle/>
                    <a:p>
                      <a:pPr>
                        <a:defRPr sz="1000"/>
                      </a:pPr>
                      <a:r>
                        <a:t>Gimnasio</a:t>
                      </a:r>
                    </a:p>
                  </a:txBody>
                  <a:tcPr/>
                </a:tc>
                <a:tc>
                  <a:txBody>
                    <a:bodyPr/>
                    <a:lstStyle/>
                    <a:p>
                      <a:pPr>
                        <a:defRPr sz="1000"/>
                      </a:pPr>
                      <a:r>
                        <a:t>3.019.5</a:t>
                      </a:r>
                    </a:p>
                  </a:txBody>
                  <a:tcPr/>
                </a:tc>
                <a:tc>
                  <a:txBody>
                    <a:bodyPr/>
                    <a:lstStyle/>
                    <a:p>
                      <a:pPr>
                        <a:defRPr sz="1000"/>
                      </a:pPr>
                      <a:r>
                        <a:t>470.2</a:t>
                      </a:r>
                    </a:p>
                  </a:txBody>
                  <a:tcPr/>
                </a:tc>
                <a:tc>
                  <a:txBody>
                    <a:bodyPr/>
                    <a:lstStyle/>
                    <a:p>
                      <a:pPr>
                        <a:defRPr sz="1000"/>
                      </a:pPr>
                      <a:r>
                        <a:t>-542.2 %</a:t>
                      </a:r>
                    </a:p>
                  </a:txBody>
                  <a:tcPr/>
                </a:tc>
              </a:tr>
              <a:tr h="385572">
                <a:tc>
                  <a:txBody>
                    <a:bodyPr/>
                    <a:lstStyle/>
                    <a:p>
                      <a:pPr>
                        <a:defRPr sz="1000"/>
                      </a:pPr>
                      <a:r>
                        <a:t>000017-07</a:t>
                      </a:r>
                    </a:p>
                  </a:txBody>
                  <a:tcPr/>
                </a:tc>
                <a:tc>
                  <a:txBody>
                    <a:bodyPr/>
                    <a:lstStyle/>
                    <a:p>
                      <a:pPr>
                        <a:defRPr sz="1000"/>
                      </a:pPr>
                      <a:r>
                        <a:t>Cumbre de cóndores pte.</a:t>
                      </a:r>
                    </a:p>
                  </a:txBody>
                  <a:tcPr/>
                </a:tc>
                <a:tc>
                  <a:txBody>
                    <a:bodyPr/>
                    <a:lstStyle/>
                    <a:p>
                      <a:pPr>
                        <a:defRPr sz="1000"/>
                      </a:pPr>
                      <a:r>
                        <a:t>57.5</a:t>
                      </a:r>
                    </a:p>
                  </a:txBody>
                  <a:tcPr/>
                </a:tc>
                <a:tc>
                  <a:txBody>
                    <a:bodyPr/>
                    <a:lstStyle/>
                    <a:p>
                      <a:pPr>
                        <a:defRPr sz="1000"/>
                      </a:pPr>
                      <a:r>
                        <a:t>54.3</a:t>
                      </a:r>
                    </a:p>
                  </a:txBody>
                  <a:tcPr/>
                </a:tc>
                <a:tc>
                  <a:txBody>
                    <a:bodyPr/>
                    <a:lstStyle/>
                    <a:p>
                      <a:pPr>
                        <a:defRPr sz="1000"/>
                      </a:pPr>
                      <a:r>
                        <a:t>-5.9 %</a:t>
                      </a:r>
                    </a:p>
                  </a:txBody>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164592"/>
            <a:ext cx="10515600" cy="502920"/>
          </a:xfrm>
          <a:prstGeom prst="rect">
            <a:avLst/>
          </a:prstGeom>
          <a:noFill/>
        </p:spPr>
        <p:txBody>
          <a:bodyPr wrap="none">
            <a:spAutoFit/>
          </a:bodyPr>
          <a:lstStyle/>
          <a:p>
            <a:pPr>
              <a:defRPr sz="3000" b="1">
                <a:solidFill>
                  <a:srgbClr val="003366"/>
                </a:solidFill>
              </a:defRPr>
            </a:pPr>
            <a:r>
              <a:t>COLEGIO ICCO RENCA</a:t>
            </a:r>
          </a:p>
        </p:txBody>
      </p:sp>
      <p:sp>
        <p:nvSpPr>
          <p:cNvPr id="3" name="TextBox 2"/>
          <p:cNvSpPr txBox="1"/>
          <p:nvPr/>
        </p:nvSpPr>
        <p:spPr>
          <a:xfrm>
            <a:off x="228600" y="658368"/>
            <a:ext cx="10972800" cy="347472"/>
          </a:xfrm>
          <a:prstGeom prst="rect">
            <a:avLst/>
          </a:prstGeom>
          <a:noFill/>
        </p:spPr>
        <p:txBody>
          <a:bodyPr wrap="none">
            <a:spAutoFit/>
          </a:bodyPr>
          <a:lstStyle/>
          <a:p>
            <a:pPr>
              <a:defRPr sz="1000" b="1">
                <a:solidFill>
                  <a:srgbClr val="282828"/>
                </a:solidFill>
              </a:defRPr>
            </a:pPr>
            <a:r>
              <a:t>Colegio ICCO Renca — Renca (referencia auditoría WES)</a:t>
            </a:r>
          </a:p>
        </p:txBody>
      </p:sp>
      <p:pic>
        <p:nvPicPr>
          <p:cNvPr id="4" name="Picture 3" descr="04_area_Lunes.png"/>
          <p:cNvPicPr>
            <a:picLocks noChangeAspect="1"/>
          </p:cNvPicPr>
          <p:nvPr/>
        </p:nvPicPr>
        <p:blipFill>
          <a:blip r:embed="rId2"/>
          <a:stretch>
            <a:fillRect/>
          </a:stretch>
        </p:blipFill>
        <p:spPr>
          <a:xfrm>
            <a:off x="228600" y="1024128"/>
            <a:ext cx="6629400" cy="2971800"/>
          </a:xfrm>
          <a:prstGeom prst="rect">
            <a:avLst/>
          </a:prstGeom>
        </p:spPr>
      </p:pic>
      <p:sp>
        <p:nvSpPr>
          <p:cNvPr id="5" name="TextBox 4"/>
          <p:cNvSpPr txBox="1"/>
          <p:nvPr/>
        </p:nvSpPr>
        <p:spPr>
          <a:xfrm>
            <a:off x="7269480" y="3063240"/>
            <a:ext cx="3063240" cy="384048"/>
          </a:xfrm>
          <a:prstGeom prst="rect">
            <a:avLst/>
          </a:prstGeom>
          <a:noFill/>
        </p:spPr>
        <p:txBody>
          <a:bodyPr wrap="none">
            <a:spAutoFit/>
          </a:bodyPr>
          <a:lstStyle/>
          <a:p>
            <a:pPr>
              <a:defRPr sz="1000" b="1"/>
            </a:pPr>
            <a:r>
              <a:t>Perfil semanal Con WES (13–19 abr 2026)</a:t>
            </a:r>
          </a:p>
        </p:txBody>
      </p:sp>
      <p:sp>
        <p:nvSpPr>
          <p:cNvPr id="6" name="TextBox 5"/>
          <p:cNvSpPr txBox="1"/>
          <p:nvPr/>
        </p:nvSpPr>
        <p:spPr>
          <a:xfrm>
            <a:off x="7269480" y="5897880"/>
            <a:ext cx="3063240" cy="384048"/>
          </a:xfrm>
          <a:prstGeom prst="rect">
            <a:avLst/>
          </a:prstGeom>
          <a:noFill/>
        </p:spPr>
        <p:txBody>
          <a:bodyPr wrap="none">
            <a:spAutoFit/>
          </a:bodyPr>
          <a:lstStyle/>
          <a:p>
            <a:pPr>
              <a:defRPr sz="1000" b="1"/>
            </a:pPr>
            <a:r>
              <a:t>Referencia Sin WES (6–12 abr 2026)</a:t>
            </a:r>
          </a:p>
        </p:txBody>
      </p:sp>
      <p:sp>
        <p:nvSpPr>
          <p:cNvPr id="7" name="TextBox 6"/>
          <p:cNvSpPr txBox="1"/>
          <p:nvPr/>
        </p:nvSpPr>
        <p:spPr>
          <a:xfrm>
            <a:off x="594360" y="4069080"/>
            <a:ext cx="6035040" cy="2331720"/>
          </a:xfrm>
          <a:prstGeom prst="rect">
            <a:avLst/>
          </a:prstGeom>
          <a:noFill/>
        </p:spPr>
        <p:txBody>
          <a:bodyPr wrap="square">
            <a:spAutoFit/>
          </a:bodyPr>
          <a:lstStyle/>
          <a:p>
            <a:pPr>
              <a:defRPr sz="1200">
                <a:solidFill>
                  <a:srgbClr val="282828"/>
                </a:solidFill>
              </a:defRPr>
            </a:pPr>
            <a:r>
              <a:t>Nodo: 000017-08</a:t>
            </a:r>
          </a:p>
          <a:p>
            <a:pPr>
              <a:defRPr sz="1200">
                <a:solidFill>
                  <a:srgbClr val="282828"/>
                </a:solidFill>
              </a:defRPr>
            </a:pPr>
            <a:r>
              <a:t>Volumen semanal Con WES (Σ rejilla): 214.8 m³</a:t>
            </a:r>
          </a:p>
          <a:p>
            <a:pPr>
              <a:defRPr sz="1200">
                <a:solidFill>
                  <a:srgbClr val="282828"/>
                </a:solidFill>
              </a:defRPr>
            </a:pPr>
            <a:r>
              <a:t>Volumen semanal ref. Sin WES (Σ rejilla): 341.8 m³</a:t>
            </a:r>
          </a:p>
          <a:p>
            <a:pPr>
              <a:defRPr sz="1200">
                <a:solidFill>
                  <a:srgbClr val="282828"/>
                </a:solidFill>
              </a:defRPr>
            </a:pPr>
            <a:r>
              <a:t>% rendimiento (ahorro vs ref.): 37.2 %</a:t>
            </a:r>
          </a:p>
          <a:p>
            <a:pPr>
              <a:defRPr sz="1200">
                <a:solidFill>
                  <a:srgbClr val="282828"/>
                </a:solidFill>
              </a:defRPr>
            </a:pPr>
            <a:r>
              <a:t>Definición: (Sin WES − Con WES) / Sin WES × 100.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164592"/>
            <a:ext cx="10515600" cy="502920"/>
          </a:xfrm>
          <a:prstGeom prst="rect">
            <a:avLst/>
          </a:prstGeom>
          <a:noFill/>
        </p:spPr>
        <p:txBody>
          <a:bodyPr wrap="none">
            <a:spAutoFit/>
          </a:bodyPr>
          <a:lstStyle/>
          <a:p>
            <a:pPr>
              <a:defRPr sz="3000" b="1">
                <a:solidFill>
                  <a:srgbClr val="003366"/>
                </a:solidFill>
              </a:defRPr>
            </a:pPr>
            <a:r>
              <a:t>ESC. LO VELÁSQUEZ</a:t>
            </a:r>
          </a:p>
        </p:txBody>
      </p:sp>
      <p:sp>
        <p:nvSpPr>
          <p:cNvPr id="3" name="TextBox 2"/>
          <p:cNvSpPr txBox="1"/>
          <p:nvPr/>
        </p:nvSpPr>
        <p:spPr>
          <a:xfrm>
            <a:off x="228600" y="658368"/>
            <a:ext cx="10972800" cy="347472"/>
          </a:xfrm>
          <a:prstGeom prst="rect">
            <a:avLst/>
          </a:prstGeom>
          <a:noFill/>
        </p:spPr>
        <p:txBody>
          <a:bodyPr wrap="none">
            <a:spAutoFit/>
          </a:bodyPr>
          <a:lstStyle/>
          <a:p>
            <a:pPr>
              <a:defRPr sz="1000" b="1">
                <a:solidFill>
                  <a:srgbClr val="282828"/>
                </a:solidFill>
              </a:defRPr>
            </a:pPr>
            <a:r>
              <a:t>Av. José Miguel Infante 7401, Renca</a:t>
            </a:r>
          </a:p>
        </p:txBody>
      </p:sp>
      <p:pic>
        <p:nvPicPr>
          <p:cNvPr id="4" name="Picture 3" descr="04_area_Lunes.png"/>
          <p:cNvPicPr>
            <a:picLocks noChangeAspect="1"/>
          </p:cNvPicPr>
          <p:nvPr/>
        </p:nvPicPr>
        <p:blipFill>
          <a:blip r:embed="rId2"/>
          <a:stretch>
            <a:fillRect/>
          </a:stretch>
        </p:blipFill>
        <p:spPr>
          <a:xfrm>
            <a:off x="228600" y="1024128"/>
            <a:ext cx="6629400" cy="2971800"/>
          </a:xfrm>
          <a:prstGeom prst="rect">
            <a:avLst/>
          </a:prstGeom>
        </p:spPr>
      </p:pic>
      <p:sp>
        <p:nvSpPr>
          <p:cNvPr id="5" name="TextBox 4"/>
          <p:cNvSpPr txBox="1"/>
          <p:nvPr/>
        </p:nvSpPr>
        <p:spPr>
          <a:xfrm>
            <a:off x="7269480" y="3063240"/>
            <a:ext cx="3063240" cy="384048"/>
          </a:xfrm>
          <a:prstGeom prst="rect">
            <a:avLst/>
          </a:prstGeom>
          <a:noFill/>
        </p:spPr>
        <p:txBody>
          <a:bodyPr wrap="none">
            <a:spAutoFit/>
          </a:bodyPr>
          <a:lstStyle/>
          <a:p>
            <a:pPr>
              <a:defRPr sz="1000" b="1"/>
            </a:pPr>
            <a:r>
              <a:t>Perfil semanal Con WES (13–19 abr 2026)</a:t>
            </a:r>
          </a:p>
        </p:txBody>
      </p:sp>
      <p:sp>
        <p:nvSpPr>
          <p:cNvPr id="6" name="TextBox 5"/>
          <p:cNvSpPr txBox="1"/>
          <p:nvPr/>
        </p:nvSpPr>
        <p:spPr>
          <a:xfrm>
            <a:off x="7269480" y="5897880"/>
            <a:ext cx="3063240" cy="384048"/>
          </a:xfrm>
          <a:prstGeom prst="rect">
            <a:avLst/>
          </a:prstGeom>
          <a:noFill/>
        </p:spPr>
        <p:txBody>
          <a:bodyPr wrap="none">
            <a:spAutoFit/>
          </a:bodyPr>
          <a:lstStyle/>
          <a:p>
            <a:pPr>
              <a:defRPr sz="1000" b="1"/>
            </a:pPr>
            <a:r>
              <a:t>Referencia Sin WES (6–12 abr 2026)</a:t>
            </a:r>
          </a:p>
        </p:txBody>
      </p:sp>
      <p:sp>
        <p:nvSpPr>
          <p:cNvPr id="7" name="TextBox 6"/>
          <p:cNvSpPr txBox="1"/>
          <p:nvPr/>
        </p:nvSpPr>
        <p:spPr>
          <a:xfrm>
            <a:off x="594360" y="4069080"/>
            <a:ext cx="6035040" cy="2331720"/>
          </a:xfrm>
          <a:prstGeom prst="rect">
            <a:avLst/>
          </a:prstGeom>
          <a:noFill/>
        </p:spPr>
        <p:txBody>
          <a:bodyPr wrap="square">
            <a:spAutoFit/>
          </a:bodyPr>
          <a:lstStyle/>
          <a:p>
            <a:pPr>
              <a:defRPr sz="1200">
                <a:solidFill>
                  <a:srgbClr val="282828"/>
                </a:solidFill>
              </a:defRPr>
            </a:pPr>
            <a:r>
              <a:t>Nodo: 000017-04</a:t>
            </a:r>
          </a:p>
          <a:p>
            <a:pPr>
              <a:defRPr sz="1200">
                <a:solidFill>
                  <a:srgbClr val="282828"/>
                </a:solidFill>
              </a:defRPr>
            </a:pPr>
            <a:r>
              <a:t>Volumen semanal Con WES (Σ rejilla): 33.0 m³</a:t>
            </a:r>
          </a:p>
          <a:p>
            <a:pPr>
              <a:defRPr sz="1200">
                <a:solidFill>
                  <a:srgbClr val="282828"/>
                </a:solidFill>
              </a:defRPr>
            </a:pPr>
            <a:r>
              <a:t>Volumen semanal ref. Sin WES (Σ rejilla): 36.7 m³</a:t>
            </a:r>
          </a:p>
          <a:p>
            <a:pPr>
              <a:defRPr sz="1200">
                <a:solidFill>
                  <a:srgbClr val="282828"/>
                </a:solidFill>
              </a:defRPr>
            </a:pPr>
            <a:r>
              <a:t>% rendimiento (ahorro vs ref.): 10.1 %</a:t>
            </a:r>
          </a:p>
          <a:p>
            <a:pPr>
              <a:defRPr sz="1200">
                <a:solidFill>
                  <a:srgbClr val="282828"/>
                </a:solidFill>
              </a:defRPr>
            </a:pPr>
            <a:r>
              <a:t>Definición: (Sin WES − Con WES) / Sin WES × 100.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164592"/>
            <a:ext cx="10515600" cy="502920"/>
          </a:xfrm>
          <a:prstGeom prst="rect">
            <a:avLst/>
          </a:prstGeom>
          <a:noFill/>
        </p:spPr>
        <p:txBody>
          <a:bodyPr wrap="none">
            <a:spAutoFit/>
          </a:bodyPr>
          <a:lstStyle/>
          <a:p>
            <a:pPr>
              <a:defRPr sz="3000" b="1">
                <a:solidFill>
                  <a:srgbClr val="003366"/>
                </a:solidFill>
              </a:defRPr>
            </a:pPr>
            <a:r>
              <a:t>PISCINA MUNICIPAL</a:t>
            </a:r>
          </a:p>
        </p:txBody>
      </p:sp>
      <p:sp>
        <p:nvSpPr>
          <p:cNvPr id="3" name="TextBox 2"/>
          <p:cNvSpPr txBox="1"/>
          <p:nvPr/>
        </p:nvSpPr>
        <p:spPr>
          <a:xfrm>
            <a:off x="228600" y="658368"/>
            <a:ext cx="10972800" cy="347472"/>
          </a:xfrm>
          <a:prstGeom prst="rect">
            <a:avLst/>
          </a:prstGeom>
          <a:noFill/>
        </p:spPr>
        <p:txBody>
          <a:bodyPr wrap="none">
            <a:spAutoFit/>
          </a:bodyPr>
          <a:lstStyle/>
          <a:p>
            <a:pPr>
              <a:defRPr sz="1000" b="1">
                <a:solidFill>
                  <a:srgbClr val="282828"/>
                </a:solidFill>
              </a:defRPr>
            </a:pPr>
            <a:r>
              <a:t>Av. José Miguel Infante 6502, Renca</a:t>
            </a:r>
          </a:p>
        </p:txBody>
      </p:sp>
      <p:pic>
        <p:nvPicPr>
          <p:cNvPr id="4" name="Picture 3" descr="04_area_Lunes.png"/>
          <p:cNvPicPr>
            <a:picLocks noChangeAspect="1"/>
          </p:cNvPicPr>
          <p:nvPr/>
        </p:nvPicPr>
        <p:blipFill>
          <a:blip r:embed="rId2"/>
          <a:stretch>
            <a:fillRect/>
          </a:stretch>
        </p:blipFill>
        <p:spPr>
          <a:xfrm>
            <a:off x="228600" y="1024128"/>
            <a:ext cx="6629400" cy="2971800"/>
          </a:xfrm>
          <a:prstGeom prst="rect">
            <a:avLst/>
          </a:prstGeom>
        </p:spPr>
      </p:pic>
      <p:sp>
        <p:nvSpPr>
          <p:cNvPr id="5" name="TextBox 4"/>
          <p:cNvSpPr txBox="1"/>
          <p:nvPr/>
        </p:nvSpPr>
        <p:spPr>
          <a:xfrm>
            <a:off x="7269480" y="3063240"/>
            <a:ext cx="3063240" cy="384048"/>
          </a:xfrm>
          <a:prstGeom prst="rect">
            <a:avLst/>
          </a:prstGeom>
          <a:noFill/>
        </p:spPr>
        <p:txBody>
          <a:bodyPr wrap="none">
            <a:spAutoFit/>
          </a:bodyPr>
          <a:lstStyle/>
          <a:p>
            <a:pPr>
              <a:defRPr sz="1000" b="1"/>
            </a:pPr>
            <a:r>
              <a:t>Perfil semanal Con WES (13–19 abr 2026)</a:t>
            </a:r>
          </a:p>
        </p:txBody>
      </p:sp>
      <p:sp>
        <p:nvSpPr>
          <p:cNvPr id="6" name="TextBox 5"/>
          <p:cNvSpPr txBox="1"/>
          <p:nvPr/>
        </p:nvSpPr>
        <p:spPr>
          <a:xfrm>
            <a:off x="7269480" y="5897880"/>
            <a:ext cx="3063240" cy="384048"/>
          </a:xfrm>
          <a:prstGeom prst="rect">
            <a:avLst/>
          </a:prstGeom>
          <a:noFill/>
        </p:spPr>
        <p:txBody>
          <a:bodyPr wrap="none">
            <a:spAutoFit/>
          </a:bodyPr>
          <a:lstStyle/>
          <a:p>
            <a:pPr>
              <a:defRPr sz="1000" b="1"/>
            </a:pPr>
            <a:r>
              <a:t>Referencia Sin WES (6–12 abr 2026)</a:t>
            </a:r>
          </a:p>
        </p:txBody>
      </p:sp>
      <p:sp>
        <p:nvSpPr>
          <p:cNvPr id="7" name="TextBox 6"/>
          <p:cNvSpPr txBox="1"/>
          <p:nvPr/>
        </p:nvSpPr>
        <p:spPr>
          <a:xfrm>
            <a:off x="594360" y="4069080"/>
            <a:ext cx="6035040" cy="2331720"/>
          </a:xfrm>
          <a:prstGeom prst="rect">
            <a:avLst/>
          </a:prstGeom>
          <a:noFill/>
        </p:spPr>
        <p:txBody>
          <a:bodyPr wrap="square">
            <a:spAutoFit/>
          </a:bodyPr>
          <a:lstStyle/>
          <a:p>
            <a:pPr>
              <a:defRPr sz="1200">
                <a:solidFill>
                  <a:srgbClr val="282828"/>
                </a:solidFill>
              </a:defRPr>
            </a:pPr>
            <a:r>
              <a:t>Nodo: 000017-06</a:t>
            </a:r>
          </a:p>
          <a:p>
            <a:pPr>
              <a:defRPr sz="1200">
                <a:solidFill>
                  <a:srgbClr val="282828"/>
                </a:solidFill>
              </a:defRPr>
            </a:pPr>
            <a:r>
              <a:t>Volumen semanal Con WES (Σ rejilla): 297.8 m³</a:t>
            </a:r>
          </a:p>
          <a:p>
            <a:pPr>
              <a:defRPr sz="1200">
                <a:solidFill>
                  <a:srgbClr val="282828"/>
                </a:solidFill>
              </a:defRPr>
            </a:pPr>
            <a:r>
              <a:t>Volumen semanal ref. Sin WES (Σ rejilla): 698.7 m³</a:t>
            </a:r>
          </a:p>
          <a:p>
            <a:pPr>
              <a:defRPr sz="1200">
                <a:solidFill>
                  <a:srgbClr val="282828"/>
                </a:solidFill>
              </a:defRPr>
            </a:pPr>
            <a:r>
              <a:t>% rendimiento (ahorro vs ref.): 57.4 %</a:t>
            </a:r>
          </a:p>
          <a:p>
            <a:pPr>
              <a:defRPr sz="1200">
                <a:solidFill>
                  <a:srgbClr val="282828"/>
                </a:solidFill>
              </a:defRPr>
            </a:pPr>
            <a:r>
              <a:t>Definición: (Sin WES − Con WES) / Sin WES × 100.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164592"/>
            <a:ext cx="10515600" cy="502920"/>
          </a:xfrm>
          <a:prstGeom prst="rect">
            <a:avLst/>
          </a:prstGeom>
          <a:noFill/>
        </p:spPr>
        <p:txBody>
          <a:bodyPr wrap="none">
            <a:spAutoFit/>
          </a:bodyPr>
          <a:lstStyle/>
          <a:p>
            <a:pPr>
              <a:defRPr sz="3000" b="1">
                <a:solidFill>
                  <a:srgbClr val="003366"/>
                </a:solidFill>
              </a:defRPr>
            </a:pPr>
            <a:r>
              <a:t>GIMNASIO</a:t>
            </a:r>
          </a:p>
        </p:txBody>
      </p:sp>
      <p:sp>
        <p:nvSpPr>
          <p:cNvPr id="3" name="TextBox 2"/>
          <p:cNvSpPr txBox="1"/>
          <p:nvPr/>
        </p:nvSpPr>
        <p:spPr>
          <a:xfrm>
            <a:off x="228600" y="658368"/>
            <a:ext cx="10972800" cy="347472"/>
          </a:xfrm>
          <a:prstGeom prst="rect">
            <a:avLst/>
          </a:prstGeom>
          <a:noFill/>
        </p:spPr>
        <p:txBody>
          <a:bodyPr wrap="none">
            <a:spAutoFit/>
          </a:bodyPr>
          <a:lstStyle/>
          <a:p>
            <a:pPr>
              <a:defRPr sz="1000" b="1">
                <a:solidFill>
                  <a:srgbClr val="282828"/>
                </a:solidFill>
              </a:defRPr>
            </a:pPr>
            <a:r>
              <a:t>Av. Vicuña Mackenna 7836, Renca</a:t>
            </a:r>
          </a:p>
        </p:txBody>
      </p:sp>
      <p:pic>
        <p:nvPicPr>
          <p:cNvPr id="4" name="Picture 3" descr="04_area_Lunes.png"/>
          <p:cNvPicPr>
            <a:picLocks noChangeAspect="1"/>
          </p:cNvPicPr>
          <p:nvPr/>
        </p:nvPicPr>
        <p:blipFill>
          <a:blip r:embed="rId2"/>
          <a:stretch>
            <a:fillRect/>
          </a:stretch>
        </p:blipFill>
        <p:spPr>
          <a:xfrm>
            <a:off x="228600" y="1024128"/>
            <a:ext cx="6629400" cy="2971800"/>
          </a:xfrm>
          <a:prstGeom prst="rect">
            <a:avLst/>
          </a:prstGeom>
        </p:spPr>
      </p:pic>
      <p:sp>
        <p:nvSpPr>
          <p:cNvPr id="5" name="TextBox 4"/>
          <p:cNvSpPr txBox="1"/>
          <p:nvPr/>
        </p:nvSpPr>
        <p:spPr>
          <a:xfrm>
            <a:off x="7269480" y="3063240"/>
            <a:ext cx="3063240" cy="384048"/>
          </a:xfrm>
          <a:prstGeom prst="rect">
            <a:avLst/>
          </a:prstGeom>
          <a:noFill/>
        </p:spPr>
        <p:txBody>
          <a:bodyPr wrap="none">
            <a:spAutoFit/>
          </a:bodyPr>
          <a:lstStyle/>
          <a:p>
            <a:pPr>
              <a:defRPr sz="1000" b="1"/>
            </a:pPr>
            <a:r>
              <a:t>Perfil semanal Con WES (13–19 abr 2026)</a:t>
            </a:r>
          </a:p>
        </p:txBody>
      </p:sp>
      <p:sp>
        <p:nvSpPr>
          <p:cNvPr id="6" name="TextBox 5"/>
          <p:cNvSpPr txBox="1"/>
          <p:nvPr/>
        </p:nvSpPr>
        <p:spPr>
          <a:xfrm>
            <a:off x="7269480" y="5897880"/>
            <a:ext cx="3063240" cy="384048"/>
          </a:xfrm>
          <a:prstGeom prst="rect">
            <a:avLst/>
          </a:prstGeom>
          <a:noFill/>
        </p:spPr>
        <p:txBody>
          <a:bodyPr wrap="none">
            <a:spAutoFit/>
          </a:bodyPr>
          <a:lstStyle/>
          <a:p>
            <a:pPr>
              <a:defRPr sz="1000" b="1"/>
            </a:pPr>
            <a:r>
              <a:t>Referencia Sin WES (6–12 abr 2026)</a:t>
            </a:r>
          </a:p>
        </p:txBody>
      </p:sp>
      <p:sp>
        <p:nvSpPr>
          <p:cNvPr id="7" name="TextBox 6"/>
          <p:cNvSpPr txBox="1"/>
          <p:nvPr/>
        </p:nvSpPr>
        <p:spPr>
          <a:xfrm>
            <a:off x="594360" y="4069080"/>
            <a:ext cx="6035040" cy="2331720"/>
          </a:xfrm>
          <a:prstGeom prst="rect">
            <a:avLst/>
          </a:prstGeom>
          <a:noFill/>
        </p:spPr>
        <p:txBody>
          <a:bodyPr wrap="square">
            <a:spAutoFit/>
          </a:bodyPr>
          <a:lstStyle/>
          <a:p>
            <a:pPr>
              <a:defRPr sz="1200">
                <a:solidFill>
                  <a:srgbClr val="282828"/>
                </a:solidFill>
              </a:defRPr>
            </a:pPr>
            <a:r>
              <a:t>Nodo: 000017-05</a:t>
            </a:r>
          </a:p>
          <a:p>
            <a:pPr>
              <a:defRPr sz="1200">
                <a:solidFill>
                  <a:srgbClr val="282828"/>
                </a:solidFill>
              </a:defRPr>
            </a:pPr>
            <a:r>
              <a:t>Volumen semanal Con WES (Σ rejilla): 3,019.5 m³</a:t>
            </a:r>
          </a:p>
          <a:p>
            <a:pPr>
              <a:defRPr sz="1200">
                <a:solidFill>
                  <a:srgbClr val="282828"/>
                </a:solidFill>
              </a:defRPr>
            </a:pPr>
            <a:r>
              <a:t>Volumen semanal ref. Sin WES (Σ rejilla): 470.2 m³</a:t>
            </a:r>
          </a:p>
          <a:p>
            <a:pPr>
              <a:defRPr sz="1200">
                <a:solidFill>
                  <a:srgbClr val="282828"/>
                </a:solidFill>
              </a:defRPr>
            </a:pPr>
            <a:r>
              <a:t>% rendimiento (ahorro vs ref.): -542.2 %</a:t>
            </a:r>
          </a:p>
          <a:p>
            <a:pPr>
              <a:defRPr sz="1200">
                <a:solidFill>
                  <a:srgbClr val="282828"/>
                </a:solidFill>
              </a:defRPr>
            </a:pPr>
            <a:r>
              <a:t>Definición: (Sin WES − Con WES) / Sin WES × 100.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164592"/>
            <a:ext cx="10515600" cy="502920"/>
          </a:xfrm>
          <a:prstGeom prst="rect">
            <a:avLst/>
          </a:prstGeom>
          <a:noFill/>
        </p:spPr>
        <p:txBody>
          <a:bodyPr wrap="none">
            <a:spAutoFit/>
          </a:bodyPr>
          <a:lstStyle/>
          <a:p>
            <a:pPr>
              <a:defRPr sz="3000" b="1">
                <a:solidFill>
                  <a:srgbClr val="003366"/>
                </a:solidFill>
              </a:defRPr>
            </a:pPr>
            <a:r>
              <a:t>CUMBRE DE CÓNDORES PTE.</a:t>
            </a:r>
          </a:p>
        </p:txBody>
      </p:sp>
      <p:sp>
        <p:nvSpPr>
          <p:cNvPr id="3" name="TextBox 2"/>
          <p:cNvSpPr txBox="1"/>
          <p:nvPr/>
        </p:nvSpPr>
        <p:spPr>
          <a:xfrm>
            <a:off x="228600" y="658368"/>
            <a:ext cx="10972800" cy="347472"/>
          </a:xfrm>
          <a:prstGeom prst="rect">
            <a:avLst/>
          </a:prstGeom>
          <a:noFill/>
        </p:spPr>
        <p:txBody>
          <a:bodyPr wrap="none">
            <a:spAutoFit/>
          </a:bodyPr>
          <a:lstStyle/>
          <a:p>
            <a:pPr>
              <a:defRPr sz="1000" b="1">
                <a:solidFill>
                  <a:srgbClr val="282828"/>
                </a:solidFill>
              </a:defRPr>
            </a:pPr>
            <a:r>
              <a:t>Av. Brasil 7965, Renca</a:t>
            </a:r>
          </a:p>
        </p:txBody>
      </p:sp>
      <p:pic>
        <p:nvPicPr>
          <p:cNvPr id="4" name="Picture 3" descr="04_area_Lunes.png"/>
          <p:cNvPicPr>
            <a:picLocks noChangeAspect="1"/>
          </p:cNvPicPr>
          <p:nvPr/>
        </p:nvPicPr>
        <p:blipFill>
          <a:blip r:embed="rId2"/>
          <a:stretch>
            <a:fillRect/>
          </a:stretch>
        </p:blipFill>
        <p:spPr>
          <a:xfrm>
            <a:off x="228600" y="1024128"/>
            <a:ext cx="6629400" cy="2971800"/>
          </a:xfrm>
          <a:prstGeom prst="rect">
            <a:avLst/>
          </a:prstGeom>
        </p:spPr>
      </p:pic>
      <p:sp>
        <p:nvSpPr>
          <p:cNvPr id="5" name="TextBox 4"/>
          <p:cNvSpPr txBox="1"/>
          <p:nvPr/>
        </p:nvSpPr>
        <p:spPr>
          <a:xfrm>
            <a:off x="7269480" y="3063240"/>
            <a:ext cx="3063240" cy="384048"/>
          </a:xfrm>
          <a:prstGeom prst="rect">
            <a:avLst/>
          </a:prstGeom>
          <a:noFill/>
        </p:spPr>
        <p:txBody>
          <a:bodyPr wrap="none">
            <a:spAutoFit/>
          </a:bodyPr>
          <a:lstStyle/>
          <a:p>
            <a:pPr>
              <a:defRPr sz="1000" b="1"/>
            </a:pPr>
            <a:r>
              <a:t>Perfil semanal Con WES (13–19 abr 2026)</a:t>
            </a:r>
          </a:p>
        </p:txBody>
      </p:sp>
      <p:sp>
        <p:nvSpPr>
          <p:cNvPr id="6" name="TextBox 5"/>
          <p:cNvSpPr txBox="1"/>
          <p:nvPr/>
        </p:nvSpPr>
        <p:spPr>
          <a:xfrm>
            <a:off x="7269480" y="5897880"/>
            <a:ext cx="3063240" cy="384048"/>
          </a:xfrm>
          <a:prstGeom prst="rect">
            <a:avLst/>
          </a:prstGeom>
          <a:noFill/>
        </p:spPr>
        <p:txBody>
          <a:bodyPr wrap="none">
            <a:spAutoFit/>
          </a:bodyPr>
          <a:lstStyle/>
          <a:p>
            <a:pPr>
              <a:defRPr sz="1000" b="1"/>
            </a:pPr>
            <a:r>
              <a:t>Referencia Sin WES (6–12 abr 2026)</a:t>
            </a:r>
          </a:p>
        </p:txBody>
      </p:sp>
      <p:sp>
        <p:nvSpPr>
          <p:cNvPr id="7" name="TextBox 6"/>
          <p:cNvSpPr txBox="1"/>
          <p:nvPr/>
        </p:nvSpPr>
        <p:spPr>
          <a:xfrm>
            <a:off x="594360" y="4069080"/>
            <a:ext cx="6035040" cy="2331720"/>
          </a:xfrm>
          <a:prstGeom prst="rect">
            <a:avLst/>
          </a:prstGeom>
          <a:noFill/>
        </p:spPr>
        <p:txBody>
          <a:bodyPr wrap="square">
            <a:spAutoFit/>
          </a:bodyPr>
          <a:lstStyle/>
          <a:p>
            <a:pPr>
              <a:defRPr sz="1200">
                <a:solidFill>
                  <a:srgbClr val="282828"/>
                </a:solidFill>
              </a:defRPr>
            </a:pPr>
            <a:r>
              <a:t>Nodo: 000017-07</a:t>
            </a:r>
          </a:p>
          <a:p>
            <a:pPr>
              <a:defRPr sz="1200">
                <a:solidFill>
                  <a:srgbClr val="282828"/>
                </a:solidFill>
              </a:defRPr>
            </a:pPr>
            <a:r>
              <a:t>Volumen semanal Con WES (Σ rejilla): 57.5 m³</a:t>
            </a:r>
          </a:p>
          <a:p>
            <a:pPr>
              <a:defRPr sz="1200">
                <a:solidFill>
                  <a:srgbClr val="282828"/>
                </a:solidFill>
              </a:defRPr>
            </a:pPr>
            <a:r>
              <a:t>Volumen semanal ref. Sin WES (Σ rejilla): 54.3 m³</a:t>
            </a:r>
          </a:p>
          <a:p>
            <a:pPr>
              <a:defRPr sz="1200">
                <a:solidFill>
                  <a:srgbClr val="282828"/>
                </a:solidFill>
              </a:defRPr>
            </a:pPr>
            <a:r>
              <a:t>% rendimiento (ahorro vs ref.): -5.9 %</a:t>
            </a:r>
          </a:p>
          <a:p>
            <a:pPr>
              <a:defRPr sz="1200">
                <a:solidFill>
                  <a:srgbClr val="282828"/>
                </a:solidFill>
              </a:defRPr>
            </a:pPr>
            <a:r>
              <a:t>Definición: (Sin WES − Con WES) / Sin WES × 100.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274320"/>
            <a:ext cx="10972800" cy="594360"/>
          </a:xfrm>
          <a:prstGeom prst="rect">
            <a:avLst/>
          </a:prstGeom>
          <a:noFill/>
        </p:spPr>
        <p:txBody>
          <a:bodyPr wrap="none">
            <a:spAutoFit/>
          </a:bodyPr>
          <a:lstStyle/>
          <a:p>
            <a:pPr>
              <a:defRPr sz="2000" b="1">
                <a:solidFill>
                  <a:srgbClr val="003366"/>
                </a:solidFill>
              </a:defRPr>
            </a:pPr>
            <a:r>
              <a:t>Pareto — consumo semanal Con WES (13–19 abr 2026)</a:t>
            </a:r>
          </a:p>
        </p:txBody>
      </p:sp>
      <p:pic>
        <p:nvPicPr>
          <p:cNvPr id="3" name="Picture 2" descr="pareto_semana_CON_WES_13_19_abr_2026.png"/>
          <p:cNvPicPr>
            <a:picLocks noChangeAspect="1"/>
          </p:cNvPicPr>
          <p:nvPr/>
        </p:nvPicPr>
        <p:blipFill>
          <a:blip r:embed="rId2"/>
          <a:stretch>
            <a:fillRect/>
          </a:stretch>
        </p:blipFill>
        <p:spPr>
          <a:xfrm>
            <a:off x="411480" y="914400"/>
            <a:ext cx="11292840" cy="507492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274320"/>
            <a:ext cx="10972800" cy="594360"/>
          </a:xfrm>
          <a:prstGeom prst="rect">
            <a:avLst/>
          </a:prstGeom>
          <a:noFill/>
        </p:spPr>
        <p:txBody>
          <a:bodyPr wrap="none">
            <a:spAutoFit/>
          </a:bodyPr>
          <a:lstStyle/>
          <a:p>
            <a:pPr>
              <a:defRPr sz="2000" b="1">
                <a:solidFill>
                  <a:srgbClr val="003366"/>
                </a:solidFill>
              </a:defRPr>
            </a:pPr>
            <a:r>
              <a:t>Pareto — consumo semanal referencia Sin WES (6–12 abr 2026)</a:t>
            </a:r>
          </a:p>
        </p:txBody>
      </p:sp>
      <p:pic>
        <p:nvPicPr>
          <p:cNvPr id="3" name="Picture 2" descr="pareto_semana_SIN_WES_06_12_abr_2026.png"/>
          <p:cNvPicPr>
            <a:picLocks noChangeAspect="1"/>
          </p:cNvPicPr>
          <p:nvPr/>
        </p:nvPicPr>
        <p:blipFill>
          <a:blip r:embed="rId2"/>
          <a:stretch>
            <a:fillRect/>
          </a:stretch>
        </p:blipFill>
        <p:spPr>
          <a:xfrm>
            <a:off x="411480" y="914400"/>
            <a:ext cx="11292840" cy="507492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182880"/>
            <a:ext cx="10972800" cy="685800"/>
          </a:xfrm>
          <a:prstGeom prst="rect">
            <a:avLst/>
          </a:prstGeom>
          <a:noFill/>
        </p:spPr>
        <p:txBody>
          <a:bodyPr wrap="none">
            <a:spAutoFit/>
          </a:bodyPr>
          <a:lstStyle/>
          <a:p>
            <a:pPr>
              <a:defRPr sz="2400" b="1">
                <a:solidFill>
                  <a:srgbClr val="003366"/>
                </a:solidFill>
              </a:defRPr>
            </a:pPr>
            <a:r>
              <a:t>ANEXO: METODOLOGÍA - VWB</a:t>
            </a:r>
          </a:p>
        </p:txBody>
      </p:sp>
      <p:sp>
        <p:nvSpPr>
          <p:cNvPr id="3" name="TextBox 2"/>
          <p:cNvSpPr txBox="1"/>
          <p:nvPr/>
        </p:nvSpPr>
        <p:spPr>
          <a:xfrm>
            <a:off x="320040" y="914400"/>
            <a:ext cx="11155680" cy="5486400"/>
          </a:xfrm>
          <a:prstGeom prst="rect">
            <a:avLst/>
          </a:prstGeom>
          <a:noFill/>
        </p:spPr>
        <p:txBody>
          <a:bodyPr wrap="square">
            <a:spAutoFit/>
          </a:bodyPr>
          <a:lstStyle/>
          <a:p>
            <a:pPr>
              <a:defRPr sz="1100">
                <a:solidFill>
                  <a:srgbClr val="282828"/>
                </a:solidFill>
              </a:defRPr>
            </a:pPr>
            <a:r>
              <a:t>Diversas actividades pueden reducir el volumen de agua extraída de una fuente, incluyendo transacciones legales (por ejemplo, arrendamientos o compras de derechos de agua), medidas de eficiencia operativa, reparación de fugas, entubado de canales de riego, medidas de eficiencia y reutilización del agua.</a:t>
            </a:r>
          </a:p>
          <a:p>
            <a:pPr>
              <a:spcAft>
                <a:spcPts val="300"/>
              </a:spcAft>
              <a:defRPr sz="1100">
                <a:solidFill>
                  <a:srgbClr val="282828"/>
                </a:solidFill>
              </a:defRPr>
            </a:pPr>
            <a:r>
              <a:t>El volumen de extracción reducido se calcula como la diferencia entre el volumen de extracción en la condición "con proyecto" en comparación con la condición de "referencia" (línea de base). La condición de "referencia" describe la extracción actual. La condición "con proyecto" representa la extracción después de la implementación de medidas de eficiencia, reutilización de agua, reparación de fugas o transacciones legales.</a:t>
            </a:r>
          </a:p>
          <a:p>
            <a:pPr>
              <a:spcAft>
                <a:spcPts val="300"/>
              </a:spcAft>
              <a:defRPr sz="1100">
                <a:solidFill>
                  <a:srgbClr val="282828"/>
                </a:solidFill>
              </a:defRPr>
            </a:pPr>
            <a:r>
              <a:t>Para todas estas aplicaciones, el VWB (Volumetric Water Benefit - Beneficio Hídrico Volumétrico) se calcula como la disminución del volumen de extracción.</a:t>
            </a:r>
          </a:p>
          <a:p>
            <a:pPr>
              <a:spcAft>
                <a:spcPts val="300"/>
              </a:spcAft>
              <a:defRPr sz="1100">
                <a:solidFill>
                  <a:srgbClr val="282828"/>
                </a:solidFill>
              </a:defRPr>
            </a:pPr>
          </a:p>
          <a:p>
            <a:pPr>
              <a:spcAft>
                <a:spcPts val="300"/>
              </a:spcAft>
              <a:defRPr sz="1100">
                <a:solidFill>
                  <a:srgbClr val="282828"/>
                </a:solidFill>
              </a:defRPr>
            </a:pPr>
            <a:r>
              <a:t>Fórmula de cálculo</a:t>
            </a:r>
          </a:p>
          <a:p>
            <a:pPr>
              <a:spcAft>
                <a:spcPts val="300"/>
              </a:spcAft>
              <a:defRPr sz="1100">
                <a:solidFill>
                  <a:srgbClr val="282828"/>
                </a:solidFill>
              </a:defRPr>
            </a:pPr>
            <a:r>
              <a:t>VWB = [Extracción de referencia] - [Extracción con proyecto]</a:t>
            </a:r>
          </a:p>
          <a:p>
            <a:pPr>
              <a:spcAft>
                <a:spcPts val="300"/>
              </a:spcAft>
              <a:defRPr sz="1100">
                <a:solidFill>
                  <a:srgbClr val="282828"/>
                </a:solidFill>
              </a:defRPr>
            </a:pPr>
          </a:p>
          <a:p>
            <a:pPr>
              <a:spcAft>
                <a:spcPts val="300"/>
              </a:spcAft>
              <a:defRPr sz="1100">
                <a:solidFill>
                  <a:srgbClr val="282828"/>
                </a:solidFill>
              </a:defRPr>
            </a:pPr>
            <a:r>
              <a:t>Fuente: Reig, P., W. Larson, S. Vionnet y J.B. Bayart. 2019. "Volumetric Water Benefit Accounting (VWBA): A Method for Implementing and Valuing Water Stewardship Activities." Working Paper. Washington, DC: World Resources Institute. Disponible en línea en: www.wri.org/publication/volumetric-water-benefit-accounting.</a:t>
            </a:r>
          </a:p>
          <a:p>
            <a:pPr>
              <a:spcAft>
                <a:spcPts val="300"/>
              </a:spcAft>
              <a:defRPr sz="1100">
                <a:solidFill>
                  <a:srgbClr val="282828"/>
                </a:solidFill>
              </a:defRPr>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