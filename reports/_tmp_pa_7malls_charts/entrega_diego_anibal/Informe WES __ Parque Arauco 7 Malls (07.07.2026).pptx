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31"/>
  </p:notesMasterIdLst>
  <p:sldIdLst>
    <p:sldId id="256" r:id="rId3"/>
    <p:sldId id="257" r:id="rId4"/>
    <p:sldId id="296" r:id="rId5"/>
    <p:sldId id="259" r:id="rId6"/>
    <p:sldId id="260" r:id="rId7"/>
    <p:sldId id="280" r:id="rId8"/>
    <p:sldId id="261" r:id="rId9"/>
    <p:sldId id="283" r:id="rId10"/>
    <p:sldId id="263" r:id="rId11"/>
    <p:sldId id="285" r:id="rId12"/>
    <p:sldId id="287" r:id="rId13"/>
    <p:sldId id="289" r:id="rId14"/>
    <p:sldId id="267" r:id="rId15"/>
    <p:sldId id="291" r:id="rId16"/>
    <p:sldId id="270" r:id="rId17"/>
    <p:sldId id="294" r:id="rId18"/>
    <p:sldId id="298" r:id="rId19"/>
    <p:sldId id="271" r:id="rId20"/>
    <p:sldId id="272" r:id="rId21"/>
    <p:sldId id="301" r:id="rId22"/>
    <p:sldId id="302" r:id="rId23"/>
    <p:sldId id="273" r:id="rId24"/>
    <p:sldId id="308" r:id="rId25"/>
    <p:sldId id="312" r:id="rId26"/>
    <p:sldId id="309" r:id="rId27"/>
    <p:sldId id="310" r:id="rId28"/>
    <p:sldId id="311" r:id="rId29"/>
    <p:sldId id="275" r:id="rId30"/>
  </p:sldIdLst>
  <p:sldSz cx="12192000" cy="6858000"/>
  <p:notesSz cx="12192000" cy="6858000"/>
  <p:embeddedFontLst>
    <p:embeddedFont>
      <p:font typeface="Helvetica Neue" panose="020B0604020202020204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Nunito" pitchFamily="2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jlLpPneBqVyNyVwIYWQkDox4T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A4C8D2-CCC5-4FB2-8A6F-C8E2A98DBC98}">
  <a:tblStyle styleId="{02A4C8D2-CCC5-4FB2-8A6F-C8E2A98DBC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176a252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6176a25220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6176a25220_0_0:notes"/>
          <p:cNvSpPr txBox="1">
            <a:spLocks noGrp="1"/>
          </p:cNvSpPr>
          <p:nvPr>
            <p:ph type="sldNum" idx="12"/>
          </p:nvPr>
        </p:nvSpPr>
        <p:spPr>
          <a:xfrm>
            <a:off x="6905978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828565411_0_10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27828565411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bdbb4df6_0_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96bdbb4df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6c1ba0591_0_1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96c1ba059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c1ba0591_0_1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96c1ba059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c1ba0591_0_1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96c1ba059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1792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bdbb4df6_0_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6bdbb4d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bdbb4df6_0_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6bdbb4d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6bdbb4df6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96bdbb4df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765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6837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bdbb4df6_0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g396bdbb4df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4117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3369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c1ba0591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96c1ba05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6bdbb4df6_0_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396bdbb4df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c1ba0591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96c1ba05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567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6bbc299a0_0_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396bbc299a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45360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88445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44008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1150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67696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6bbc299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96bbc299a0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g396bbc299a0_0_0:notes"/>
          <p:cNvSpPr txBox="1">
            <a:spLocks noGrp="1"/>
          </p:cNvSpPr>
          <p:nvPr>
            <p:ph type="sldNum" idx="12"/>
          </p:nvPr>
        </p:nvSpPr>
        <p:spPr>
          <a:xfrm>
            <a:off x="6905978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df26862f2_0_40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2edf26862f2_0_40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g2edf26862f2_0_4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2edf26862f2_0_4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edf26862f2_0_4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65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3551501"/>
            <a:ext cx="6653530" cy="3307079"/>
          </a:xfrm>
          <a:custGeom>
            <a:avLst/>
            <a:gdLst/>
            <a:ahLst/>
            <a:cxnLst/>
            <a:rect l="l" t="t" r="r" b="b"/>
            <a:pathLst>
              <a:path w="6653530" h="3307079" extrusionOk="0">
                <a:moveTo>
                  <a:pt x="0" y="0"/>
                </a:moveTo>
                <a:lnTo>
                  <a:pt x="6653099" y="0"/>
                </a:lnTo>
                <a:lnTo>
                  <a:pt x="6653099" y="3306498"/>
                </a:lnTo>
                <a:lnTo>
                  <a:pt x="0" y="3306498"/>
                </a:lnTo>
                <a:lnTo>
                  <a:pt x="0" y="0"/>
                </a:lnTo>
                <a:close/>
              </a:path>
            </a:pathLst>
          </a:custGeom>
          <a:solidFill>
            <a:srgbClr val="AEDEF9">
              <a:alpha val="4705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828565411_0_97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7828565411_0_97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g27828565411_0_9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7828565411_0_9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27828565411_0_9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828565411_0_10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7828565411_0_10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27828565411_0_10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27828565411_0_10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828565411_0_10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27828565411_0_10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0" name="Google Shape;110;g27828565411_0_10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1" name="Google Shape;111;g27828565411_0_10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7828565411_0_10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7828565411_0_10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828565411_0_10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7828565411_0_10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g27828565411_0_10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8" name="Google Shape;118;g27828565411_0_10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7828565411_0_10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27828565411_0_10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828565411_0_10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27828565411_0_103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g27828565411_0_10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g27828565411_0_10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27828565411_0_10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828565411_0_1036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7828565411_0_1036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g27828565411_0_10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27828565411_0_10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27828565411_0_10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" type="tx">
  <p:cSld name="TITLE_AND_BOD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828565411_0_1043"/>
          <p:cNvSpPr txBox="1">
            <a:spLocks noGrp="1"/>
          </p:cNvSpPr>
          <p:nvPr>
            <p:ph type="title"/>
          </p:nvPr>
        </p:nvSpPr>
        <p:spPr>
          <a:xfrm>
            <a:off x="1976437" y="1262062"/>
            <a:ext cx="8239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"/>
              <a:buNone/>
              <a:defRPr sz="43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27828565411_0_1043"/>
          <p:cNvSpPr txBox="1">
            <a:spLocks noGrp="1"/>
          </p:cNvSpPr>
          <p:nvPr>
            <p:ph type="body" idx="1"/>
          </p:nvPr>
        </p:nvSpPr>
        <p:spPr>
          <a:xfrm>
            <a:off x="1976437" y="1747111"/>
            <a:ext cx="8239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27828565411_0_1043"/>
          <p:cNvSpPr txBox="1">
            <a:spLocks noGrp="1"/>
          </p:cNvSpPr>
          <p:nvPr>
            <p:ph type="body" idx="2"/>
          </p:nvPr>
        </p:nvSpPr>
        <p:spPr>
          <a:xfrm>
            <a:off x="1976437" y="245043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1pPr>
            <a:lvl2pPr marL="914400" lvl="1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2pPr>
            <a:lvl3pPr marL="1371600" lvl="2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3pPr>
            <a:lvl4pPr marL="1828800" lvl="3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4pPr>
            <a:lvl5pPr marL="2286000" lvl="4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27828565411_0_1043"/>
          <p:cNvSpPr txBox="1">
            <a:spLocks noGrp="1"/>
          </p:cNvSpPr>
          <p:nvPr>
            <p:ph type="sldNum" idx="12"/>
          </p:nvPr>
        </p:nvSpPr>
        <p:spPr>
          <a:xfrm>
            <a:off x="6014942" y="5753545"/>
            <a:ext cx="157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1">
  <p:cSld name="Title and Content"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828565411_0_1162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7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7828565411_0_1162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40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27828565411_0_116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27828565411_0_116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27828565411_0_116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8025" y="3363924"/>
            <a:ext cx="1944825" cy="349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5493626" cy="6553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1269958" y="2561280"/>
            <a:ext cx="4650105" cy="4297045"/>
          </a:xfrm>
          <a:custGeom>
            <a:avLst/>
            <a:gdLst/>
            <a:ahLst/>
            <a:cxnLst/>
            <a:rect l="l" t="t" r="r" b="b"/>
            <a:pathLst>
              <a:path w="4650105" h="4297045" extrusionOk="0">
                <a:moveTo>
                  <a:pt x="2068599" y="4296719"/>
                </a:moveTo>
                <a:lnTo>
                  <a:pt x="136958" y="4296719"/>
                </a:lnTo>
                <a:lnTo>
                  <a:pt x="121099" y="4270862"/>
                </a:lnTo>
                <a:lnTo>
                  <a:pt x="92010" y="4216169"/>
                </a:lnTo>
                <a:lnTo>
                  <a:pt x="66984" y="4158563"/>
                </a:lnTo>
                <a:lnTo>
                  <a:pt x="45984" y="4098155"/>
                </a:lnTo>
                <a:lnTo>
                  <a:pt x="28970" y="4035057"/>
                </a:lnTo>
                <a:lnTo>
                  <a:pt x="15904" y="3969383"/>
                </a:lnTo>
                <a:lnTo>
                  <a:pt x="6746" y="3901242"/>
                </a:lnTo>
                <a:lnTo>
                  <a:pt x="1457" y="3830749"/>
                </a:lnTo>
                <a:lnTo>
                  <a:pt x="0" y="3758014"/>
                </a:lnTo>
                <a:lnTo>
                  <a:pt x="695" y="3720841"/>
                </a:lnTo>
                <a:lnTo>
                  <a:pt x="4910" y="3644954"/>
                </a:lnTo>
                <a:lnTo>
                  <a:pt x="8421" y="3606269"/>
                </a:lnTo>
                <a:lnTo>
                  <a:pt x="12859" y="3567107"/>
                </a:lnTo>
                <a:lnTo>
                  <a:pt x="18222" y="3527482"/>
                </a:lnTo>
                <a:lnTo>
                  <a:pt x="24503" y="3487409"/>
                </a:lnTo>
                <a:lnTo>
                  <a:pt x="31698" y="3446902"/>
                </a:lnTo>
                <a:lnTo>
                  <a:pt x="39802" y="3405975"/>
                </a:lnTo>
                <a:lnTo>
                  <a:pt x="48810" y="3364641"/>
                </a:lnTo>
                <a:lnTo>
                  <a:pt x="58718" y="3322916"/>
                </a:lnTo>
                <a:lnTo>
                  <a:pt x="69520" y="3280811"/>
                </a:lnTo>
                <a:lnTo>
                  <a:pt x="81211" y="3238343"/>
                </a:lnTo>
                <a:lnTo>
                  <a:pt x="93788" y="3195524"/>
                </a:lnTo>
                <a:lnTo>
                  <a:pt x="107244" y="3152369"/>
                </a:lnTo>
                <a:lnTo>
                  <a:pt x="121576" y="3108892"/>
                </a:lnTo>
                <a:lnTo>
                  <a:pt x="136777" y="3065106"/>
                </a:lnTo>
                <a:lnTo>
                  <a:pt x="152844" y="3021027"/>
                </a:lnTo>
                <a:lnTo>
                  <a:pt x="169771" y="2976667"/>
                </a:lnTo>
                <a:lnTo>
                  <a:pt x="187554" y="2932040"/>
                </a:lnTo>
                <a:lnTo>
                  <a:pt x="206188" y="2887162"/>
                </a:lnTo>
                <a:lnTo>
                  <a:pt x="225667" y="2842045"/>
                </a:lnTo>
                <a:lnTo>
                  <a:pt x="245987" y="2796704"/>
                </a:lnTo>
                <a:lnTo>
                  <a:pt x="267144" y="2751153"/>
                </a:lnTo>
                <a:lnTo>
                  <a:pt x="289132" y="2705405"/>
                </a:lnTo>
                <a:lnTo>
                  <a:pt x="311946" y="2659476"/>
                </a:lnTo>
                <a:lnTo>
                  <a:pt x="335582" y="2613378"/>
                </a:lnTo>
                <a:lnTo>
                  <a:pt x="360034" y="2567125"/>
                </a:lnTo>
                <a:lnTo>
                  <a:pt x="385298" y="2520733"/>
                </a:lnTo>
                <a:lnTo>
                  <a:pt x="411369" y="2474215"/>
                </a:lnTo>
                <a:lnTo>
                  <a:pt x="438243" y="2427584"/>
                </a:lnTo>
                <a:lnTo>
                  <a:pt x="465913" y="2380855"/>
                </a:lnTo>
                <a:lnTo>
                  <a:pt x="494376" y="2334041"/>
                </a:lnTo>
                <a:lnTo>
                  <a:pt x="523627" y="2287158"/>
                </a:lnTo>
                <a:lnTo>
                  <a:pt x="553660" y="2240218"/>
                </a:lnTo>
                <a:lnTo>
                  <a:pt x="584470" y="2193237"/>
                </a:lnTo>
                <a:lnTo>
                  <a:pt x="616054" y="2146227"/>
                </a:lnTo>
                <a:lnTo>
                  <a:pt x="648406" y="2099202"/>
                </a:lnTo>
                <a:lnTo>
                  <a:pt x="681521" y="2052178"/>
                </a:lnTo>
                <a:lnTo>
                  <a:pt x="715395" y="2005168"/>
                </a:lnTo>
                <a:lnTo>
                  <a:pt x="750021" y="1958185"/>
                </a:lnTo>
                <a:lnTo>
                  <a:pt x="785397" y="1911244"/>
                </a:lnTo>
                <a:lnTo>
                  <a:pt x="821516" y="1864359"/>
                </a:lnTo>
                <a:lnTo>
                  <a:pt x="858374" y="1817544"/>
                </a:lnTo>
                <a:lnTo>
                  <a:pt x="895966" y="1770812"/>
                </a:lnTo>
                <a:lnTo>
                  <a:pt x="934288" y="1724179"/>
                </a:lnTo>
                <a:lnTo>
                  <a:pt x="973333" y="1677657"/>
                </a:lnTo>
                <a:lnTo>
                  <a:pt x="1013099" y="1631261"/>
                </a:lnTo>
                <a:lnTo>
                  <a:pt x="1053578" y="1585005"/>
                </a:lnTo>
                <a:lnTo>
                  <a:pt x="1094768" y="1538903"/>
                </a:lnTo>
                <a:lnTo>
                  <a:pt x="1136662" y="1492969"/>
                </a:lnTo>
                <a:lnTo>
                  <a:pt x="1179256" y="1447216"/>
                </a:lnTo>
                <a:lnTo>
                  <a:pt x="1222546" y="1401660"/>
                </a:lnTo>
                <a:lnTo>
                  <a:pt x="1266525" y="1356313"/>
                </a:lnTo>
                <a:lnTo>
                  <a:pt x="1311190" y="1311190"/>
                </a:lnTo>
                <a:lnTo>
                  <a:pt x="1356313" y="1266525"/>
                </a:lnTo>
                <a:lnTo>
                  <a:pt x="1401660" y="1222545"/>
                </a:lnTo>
                <a:lnTo>
                  <a:pt x="1447216" y="1179256"/>
                </a:lnTo>
                <a:lnTo>
                  <a:pt x="1492969" y="1136662"/>
                </a:lnTo>
                <a:lnTo>
                  <a:pt x="1538903" y="1094768"/>
                </a:lnTo>
                <a:lnTo>
                  <a:pt x="1585005" y="1053578"/>
                </a:lnTo>
                <a:lnTo>
                  <a:pt x="1631261" y="1013098"/>
                </a:lnTo>
                <a:lnTo>
                  <a:pt x="1677657" y="973333"/>
                </a:lnTo>
                <a:lnTo>
                  <a:pt x="1724179" y="934288"/>
                </a:lnTo>
                <a:lnTo>
                  <a:pt x="1770812" y="895966"/>
                </a:lnTo>
                <a:lnTo>
                  <a:pt x="1817544" y="858374"/>
                </a:lnTo>
                <a:lnTo>
                  <a:pt x="1864359" y="821516"/>
                </a:lnTo>
                <a:lnTo>
                  <a:pt x="1911244" y="785397"/>
                </a:lnTo>
                <a:lnTo>
                  <a:pt x="1958185" y="750021"/>
                </a:lnTo>
                <a:lnTo>
                  <a:pt x="2005168" y="715395"/>
                </a:lnTo>
                <a:lnTo>
                  <a:pt x="2052178" y="681521"/>
                </a:lnTo>
                <a:lnTo>
                  <a:pt x="2099202" y="648406"/>
                </a:lnTo>
                <a:lnTo>
                  <a:pt x="2146227" y="616054"/>
                </a:lnTo>
                <a:lnTo>
                  <a:pt x="2193237" y="584470"/>
                </a:lnTo>
                <a:lnTo>
                  <a:pt x="2240218" y="553660"/>
                </a:lnTo>
                <a:lnTo>
                  <a:pt x="2287158" y="523627"/>
                </a:lnTo>
                <a:lnTo>
                  <a:pt x="2334042" y="494376"/>
                </a:lnTo>
                <a:lnTo>
                  <a:pt x="2380855" y="465913"/>
                </a:lnTo>
                <a:lnTo>
                  <a:pt x="2427584" y="438243"/>
                </a:lnTo>
                <a:lnTo>
                  <a:pt x="2474215" y="411369"/>
                </a:lnTo>
                <a:lnTo>
                  <a:pt x="2520733" y="385298"/>
                </a:lnTo>
                <a:lnTo>
                  <a:pt x="2567126" y="360034"/>
                </a:lnTo>
                <a:lnTo>
                  <a:pt x="2613378" y="335582"/>
                </a:lnTo>
                <a:lnTo>
                  <a:pt x="2659476" y="311946"/>
                </a:lnTo>
                <a:lnTo>
                  <a:pt x="2705405" y="289132"/>
                </a:lnTo>
                <a:lnTo>
                  <a:pt x="2751153" y="267144"/>
                </a:lnTo>
                <a:lnTo>
                  <a:pt x="2796704" y="245987"/>
                </a:lnTo>
                <a:lnTo>
                  <a:pt x="2842045" y="225667"/>
                </a:lnTo>
                <a:lnTo>
                  <a:pt x="2887162" y="206188"/>
                </a:lnTo>
                <a:lnTo>
                  <a:pt x="2932040" y="187554"/>
                </a:lnTo>
                <a:lnTo>
                  <a:pt x="2976667" y="169771"/>
                </a:lnTo>
                <a:lnTo>
                  <a:pt x="3021027" y="152844"/>
                </a:lnTo>
                <a:lnTo>
                  <a:pt x="3065107" y="136777"/>
                </a:lnTo>
                <a:lnTo>
                  <a:pt x="3108892" y="121576"/>
                </a:lnTo>
                <a:lnTo>
                  <a:pt x="3152369" y="107244"/>
                </a:lnTo>
                <a:lnTo>
                  <a:pt x="3195524" y="93788"/>
                </a:lnTo>
                <a:lnTo>
                  <a:pt x="3238343" y="81211"/>
                </a:lnTo>
                <a:lnTo>
                  <a:pt x="3280811" y="69520"/>
                </a:lnTo>
                <a:lnTo>
                  <a:pt x="3322916" y="58718"/>
                </a:lnTo>
                <a:lnTo>
                  <a:pt x="3364642" y="48810"/>
                </a:lnTo>
                <a:lnTo>
                  <a:pt x="3405975" y="39802"/>
                </a:lnTo>
                <a:lnTo>
                  <a:pt x="3446902" y="31698"/>
                </a:lnTo>
                <a:lnTo>
                  <a:pt x="3487410" y="24503"/>
                </a:lnTo>
                <a:lnTo>
                  <a:pt x="3527482" y="18222"/>
                </a:lnTo>
                <a:lnTo>
                  <a:pt x="3567107" y="12859"/>
                </a:lnTo>
                <a:lnTo>
                  <a:pt x="3606269" y="8421"/>
                </a:lnTo>
                <a:lnTo>
                  <a:pt x="3644955" y="4910"/>
                </a:lnTo>
                <a:lnTo>
                  <a:pt x="3683150" y="2334"/>
                </a:lnTo>
                <a:lnTo>
                  <a:pt x="3758014" y="0"/>
                </a:lnTo>
                <a:lnTo>
                  <a:pt x="3794655" y="252"/>
                </a:lnTo>
                <a:lnTo>
                  <a:pt x="3866283" y="3620"/>
                </a:lnTo>
                <a:lnTo>
                  <a:pt x="3935614" y="10839"/>
                </a:lnTo>
                <a:lnTo>
                  <a:pt x="4002535" y="21946"/>
                </a:lnTo>
                <a:lnTo>
                  <a:pt x="4066936" y="36981"/>
                </a:lnTo>
                <a:lnTo>
                  <a:pt x="4128702" y="55983"/>
                </a:lnTo>
                <a:lnTo>
                  <a:pt x="4187724" y="78991"/>
                </a:lnTo>
                <a:lnTo>
                  <a:pt x="4243887" y="106044"/>
                </a:lnTo>
                <a:lnTo>
                  <a:pt x="4297082" y="137180"/>
                </a:lnTo>
                <a:lnTo>
                  <a:pt x="4347194" y="172438"/>
                </a:lnTo>
                <a:lnTo>
                  <a:pt x="4394114" y="211858"/>
                </a:lnTo>
                <a:lnTo>
                  <a:pt x="4437623" y="255368"/>
                </a:lnTo>
                <a:lnTo>
                  <a:pt x="4477043" y="302287"/>
                </a:lnTo>
                <a:lnTo>
                  <a:pt x="4512301" y="352400"/>
                </a:lnTo>
                <a:lnTo>
                  <a:pt x="4543437" y="405594"/>
                </a:lnTo>
                <a:lnTo>
                  <a:pt x="4570490" y="461758"/>
                </a:lnTo>
                <a:lnTo>
                  <a:pt x="4593498" y="520779"/>
                </a:lnTo>
                <a:lnTo>
                  <a:pt x="4612500" y="582546"/>
                </a:lnTo>
                <a:lnTo>
                  <a:pt x="4627535" y="646946"/>
                </a:lnTo>
                <a:lnTo>
                  <a:pt x="4638642" y="713867"/>
                </a:lnTo>
                <a:lnTo>
                  <a:pt x="4645861" y="783198"/>
                </a:lnTo>
                <a:lnTo>
                  <a:pt x="4649229" y="854826"/>
                </a:lnTo>
                <a:lnTo>
                  <a:pt x="4649481" y="891467"/>
                </a:lnTo>
                <a:lnTo>
                  <a:pt x="4648786" y="928640"/>
                </a:lnTo>
                <a:lnTo>
                  <a:pt x="4644571" y="1004526"/>
                </a:lnTo>
                <a:lnTo>
                  <a:pt x="4641060" y="1043212"/>
                </a:lnTo>
                <a:lnTo>
                  <a:pt x="4636622" y="1082374"/>
                </a:lnTo>
                <a:lnTo>
                  <a:pt x="4631259" y="1121999"/>
                </a:lnTo>
                <a:lnTo>
                  <a:pt x="4624978" y="1162072"/>
                </a:lnTo>
                <a:lnTo>
                  <a:pt x="4617783" y="1202579"/>
                </a:lnTo>
                <a:lnTo>
                  <a:pt x="4609679" y="1243506"/>
                </a:lnTo>
                <a:lnTo>
                  <a:pt x="4600671" y="1284839"/>
                </a:lnTo>
                <a:lnTo>
                  <a:pt x="4590763" y="1326565"/>
                </a:lnTo>
                <a:lnTo>
                  <a:pt x="4579961" y="1368670"/>
                </a:lnTo>
                <a:lnTo>
                  <a:pt x="4568269" y="1411138"/>
                </a:lnTo>
                <a:lnTo>
                  <a:pt x="4555693" y="1453957"/>
                </a:lnTo>
                <a:lnTo>
                  <a:pt x="4542237" y="1497112"/>
                </a:lnTo>
                <a:lnTo>
                  <a:pt x="4527905" y="1540589"/>
                </a:lnTo>
                <a:lnTo>
                  <a:pt x="4512704" y="1584374"/>
                </a:lnTo>
                <a:lnTo>
                  <a:pt x="4496637" y="1628454"/>
                </a:lnTo>
                <a:lnTo>
                  <a:pt x="4479710" y="1672814"/>
                </a:lnTo>
                <a:lnTo>
                  <a:pt x="4461927" y="1717441"/>
                </a:lnTo>
                <a:lnTo>
                  <a:pt x="4443293" y="1762319"/>
                </a:lnTo>
                <a:lnTo>
                  <a:pt x="4423814" y="1807436"/>
                </a:lnTo>
                <a:lnTo>
                  <a:pt x="4403494" y="1852777"/>
                </a:lnTo>
                <a:lnTo>
                  <a:pt x="4382337" y="1898328"/>
                </a:lnTo>
                <a:lnTo>
                  <a:pt x="4360349" y="1944076"/>
                </a:lnTo>
                <a:lnTo>
                  <a:pt x="4337535" y="1990005"/>
                </a:lnTo>
                <a:lnTo>
                  <a:pt x="4313899" y="2036103"/>
                </a:lnTo>
                <a:lnTo>
                  <a:pt x="4289447" y="2082355"/>
                </a:lnTo>
                <a:lnTo>
                  <a:pt x="4264183" y="2128748"/>
                </a:lnTo>
                <a:lnTo>
                  <a:pt x="4238112" y="2175266"/>
                </a:lnTo>
                <a:lnTo>
                  <a:pt x="4211238" y="2221897"/>
                </a:lnTo>
                <a:lnTo>
                  <a:pt x="4183568" y="2268626"/>
                </a:lnTo>
                <a:lnTo>
                  <a:pt x="4155105" y="2315439"/>
                </a:lnTo>
                <a:lnTo>
                  <a:pt x="4125854" y="2362323"/>
                </a:lnTo>
                <a:lnTo>
                  <a:pt x="4095821" y="2409262"/>
                </a:lnTo>
                <a:lnTo>
                  <a:pt x="4065010" y="2456244"/>
                </a:lnTo>
                <a:lnTo>
                  <a:pt x="4033427" y="2503254"/>
                </a:lnTo>
                <a:lnTo>
                  <a:pt x="4001075" y="2550278"/>
                </a:lnTo>
                <a:lnTo>
                  <a:pt x="3967960" y="2597303"/>
                </a:lnTo>
                <a:lnTo>
                  <a:pt x="3934086" y="2644313"/>
                </a:lnTo>
                <a:lnTo>
                  <a:pt x="3899460" y="2691296"/>
                </a:lnTo>
                <a:lnTo>
                  <a:pt x="3864084" y="2738237"/>
                </a:lnTo>
                <a:lnTo>
                  <a:pt x="3827965" y="2785122"/>
                </a:lnTo>
                <a:lnTo>
                  <a:pt x="3791107" y="2831937"/>
                </a:lnTo>
                <a:lnTo>
                  <a:pt x="3753514" y="2878668"/>
                </a:lnTo>
                <a:lnTo>
                  <a:pt x="3715193" y="2925302"/>
                </a:lnTo>
                <a:lnTo>
                  <a:pt x="3676147" y="2971824"/>
                </a:lnTo>
                <a:lnTo>
                  <a:pt x="3636382" y="3018219"/>
                </a:lnTo>
                <a:lnTo>
                  <a:pt x="3595903" y="3064475"/>
                </a:lnTo>
                <a:lnTo>
                  <a:pt x="3554713" y="3110578"/>
                </a:lnTo>
                <a:lnTo>
                  <a:pt x="3512819" y="3156512"/>
                </a:lnTo>
                <a:lnTo>
                  <a:pt x="3470225" y="3202264"/>
                </a:lnTo>
                <a:lnTo>
                  <a:pt x="3426935" y="3247821"/>
                </a:lnTo>
                <a:lnTo>
                  <a:pt x="3382956" y="3293167"/>
                </a:lnTo>
                <a:lnTo>
                  <a:pt x="3338291" y="3338290"/>
                </a:lnTo>
                <a:lnTo>
                  <a:pt x="3293168" y="3382955"/>
                </a:lnTo>
                <a:lnTo>
                  <a:pt x="3247821" y="3426935"/>
                </a:lnTo>
                <a:lnTo>
                  <a:pt x="3202265" y="3470224"/>
                </a:lnTo>
                <a:lnTo>
                  <a:pt x="3156512" y="3512819"/>
                </a:lnTo>
                <a:lnTo>
                  <a:pt x="3110578" y="3554713"/>
                </a:lnTo>
                <a:lnTo>
                  <a:pt x="3064476" y="3595902"/>
                </a:lnTo>
                <a:lnTo>
                  <a:pt x="3018220" y="3636382"/>
                </a:lnTo>
                <a:lnTo>
                  <a:pt x="2971824" y="3676147"/>
                </a:lnTo>
                <a:lnTo>
                  <a:pt x="2925302" y="3715193"/>
                </a:lnTo>
                <a:lnTo>
                  <a:pt x="2878669" y="3753514"/>
                </a:lnTo>
                <a:lnTo>
                  <a:pt x="2831937" y="3791106"/>
                </a:lnTo>
                <a:lnTo>
                  <a:pt x="2785122" y="3827965"/>
                </a:lnTo>
                <a:lnTo>
                  <a:pt x="2738237" y="3864084"/>
                </a:lnTo>
                <a:lnTo>
                  <a:pt x="2691296" y="3899459"/>
                </a:lnTo>
                <a:lnTo>
                  <a:pt x="2644313" y="3934086"/>
                </a:lnTo>
                <a:lnTo>
                  <a:pt x="2597303" y="3967960"/>
                </a:lnTo>
                <a:lnTo>
                  <a:pt x="2550278" y="4001075"/>
                </a:lnTo>
                <a:lnTo>
                  <a:pt x="2503254" y="4033426"/>
                </a:lnTo>
                <a:lnTo>
                  <a:pt x="2456244" y="4065010"/>
                </a:lnTo>
                <a:lnTo>
                  <a:pt x="2409262" y="4095821"/>
                </a:lnTo>
                <a:lnTo>
                  <a:pt x="2362323" y="4125854"/>
                </a:lnTo>
                <a:lnTo>
                  <a:pt x="2315439" y="4155105"/>
                </a:lnTo>
                <a:lnTo>
                  <a:pt x="2268626" y="4183568"/>
                </a:lnTo>
                <a:lnTo>
                  <a:pt x="2221897" y="4211238"/>
                </a:lnTo>
                <a:lnTo>
                  <a:pt x="2175266" y="4238111"/>
                </a:lnTo>
                <a:lnTo>
                  <a:pt x="2128748" y="4264183"/>
                </a:lnTo>
                <a:lnTo>
                  <a:pt x="2082355" y="4289447"/>
                </a:lnTo>
                <a:lnTo>
                  <a:pt x="2068599" y="42967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00" b="1" i="0" u="none" strike="noStrike" cap="none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65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828565411_0_9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g27828565411_0_9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g27828565411_0_9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g27828565411_0_9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g27828565411_0_9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diego-carrasco-vallejos-08172224/" TargetMode="External"/><Relationship Id="rId5" Type="http://schemas.openxmlformats.org/officeDocument/2006/relationships/hyperlink" Target="mailto:diegocarrasco@wes.c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8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diego-carrasco-vallejos-08172224/" TargetMode="External"/><Relationship Id="rId5" Type="http://schemas.openxmlformats.org/officeDocument/2006/relationships/hyperlink" Target="mailto:diegocarrasco@wes.c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6176a25220_0_0"/>
          <p:cNvPicPr preferRelativeResize="0"/>
          <p:nvPr/>
        </p:nvPicPr>
        <p:blipFill rotWithShape="1">
          <a:blip r:embed="rId3">
            <a:alphaModFix/>
          </a:blip>
          <a:srcRect l="75689" t="-10043" r="-2719" b="53428"/>
          <a:stretch/>
        </p:blipFill>
        <p:spPr>
          <a:xfrm>
            <a:off x="9448800" y="2343500"/>
            <a:ext cx="3019250" cy="45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g36176a25220_0_0"/>
          <p:cNvGrpSpPr/>
          <p:nvPr/>
        </p:nvGrpSpPr>
        <p:grpSpPr>
          <a:xfrm>
            <a:off x="-228600" y="0"/>
            <a:ext cx="7385650" cy="8295971"/>
            <a:chOff x="-228600" y="0"/>
            <a:chExt cx="7385650" cy="8295971"/>
          </a:xfrm>
        </p:grpSpPr>
        <p:pic>
          <p:nvPicPr>
            <p:cNvPr id="152" name="Google Shape;152;g36176a25220_0_0"/>
            <p:cNvPicPr preferRelativeResize="0"/>
            <p:nvPr/>
          </p:nvPicPr>
          <p:blipFill rotWithShape="1">
            <a:blip r:embed="rId3">
              <a:alphaModFix/>
            </a:blip>
            <a:srcRect l="-680" r="45361" b="14000"/>
            <a:stretch/>
          </p:blipFill>
          <p:spPr>
            <a:xfrm>
              <a:off x="-228600" y="0"/>
              <a:ext cx="6179427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g36176a25220_0_0"/>
            <p:cNvSpPr/>
            <p:nvPr/>
          </p:nvSpPr>
          <p:spPr>
            <a:xfrm rot="-2700000">
              <a:off x="1093931" y="3757445"/>
              <a:ext cx="5915938" cy="28667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g36176a2522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775" y="307200"/>
            <a:ext cx="3499700" cy="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6176a25220_0_0"/>
          <p:cNvSpPr/>
          <p:nvPr/>
        </p:nvSpPr>
        <p:spPr>
          <a:xfrm>
            <a:off x="1809497" y="5576733"/>
            <a:ext cx="34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1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Diego Carrasco Vallejos</a:t>
            </a:r>
            <a:r>
              <a:rPr lang="es-CL" sz="15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endParaRPr sz="15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1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Cofundador - Gerente de Asuntos Corporativos</a:t>
            </a:r>
            <a:endParaRPr sz="1200" b="0" i="1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sng" strike="noStrike" cap="none">
                <a:solidFill>
                  <a:srgbClr val="0563C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diegocarrasco@wes.cl</a:t>
            </a:r>
            <a:r>
              <a:rPr lang="es-CL" sz="1200" b="0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es-CL" sz="12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sz="1200" b="1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g36176a25220_0_0" descr="Free Linkedin Logo Icon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3699" y="6141471"/>
            <a:ext cx="238733" cy="2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6176a25220_0_0"/>
          <p:cNvSpPr txBox="1"/>
          <p:nvPr/>
        </p:nvSpPr>
        <p:spPr>
          <a:xfrm>
            <a:off x="10922000" y="6045200"/>
            <a:ext cx="3999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3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7 Julio 2026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g36176a25220_0_0"/>
          <p:cNvGrpSpPr/>
          <p:nvPr/>
        </p:nvGrpSpPr>
        <p:grpSpPr>
          <a:xfrm>
            <a:off x="4941250" y="2012108"/>
            <a:ext cx="4609481" cy="1247288"/>
            <a:chOff x="4026850" y="2164494"/>
            <a:chExt cx="5487477" cy="1513699"/>
          </a:xfrm>
        </p:grpSpPr>
        <p:pic>
          <p:nvPicPr>
            <p:cNvPr id="159" name="Google Shape;159;g36176a25220_0_0"/>
            <p:cNvPicPr preferRelativeResize="0"/>
            <p:nvPr/>
          </p:nvPicPr>
          <p:blipFill rotWithShape="1">
            <a:blip r:embed="rId8">
              <a:alphaModFix/>
            </a:blip>
            <a:srcRect l="25882"/>
            <a:stretch/>
          </p:blipFill>
          <p:spPr>
            <a:xfrm>
              <a:off x="5563075" y="2219075"/>
              <a:ext cx="3951252" cy="13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g36176a25220_0_0"/>
            <p:cNvPicPr preferRelativeResize="0"/>
            <p:nvPr/>
          </p:nvPicPr>
          <p:blipFill rotWithShape="1">
            <a:blip r:embed="rId9">
              <a:alphaModFix/>
            </a:blip>
            <a:srcRect r="74900"/>
            <a:stretch/>
          </p:blipFill>
          <p:spPr>
            <a:xfrm>
              <a:off x="4026850" y="2164494"/>
              <a:ext cx="1550049" cy="151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g36176a25220_0_0"/>
          <p:cNvSpPr txBox="1"/>
          <p:nvPr/>
        </p:nvSpPr>
        <p:spPr>
          <a:xfrm>
            <a:off x="4869075" y="2741075"/>
            <a:ext cx="61464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L" sz="2500" b="1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Gestión Inteligente de Agua </a:t>
            </a:r>
            <a:r>
              <a:rPr lang="es-CL" sz="25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MAM / MAQ / MAE / PAK / AEB / CUR / BOM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7828565411_0_1059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7828565411_0_1059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i="0" u="none" strike="noStrike" cap="none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SELECCIÓN DE PUNTOS</a:t>
            </a:r>
            <a:r>
              <a:rPr lang="es-CL" sz="30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 sz="1500" b="0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PRIORIZACIÓN EN BASE A FACTURACIÓN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27828565411_0_1059" title="Screenshot 2026-03-31 at 16.4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7502" y="2320395"/>
            <a:ext cx="3055259" cy="25714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69" name="Google Shape;169;g27828565411_0_1059" title="Screenshot 2026-03-31 at 16.44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119302"/>
            <a:ext cx="3045665" cy="25714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0" name="Google Shape;170;g27828565411_0_1059" title="Screenshot 2026-03-31 at 16.45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902" y="1119304"/>
            <a:ext cx="3059613" cy="25714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1" name="Google Shape;171;g27828565411_0_1059" title="Screenshot 2026-03-31 at 16.46.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6" y="3706812"/>
            <a:ext cx="3032246" cy="255211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2" name="Google Shape;172;g27828565411_0_1059" title="Screenshot 2026-03-31 at 16.46.3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5669" y="1122804"/>
            <a:ext cx="3032239" cy="256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7828565411_0_1059" title="Screenshot 2026-03-31 at 16.46.5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38960" y="3700636"/>
            <a:ext cx="3032239" cy="256443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4" name="Google Shape;174;g27828565411_0_1059" title="Screenshot 2026-03-31 at 16.47.2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77899" y="3689063"/>
            <a:ext cx="3059610" cy="25875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96bdbb4df6_0_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96bdbb4df6_0_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MAE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6bdbb4df6_0_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6bdbb4df6_0_5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4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Estanque Norte (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Locales Mall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Baños Públicos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Pizza Hut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Sala de Bomba Estanque Sur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20/10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 18 /2 /2025</a:t>
            </a: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sistemas de control: 16/06/2026: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Estanque Norte Locales Mall Control Activo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via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/Off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Baños Públicos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Cotro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instalado sin funcionamiento 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Pizza Hut Control Activo 00:00 a 06:00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Sala de Bomba Estanque Sur Control Activo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via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/Off</a:t>
            </a: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1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medioambiente.dcl@parauco.com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lang="es-CL" sz="1100" b="1" dirty="0">
                <a:solidFill>
                  <a:srgbClr val="303030"/>
                </a:solidFill>
              </a:rPr>
              <a:t>Equipo: salademonitoresmae@gmail.com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1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Sergio Fuenzalida 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Analista Gestión Ambiental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396bdbb4df6_0_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96bdbb4df6_0_5" title="Screenshot 2026-03-31 at 16.45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98" y="1244847"/>
            <a:ext cx="5632076" cy="47335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96c1ba0591_0_139"/>
          <p:cNvPicPr preferRelativeResize="0"/>
          <p:nvPr/>
        </p:nvPicPr>
        <p:blipFill rotWithShape="1">
          <a:blip r:embed="rId3">
            <a:alphaModFix/>
          </a:blip>
          <a:srcRect b="4680"/>
          <a:stretch/>
        </p:blipFill>
        <p:spPr>
          <a:xfrm>
            <a:off x="145601" y="897941"/>
            <a:ext cx="5486400" cy="235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96c1ba0591_0_139" descr="A picture containing umbrella, device,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6c1ba0591_0_139"/>
          <p:cNvSpPr txBox="1"/>
          <p:nvPr/>
        </p:nvSpPr>
        <p:spPr>
          <a:xfrm>
            <a:off x="156550" y="248925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MAE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96c1ba0591_0_139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6c1ba0591_0_139"/>
          <p:cNvSpPr txBox="1"/>
          <p:nvPr/>
        </p:nvSpPr>
        <p:spPr>
          <a:xfrm>
            <a:off x="6631324" y="80467"/>
            <a:ext cx="5632704" cy="6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76200" rIns="76200" bIns="50800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Respecto al total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monitoreable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entre mayo y junio</a:t>
            </a: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Estanque Sur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50,2%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Pizza Hut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19,3%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Estanque Norte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18,5%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Baños Públicos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12,1%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Respecto al total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monitoreable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anual.</a:t>
            </a: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Estanque Sur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60,1%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Pizza Hut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13,9%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Estanque Norte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13,5%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Baños Públicos = </a:t>
            </a:r>
            <a:r>
              <a:rPr lang="es-CL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12,5%</a:t>
            </a:r>
          </a:p>
          <a:p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Estanque Sur y Estanque Norte está habilitado el sistema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</a:t>
            </a: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/off, gestionado por el servicio de cámaras del mall.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Pizza Hut el control automático se mantiene de 00:00 a 06:00 </a:t>
            </a:r>
            <a:r>
              <a:rPr lang="es-CL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hrs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1600" marR="609583" lvl="1" indent="457200" defTabSz="36000">
              <a:spcBef>
                <a:spcPts val="600"/>
              </a:spcBef>
              <a:spcAft>
                <a:spcPts val="300"/>
              </a:spcAft>
              <a:buClr>
                <a:srgbClr val="595959"/>
              </a:buClr>
              <a:buSzPts val="2000"/>
            </a:pPr>
            <a:r>
              <a:rPr dirty="0"/>
              <a:t>.</a:t>
            </a:r>
          </a:p>
        </p:txBody>
      </p:sp>
      <p:pic>
        <p:nvPicPr>
          <p:cNvPr id="197" name="Google Shape;197;g396c1ba0591_0_139" title="Screenshot 2026-04-01 at 09.26.38.png"/>
          <p:cNvPicPr preferRelativeResize="0"/>
          <p:nvPr/>
        </p:nvPicPr>
        <p:blipFill rotWithShape="1">
          <a:blip r:embed="rId5">
            <a:alphaModFix/>
          </a:blip>
          <a:srcRect l="554" r="544"/>
          <a:stretch/>
        </p:blipFill>
        <p:spPr>
          <a:xfrm>
            <a:off x="1313078" y="5294376"/>
            <a:ext cx="4206240" cy="128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96c1ba0591_0_139" title="Screenshot 2026-04-01 at 09.26.0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5296" y="3630168"/>
            <a:ext cx="4169663" cy="138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96c1ba0591_0_139" title="Screenshot 2026-04-01 at 09.29.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1580" y="3257093"/>
            <a:ext cx="4206240" cy="138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96c1ba0591_0_139" title="Screenshot 2026-04-01 at 09.30.3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3653" y="4977177"/>
            <a:ext cx="4160520" cy="1390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TextBox 201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Sur periodo 1/5/2026 a 7/7/2026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137933" y="4728786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</a:t>
            </a:r>
            <a:r>
              <a:rPr sz="1000" b="1" i="1" dirty="0" err="1"/>
              <a:t>Baños</a:t>
            </a:r>
            <a:r>
              <a:rPr sz="1000" b="1" i="1" dirty="0"/>
              <a:t> </a:t>
            </a:r>
            <a:r>
              <a:rPr sz="1000" b="1" i="1" dirty="0" err="1"/>
              <a:t>Públicos</a:t>
            </a:r>
            <a:r>
              <a:rPr sz="1000" b="1" i="1" dirty="0"/>
              <a:t> </a:t>
            </a:r>
            <a:r>
              <a:rPr sz="1000" b="1" i="1" dirty="0" err="1"/>
              <a:t>periodo</a:t>
            </a:r>
            <a:r>
              <a:rPr sz="1000" b="1" i="1" dirty="0"/>
              <a:t> 1/5/2026 a 7/7/2026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316736" y="6400800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Norte Locales Mall periodo 1/5/2026 a 7/7/2026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962502" y="6479151"/>
            <a:ext cx="416052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Pizza Hut </a:t>
            </a:r>
            <a:r>
              <a:rPr sz="1000" b="1" i="1" dirty="0" err="1"/>
              <a:t>periodo</a:t>
            </a:r>
            <a:r>
              <a:rPr sz="1000" b="1" i="1" dirty="0"/>
              <a:t> 1/5/2026 a 7/7/2026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8"/>
            <a:ext cx="5632704" cy="209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  <a:p>
            <a:r>
              <a:rPr dirty="0" err="1"/>
              <a:t>Comparación</a:t>
            </a:r>
            <a:r>
              <a:rPr dirty="0"/>
              <a:t> nocturn</a:t>
            </a:r>
            <a:r>
              <a:rPr lang="es-MX" dirty="0"/>
              <a:t>a: </a:t>
            </a:r>
            <a:r>
              <a:rPr dirty="0" err="1"/>
              <a:t>lun</a:t>
            </a:r>
            <a:r>
              <a:rPr dirty="0"/>
              <a:t> 4/5 (sin control) vs 18/06 (control on/off)</a:t>
            </a:r>
            <a:r>
              <a:rPr lang="es-MX" dirty="0"/>
              <a:t>.</a:t>
            </a:r>
          </a:p>
          <a:p>
            <a:endParaRPr dirty="0"/>
          </a:p>
          <a:p>
            <a:r>
              <a:rPr dirty="0" err="1"/>
              <a:t>Estanque</a:t>
            </a:r>
            <a:r>
              <a:rPr dirty="0"/>
              <a:t> Sur 0–8 h: 13 m³ → 2,8 m³ (-</a:t>
            </a:r>
            <a:r>
              <a:rPr b="1" dirty="0"/>
              <a:t>79%</a:t>
            </a:r>
            <a:r>
              <a:rPr dirty="0"/>
              <a:t>).</a:t>
            </a:r>
            <a:endParaRPr lang="es-MX" dirty="0"/>
          </a:p>
          <a:p>
            <a:endParaRPr dirty="0"/>
          </a:p>
          <a:p>
            <a:r>
              <a:rPr dirty="0" err="1"/>
              <a:t>Estanque</a:t>
            </a:r>
            <a:r>
              <a:rPr dirty="0"/>
              <a:t> Norte 0–8 h: 8,3 m³ → 1,5 m³ (-</a:t>
            </a:r>
            <a:r>
              <a:rPr b="1" dirty="0"/>
              <a:t>82%</a:t>
            </a:r>
            <a:r>
              <a:rPr dirty="0"/>
              <a:t>).</a:t>
            </a:r>
            <a:endParaRPr lang="es-MX" dirty="0"/>
          </a:p>
          <a:p>
            <a:endParaRPr dirty="0"/>
          </a:p>
          <a:p>
            <a:r>
              <a:rPr dirty="0" err="1"/>
              <a:t>Oportunidad</a:t>
            </a:r>
            <a:r>
              <a:rPr dirty="0"/>
              <a:t> de </a:t>
            </a:r>
            <a:r>
              <a:rPr dirty="0" err="1"/>
              <a:t>ahorro</a:t>
            </a:r>
            <a:r>
              <a:rPr dirty="0"/>
              <a:t> al </a:t>
            </a:r>
            <a:r>
              <a:rPr dirty="0" err="1"/>
              <a:t>replicar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control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horario</a:t>
            </a:r>
            <a:r>
              <a:rPr dirty="0"/>
              <a:t> </a:t>
            </a:r>
            <a:r>
              <a:rPr dirty="0" err="1"/>
              <a:t>inhábil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50" y="604840"/>
            <a:ext cx="5939450" cy="2322418"/>
          </a:xfrm>
          <a:prstGeom prst="rect">
            <a:avLst/>
          </a:prstGeom>
        </p:spPr>
      </p:pic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516" y="2137502"/>
            <a:ext cx="5493650" cy="2094546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0" y="2927258"/>
            <a:ext cx="5994000" cy="2322418"/>
          </a:xfrm>
          <a:prstGeom prst="rect">
            <a:avLst/>
          </a:prstGeom>
        </p:spPr>
      </p:pic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584" y="4232048"/>
            <a:ext cx="5493650" cy="1860028"/>
          </a:xfrm>
          <a:prstGeom prst="rect">
            <a:avLst/>
          </a:prstGeom>
        </p:spPr>
      </p:pic>
      <p:sp>
        <p:nvSpPr>
          <p:cNvPr id="248" name="TextBox 247"/>
          <p:cNvSpPr txBox="1"/>
          <p:nvPr/>
        </p:nvSpPr>
        <p:spPr>
          <a:xfrm>
            <a:off x="1116788" y="5172732"/>
            <a:ext cx="4482900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Estanque</a:t>
            </a:r>
            <a:r>
              <a:rPr sz="1000" b="1" i="1" dirty="0"/>
              <a:t> Norte - lunes 4/5 y </a:t>
            </a:r>
            <a:r>
              <a:rPr sz="1000" b="1" i="1" dirty="0" err="1"/>
              <a:t>jueves</a:t>
            </a:r>
            <a:r>
              <a:rPr sz="1000" b="1" i="1" dirty="0"/>
              <a:t> 18/6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858212" y="6230562"/>
            <a:ext cx="4430597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Estanque</a:t>
            </a:r>
            <a:r>
              <a:rPr sz="1000" b="1" i="1" dirty="0"/>
              <a:t> Sur - lunes 4/5 y </a:t>
            </a:r>
            <a:r>
              <a:rPr sz="1000" b="1" i="1" dirty="0" err="1"/>
              <a:t>jueves</a:t>
            </a:r>
            <a:r>
              <a:rPr sz="1000" b="1" i="1" dirty="0"/>
              <a:t> 18/6</a:t>
            </a:r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1147AED6-9636-4BA0-0DE1-89F48FF5D7E4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MAE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7"/>
            <a:ext cx="5632704" cy="337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Reparación Presostato 10/6 (Validado con Mantención MAE)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día de la reparación se produce una baja en el consumó en el estanque sur del un -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53%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Estanque Sur: promedio 1–9/jun 83,1 m³/día → 10/jun 38,7 m³/día.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Motivos que pueden provocar esta baja de </a:t>
            </a:r>
            <a:r>
              <a:rPr lang="es-CL" sz="12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conusmo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por presostato.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sistema dejó de presurizar la red de forma innecesaria.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Disminución de fugas por alta presión.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control volvió a operar dentro de los rangos de diseño.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 eliminó un funcionamiento continuo.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Punto Pizza Hut </a:t>
            </a:r>
          </a:p>
          <a:p>
            <a:pPr marL="90170">
              <a:lnSpc>
                <a:spcPct val="115000"/>
              </a:lnSpc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Desde el día 18-06 mantiene control nocturno automatizado de 00:00 a 06:00</a:t>
            </a:r>
          </a:p>
          <a:p>
            <a:pPr marL="90170">
              <a:lnSpc>
                <a:spcPct val="115000"/>
              </a:lnSpc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Punto Sector baño guardias tiene oportunidad ahorro activando el punto de control.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0508"/>
            <a:ext cx="6095999" cy="2240280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1187345" y="3156627"/>
            <a:ext cx="423909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</a:t>
            </a:r>
            <a:r>
              <a:rPr sz="1000" b="1" i="1" dirty="0" err="1"/>
              <a:t>Estanque</a:t>
            </a:r>
            <a:r>
              <a:rPr sz="1000" b="1" i="1" dirty="0"/>
              <a:t> Sur — </a:t>
            </a:r>
            <a:r>
              <a:rPr sz="1000" b="1" i="1" dirty="0" err="1"/>
              <a:t>junio</a:t>
            </a:r>
            <a:r>
              <a:rPr sz="1000" b="1" i="1" dirty="0"/>
              <a:t> 2026 (</a:t>
            </a:r>
            <a:r>
              <a:rPr sz="1000" b="1" i="1" dirty="0" err="1"/>
              <a:t>evento</a:t>
            </a:r>
            <a:r>
              <a:rPr sz="1000" b="1" i="1" dirty="0"/>
              <a:t> 10/06)</a:t>
            </a:r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C3F77833-E4A0-97FE-D2F4-ECF2C691B4E7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MAE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25" descr="image.png">
            <a:extLst>
              <a:ext uri="{FF2B5EF4-FFF2-40B4-BE49-F238E27FC236}">
                <a16:creationId xmlns:a16="http://schemas.microsoft.com/office/drawing/2014/main" id="{37420815-F846-3450-C4B9-EC1D825CF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938" y="3492693"/>
            <a:ext cx="5510174" cy="2514600"/>
          </a:xfrm>
          <a:prstGeom prst="rect">
            <a:avLst/>
          </a:prstGeom>
        </p:spPr>
      </p:pic>
      <p:sp>
        <p:nvSpPr>
          <p:cNvPr id="4" name="TextBox 227">
            <a:extLst>
              <a:ext uri="{FF2B5EF4-FFF2-40B4-BE49-F238E27FC236}">
                <a16:creationId xmlns:a16="http://schemas.microsoft.com/office/drawing/2014/main" id="{950267E0-02A0-93D1-7383-F225885E7FFB}"/>
              </a:ext>
            </a:extLst>
          </p:cNvPr>
          <p:cNvSpPr txBox="1"/>
          <p:nvPr/>
        </p:nvSpPr>
        <p:spPr>
          <a:xfrm>
            <a:off x="6681989" y="6147111"/>
            <a:ext cx="5510174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Baños</a:t>
            </a:r>
            <a:r>
              <a:rPr sz="1000" b="1" i="1" dirty="0"/>
              <a:t> </a:t>
            </a:r>
            <a:r>
              <a:rPr sz="1000" b="1" i="1" dirty="0" err="1"/>
              <a:t>Públicos</a:t>
            </a:r>
            <a:r>
              <a:rPr sz="1000" b="1" i="1" dirty="0"/>
              <a:t> - </a:t>
            </a:r>
            <a:r>
              <a:rPr sz="1000" b="1" i="1" dirty="0" err="1"/>
              <a:t>jueves</a:t>
            </a:r>
            <a:r>
              <a:rPr sz="1000" b="1" i="1" dirty="0"/>
              <a:t> 18/6 (</a:t>
            </a:r>
            <a:r>
              <a:rPr sz="1000" b="1" i="1" dirty="0" err="1"/>
              <a:t>sistema</a:t>
            </a:r>
            <a:r>
              <a:rPr sz="1000" b="1" i="1" dirty="0"/>
              <a:t> </a:t>
            </a:r>
            <a:r>
              <a:rPr sz="1000" b="1" i="1" dirty="0" err="1"/>
              <a:t>validado</a:t>
            </a:r>
            <a:r>
              <a:rPr sz="1000" b="1" i="1" dirty="0"/>
              <a:t>)</a:t>
            </a:r>
          </a:p>
        </p:txBody>
      </p:sp>
      <p:pic>
        <p:nvPicPr>
          <p:cNvPr id="5" name="Picture 226" descr="image.png">
            <a:extLst>
              <a:ext uri="{FF2B5EF4-FFF2-40B4-BE49-F238E27FC236}">
                <a16:creationId xmlns:a16="http://schemas.microsoft.com/office/drawing/2014/main" id="{83F04607-389D-631B-0889-D546F6E86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549" y="3413279"/>
            <a:ext cx="5939449" cy="2514600"/>
          </a:xfrm>
          <a:prstGeom prst="rect">
            <a:avLst/>
          </a:prstGeom>
        </p:spPr>
      </p:pic>
      <p:sp>
        <p:nvSpPr>
          <p:cNvPr id="6" name="TextBox 228">
            <a:extLst>
              <a:ext uri="{FF2B5EF4-FFF2-40B4-BE49-F238E27FC236}">
                <a16:creationId xmlns:a16="http://schemas.microsoft.com/office/drawing/2014/main" id="{E235120D-3C7B-32A6-F71C-6DD36A5AA638}"/>
              </a:ext>
            </a:extLst>
          </p:cNvPr>
          <p:cNvSpPr txBox="1"/>
          <p:nvPr/>
        </p:nvSpPr>
        <p:spPr>
          <a:xfrm>
            <a:off x="585824" y="6108755"/>
            <a:ext cx="5510174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Pizza Hut - </a:t>
            </a:r>
            <a:r>
              <a:rPr sz="1000" b="1" i="1" dirty="0" err="1"/>
              <a:t>jueves</a:t>
            </a:r>
            <a:r>
              <a:rPr sz="1000" b="1" i="1" dirty="0"/>
              <a:t> 18/6 (control </a:t>
            </a:r>
            <a:r>
              <a:rPr sz="1000" b="1" i="1" dirty="0" err="1"/>
              <a:t>activo</a:t>
            </a:r>
            <a:r>
              <a:rPr sz="1000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789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6bdbb4df6_0_28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MAM - ANÁLISIS CONSUMOS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6bdbb4df6_0_28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96bdbb4df6_0_28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Placa bancaria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Impulsión Falabella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Impulsión Ripley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Pasillo Técnico Boulevard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Salida emergencia pasillo 1 ARROW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 6 /11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14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Miguel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Rupayan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Encargado de Operaciones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Constanza Vilches: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 Mantenimiento: C. Bustamante, O. Cuevas y Supervisor Eléctrico 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1" name="Google Shape;231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96bdbb4df6_0_28" title="Screenshot 2026-03-31 at 16.44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50" y="1247548"/>
            <a:ext cx="5630400" cy="475376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6bdbb4df6_0_28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MAM - ANÁLISIS CONSUMOS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6bdbb4df6_0_28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Picture 2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32" name="Picture 2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564" y="3694567"/>
            <a:ext cx="5272669" cy="2554252"/>
          </a:xfrm>
          <a:prstGeom prst="rect">
            <a:avLst/>
          </a:prstGeom>
        </p:spPr>
      </p:pic>
      <p:pic>
        <p:nvPicPr>
          <p:cNvPr id="233" name="Picture 2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572525"/>
            <a:ext cx="5486400" cy="1965960"/>
          </a:xfrm>
          <a:prstGeom prst="rect">
            <a:avLst/>
          </a:prstGeom>
        </p:spPr>
      </p:pic>
      <p:pic>
        <p:nvPicPr>
          <p:cNvPr id="234" name="Picture 2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722" y="5856239"/>
            <a:ext cx="3915036" cy="679543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6556248" y="0"/>
            <a:ext cx="563270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dirty="0" err="1"/>
              <a:t>Respecto</a:t>
            </a:r>
            <a:r>
              <a:rPr sz="1200" dirty="0"/>
              <a:t> al total </a:t>
            </a:r>
            <a:r>
              <a:rPr sz="1200" dirty="0" err="1"/>
              <a:t>monitoreable</a:t>
            </a:r>
            <a:r>
              <a:rPr sz="1200" dirty="0"/>
              <a:t> entre mayo y </a:t>
            </a:r>
            <a:r>
              <a:rPr sz="1200" dirty="0" err="1"/>
              <a:t>junio</a:t>
            </a:r>
            <a:endParaRPr sz="1200" dirty="0"/>
          </a:p>
          <a:p>
            <a:pPr>
              <a:buNone/>
            </a:pPr>
            <a:r>
              <a:rPr sz="1200" dirty="0" err="1"/>
              <a:t>Placa</a:t>
            </a:r>
            <a:r>
              <a:rPr sz="1200" dirty="0"/>
              <a:t> </a:t>
            </a:r>
            <a:r>
              <a:rPr sz="1200" dirty="0" err="1"/>
              <a:t>Bancaria</a:t>
            </a:r>
            <a:r>
              <a:rPr sz="1200" dirty="0"/>
              <a:t> = </a:t>
            </a:r>
            <a:r>
              <a:rPr sz="1200" b="1" dirty="0"/>
              <a:t>73,8%</a:t>
            </a:r>
          </a:p>
          <a:p>
            <a:pPr>
              <a:buNone/>
            </a:pPr>
            <a:r>
              <a:rPr sz="1200" dirty="0" err="1"/>
              <a:t>Impulsión</a:t>
            </a:r>
            <a:r>
              <a:rPr sz="1200" dirty="0"/>
              <a:t> Ripley = </a:t>
            </a:r>
            <a:r>
              <a:rPr sz="1200" b="1" dirty="0"/>
              <a:t>25,9%</a:t>
            </a:r>
          </a:p>
          <a:p>
            <a:pPr>
              <a:buNone/>
            </a:pPr>
            <a:r>
              <a:rPr sz="1200" dirty="0" err="1"/>
              <a:t>Matriz</a:t>
            </a:r>
            <a:r>
              <a:rPr sz="1200" dirty="0"/>
              <a:t> Pasillo </a:t>
            </a:r>
            <a:r>
              <a:rPr sz="1200" dirty="0" err="1"/>
              <a:t>Tecnico</a:t>
            </a:r>
            <a:r>
              <a:rPr sz="1200" dirty="0"/>
              <a:t> Boulevard = </a:t>
            </a:r>
            <a:r>
              <a:rPr sz="1200" b="1" dirty="0"/>
              <a:t>0,3%</a:t>
            </a:r>
          </a:p>
          <a:p>
            <a:pPr>
              <a:buNone/>
            </a:pPr>
            <a:r>
              <a:rPr sz="1200" dirty="0"/>
              <a:t>Salida de </a:t>
            </a:r>
            <a:r>
              <a:rPr sz="1200" dirty="0" err="1"/>
              <a:t>emergencia</a:t>
            </a:r>
            <a:r>
              <a:rPr sz="1200" dirty="0"/>
              <a:t> pasillo 1 ARROW = </a:t>
            </a:r>
            <a:r>
              <a:rPr sz="1200" b="1" dirty="0"/>
              <a:t>0%</a:t>
            </a:r>
          </a:p>
          <a:p>
            <a:pPr>
              <a:buNone/>
            </a:pPr>
            <a:endParaRPr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dirty="0" err="1"/>
              <a:t>Respecto</a:t>
            </a:r>
            <a:r>
              <a:rPr sz="1200" dirty="0"/>
              <a:t> al total </a:t>
            </a:r>
            <a:r>
              <a:rPr sz="1200" dirty="0" err="1"/>
              <a:t>monitoreable</a:t>
            </a:r>
            <a:r>
              <a:rPr sz="1200" dirty="0"/>
              <a:t> </a:t>
            </a:r>
            <a:r>
              <a:rPr sz="1200" dirty="0" err="1"/>
              <a:t>anual</a:t>
            </a:r>
            <a:endParaRPr sz="1200" dirty="0"/>
          </a:p>
          <a:p>
            <a:pPr>
              <a:buNone/>
            </a:pPr>
            <a:r>
              <a:rPr sz="1200" dirty="0" err="1"/>
              <a:t>Placa</a:t>
            </a:r>
            <a:r>
              <a:rPr sz="1200" dirty="0"/>
              <a:t> </a:t>
            </a:r>
            <a:r>
              <a:rPr sz="1200" dirty="0" err="1"/>
              <a:t>Bancaria</a:t>
            </a:r>
            <a:r>
              <a:rPr sz="1200" dirty="0"/>
              <a:t> = </a:t>
            </a:r>
            <a:r>
              <a:rPr sz="1200" b="1" dirty="0"/>
              <a:t>67,9%</a:t>
            </a:r>
          </a:p>
          <a:p>
            <a:pPr>
              <a:buNone/>
            </a:pPr>
            <a:r>
              <a:rPr sz="1200" dirty="0" err="1"/>
              <a:t>Impulsión</a:t>
            </a:r>
            <a:r>
              <a:rPr sz="1200" dirty="0"/>
              <a:t> Ripley = </a:t>
            </a:r>
            <a:r>
              <a:rPr sz="1200" b="1" dirty="0"/>
              <a:t>31,6%</a:t>
            </a:r>
          </a:p>
          <a:p>
            <a:pPr>
              <a:buNone/>
            </a:pPr>
            <a:r>
              <a:rPr sz="1200" dirty="0" err="1"/>
              <a:t>Matriz</a:t>
            </a:r>
            <a:r>
              <a:rPr sz="1200" dirty="0"/>
              <a:t> Pasillo </a:t>
            </a:r>
            <a:r>
              <a:rPr sz="1200" dirty="0" err="1"/>
              <a:t>Tecnico</a:t>
            </a:r>
            <a:r>
              <a:rPr sz="1200" dirty="0"/>
              <a:t> Boulevard = </a:t>
            </a:r>
            <a:r>
              <a:rPr sz="1200" b="1" dirty="0"/>
              <a:t>0,4%</a:t>
            </a:r>
          </a:p>
          <a:p>
            <a:pPr>
              <a:buNone/>
            </a:pPr>
            <a:r>
              <a:rPr sz="1200" dirty="0"/>
              <a:t>Salida de </a:t>
            </a:r>
            <a:r>
              <a:rPr sz="1200" dirty="0" err="1"/>
              <a:t>emergencia</a:t>
            </a:r>
            <a:r>
              <a:rPr sz="1200" dirty="0"/>
              <a:t> pasillo 1 ARROW = </a:t>
            </a:r>
            <a:r>
              <a:rPr sz="1200" b="1" dirty="0"/>
              <a:t>0%</a:t>
            </a:r>
          </a:p>
          <a:p>
            <a:pPr>
              <a:buNone/>
            </a:pPr>
            <a:endParaRPr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dirty="0" err="1"/>
              <a:t>Respecto</a:t>
            </a:r>
            <a:r>
              <a:rPr sz="1200" dirty="0"/>
              <a:t> a la </a:t>
            </a:r>
            <a:r>
              <a:rPr sz="1200" dirty="0" err="1"/>
              <a:t>imputación</a:t>
            </a:r>
            <a:r>
              <a:rPr sz="1200" dirty="0"/>
              <a:t> </a:t>
            </a:r>
            <a:r>
              <a:rPr sz="1200" dirty="0" err="1"/>
              <a:t>Falabella</a:t>
            </a:r>
            <a:r>
              <a:rPr sz="1200" dirty="0"/>
              <a:t>:</a:t>
            </a:r>
          </a:p>
          <a:p>
            <a:pPr>
              <a:buNone/>
            </a:pPr>
            <a:r>
              <a:rPr sz="1200" dirty="0" err="1"/>
              <a:t>Impulsión</a:t>
            </a:r>
            <a:r>
              <a:rPr sz="1200" dirty="0"/>
              <a:t> </a:t>
            </a:r>
            <a:r>
              <a:rPr sz="1200" dirty="0" err="1"/>
              <a:t>Falabella</a:t>
            </a:r>
            <a:r>
              <a:rPr sz="1200" dirty="0"/>
              <a:t>: a la </a:t>
            </a:r>
            <a:r>
              <a:rPr sz="1200" dirty="0" err="1"/>
              <a:t>espera</a:t>
            </a:r>
            <a:r>
              <a:rPr sz="1200" dirty="0"/>
              <a:t> de la OC para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cambio</a:t>
            </a:r>
            <a:r>
              <a:rPr sz="1200" dirty="0"/>
              <a:t> de </a:t>
            </a:r>
            <a:r>
              <a:rPr sz="1200" dirty="0" err="1"/>
              <a:t>equipo</a:t>
            </a:r>
            <a:r>
              <a:rPr sz="1200" dirty="0"/>
              <a:t> (</a:t>
            </a:r>
            <a:r>
              <a:rPr sz="1200" dirty="0" err="1"/>
              <a:t>medición</a:t>
            </a:r>
            <a:r>
              <a:rPr sz="1200" dirty="0"/>
              <a:t> </a:t>
            </a:r>
            <a:r>
              <a:rPr sz="1200" dirty="0" err="1"/>
              <a:t>excluida</a:t>
            </a:r>
            <a:r>
              <a:rPr sz="1200" dirty="0"/>
              <a:t> del total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falla</a:t>
            </a:r>
            <a:r>
              <a:rPr sz="1200" dirty="0"/>
              <a:t> de </a:t>
            </a:r>
            <a:r>
              <a:rPr sz="1200" dirty="0" err="1"/>
              <a:t>equipo</a:t>
            </a:r>
            <a:r>
              <a:rPr sz="1200" dirty="0"/>
              <a:t>).</a:t>
            </a:r>
          </a:p>
          <a:p>
            <a:pPr>
              <a:buNone/>
            </a:pPr>
            <a:endParaRPr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dirty="0" err="1"/>
              <a:t>Respecto</a:t>
            </a:r>
            <a:r>
              <a:rPr sz="1200" dirty="0"/>
              <a:t> a la </a:t>
            </a:r>
            <a:r>
              <a:rPr sz="1200" dirty="0" err="1"/>
              <a:t>auditoría</a:t>
            </a:r>
            <a:r>
              <a:rPr sz="1200" dirty="0"/>
              <a:t> (</a:t>
            </a:r>
            <a:r>
              <a:rPr sz="1200" dirty="0" err="1"/>
              <a:t>Placa</a:t>
            </a:r>
            <a:r>
              <a:rPr sz="1200" dirty="0"/>
              <a:t> </a:t>
            </a:r>
            <a:r>
              <a:rPr sz="1200" dirty="0" err="1"/>
              <a:t>Bancaria</a:t>
            </a:r>
            <a:r>
              <a:rPr sz="1200" dirty="0"/>
              <a:t>):</a:t>
            </a:r>
          </a:p>
          <a:p>
            <a:pPr>
              <a:buNone/>
            </a:pPr>
            <a:r>
              <a:rPr sz="1200" dirty="0" err="1"/>
              <a:t>Desde</a:t>
            </a:r>
            <a:r>
              <a:rPr sz="1200" dirty="0"/>
              <a:t> </a:t>
            </a:r>
            <a:r>
              <a:rPr sz="1200" dirty="0" err="1"/>
              <a:t>el</a:t>
            </a:r>
            <a:r>
              <a:rPr sz="1200" dirty="0"/>
              <a:t> 18/6/2026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diario</a:t>
            </a:r>
            <a:r>
              <a:rPr sz="1200" dirty="0"/>
              <a:t> </a:t>
            </a:r>
            <a:r>
              <a:rPr sz="1200" dirty="0" err="1"/>
              <a:t>promedio</a:t>
            </a:r>
            <a:r>
              <a:rPr sz="1200" dirty="0"/>
              <a:t> </a:t>
            </a:r>
            <a:r>
              <a:rPr sz="1200" dirty="0" err="1"/>
              <a:t>aumentó</a:t>
            </a:r>
            <a:r>
              <a:rPr sz="1200" dirty="0"/>
              <a:t> </a:t>
            </a:r>
            <a:r>
              <a:rPr sz="1200" b="1" dirty="0"/>
              <a:t>85,6%</a:t>
            </a:r>
            <a:r>
              <a:rPr sz="1200" dirty="0"/>
              <a:t> (de 175,3 a 325,4 m³/día).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148077" y="6423956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Ripley </a:t>
            </a:r>
            <a:r>
              <a:rPr sz="1000" b="1" i="1" dirty="0" err="1"/>
              <a:t>periodo</a:t>
            </a:r>
            <a:r>
              <a:rPr sz="1000" b="1" i="1" dirty="0"/>
              <a:t> 1/5/2026 a 7/7/2026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0040" y="5641848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Placa Bancaria periodo 1/5/2026 a 7/7/2026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60120" y="6551972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Impulsión</a:t>
            </a:r>
            <a:r>
              <a:rPr sz="1000" b="1" i="1" dirty="0"/>
              <a:t> </a:t>
            </a:r>
            <a:r>
              <a:rPr sz="1000" b="1" i="1" dirty="0" err="1"/>
              <a:t>Falabella</a:t>
            </a:r>
            <a:r>
              <a:rPr sz="1000" b="1" i="1" dirty="0"/>
              <a:t> — a la </a:t>
            </a:r>
            <a:r>
              <a:rPr sz="1000" b="1" i="1" dirty="0" err="1"/>
              <a:t>espera</a:t>
            </a:r>
            <a:r>
              <a:rPr sz="1000" b="1" i="1" dirty="0"/>
              <a:t> OC (</a:t>
            </a:r>
            <a:r>
              <a:rPr sz="1000" b="1" i="1" dirty="0" err="1"/>
              <a:t>cambio</a:t>
            </a:r>
            <a:r>
              <a:rPr sz="1000" b="1" i="1" dirty="0"/>
              <a:t> </a:t>
            </a:r>
            <a:r>
              <a:rPr sz="1000" b="1" i="1" dirty="0" err="1"/>
              <a:t>equipo</a:t>
            </a:r>
            <a:r>
              <a:rPr sz="1000" b="1" i="1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MAM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TextBox 318"/>
          <p:cNvSpPr txBox="1"/>
          <p:nvPr/>
        </p:nvSpPr>
        <p:spPr>
          <a:xfrm>
            <a:off x="6559905" y="138988"/>
            <a:ext cx="5632704" cy="409342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sz="1200" dirty="0" err="1"/>
              <a:t>Impulsión</a:t>
            </a:r>
            <a:r>
              <a:rPr sz="1200" dirty="0"/>
              <a:t> Ripley —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nocturno</a:t>
            </a:r>
            <a:r>
              <a:rPr sz="1200" dirty="0"/>
              <a:t> (0–8 h).</a:t>
            </a:r>
          </a:p>
          <a:p>
            <a:pPr>
              <a:buNone/>
            </a:pPr>
            <a:endParaRPr sz="1200" dirty="0"/>
          </a:p>
          <a:p>
            <a:pPr>
              <a:buChar char=""/>
            </a:pPr>
            <a:r>
              <a:rPr sz="1200" dirty="0"/>
              <a:t>En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período</a:t>
            </a:r>
            <a:r>
              <a:rPr sz="1200" dirty="0"/>
              <a:t> </a:t>
            </a:r>
            <a:r>
              <a:rPr sz="1200" dirty="0" err="1"/>
              <a:t>analizado</a:t>
            </a:r>
            <a:r>
              <a:rPr sz="1200" dirty="0"/>
              <a:t>,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nocturno</a:t>
            </a:r>
            <a:r>
              <a:rPr sz="1200" dirty="0"/>
              <a:t> </a:t>
            </a:r>
            <a:r>
              <a:rPr sz="1200" dirty="0" err="1"/>
              <a:t>tiende</a:t>
            </a:r>
            <a:r>
              <a:rPr sz="1200" dirty="0"/>
              <a:t> a cero (</a:t>
            </a:r>
            <a:r>
              <a:rPr sz="1200" b="1" dirty="0"/>
              <a:t>40%</a:t>
            </a:r>
            <a:r>
              <a:rPr sz="1200" dirty="0"/>
              <a:t> de las </a:t>
            </a:r>
            <a:r>
              <a:rPr sz="1200" dirty="0" err="1"/>
              <a:t>noches</a:t>
            </a:r>
            <a:r>
              <a:rPr sz="1200" dirty="0"/>
              <a:t> sin </a:t>
            </a:r>
            <a:r>
              <a:rPr sz="1200" dirty="0" err="1"/>
              <a:t>flujo</a:t>
            </a:r>
            <a:r>
              <a:rPr sz="1200" dirty="0"/>
              <a:t> </a:t>
            </a:r>
            <a:r>
              <a:rPr sz="1200" dirty="0" err="1"/>
              <a:t>significativo</a:t>
            </a:r>
            <a:r>
              <a:rPr sz="1200" dirty="0"/>
              <a:t>).</a:t>
            </a:r>
          </a:p>
          <a:p>
            <a:pPr>
              <a:buNone/>
            </a:pPr>
            <a:r>
              <a:rPr sz="1200" dirty="0"/>
              <a:t>Lun 4/5: </a:t>
            </a:r>
            <a:r>
              <a:rPr sz="1200" dirty="0" err="1"/>
              <a:t>nocturno</a:t>
            </a:r>
            <a:r>
              <a:rPr sz="1200" dirty="0"/>
              <a:t> = 0,01 m³ (</a:t>
            </a:r>
            <a:r>
              <a:rPr sz="1200" dirty="0" err="1"/>
              <a:t>patrón</a:t>
            </a:r>
            <a:r>
              <a:rPr sz="1200" dirty="0"/>
              <a:t> </a:t>
            </a:r>
            <a:r>
              <a:rPr sz="1200" dirty="0" err="1"/>
              <a:t>esperado</a:t>
            </a:r>
            <a:r>
              <a:rPr sz="1200" dirty="0"/>
              <a:t> con mall </a:t>
            </a:r>
            <a:r>
              <a:rPr sz="1200" dirty="0" err="1"/>
              <a:t>cerrado</a:t>
            </a:r>
            <a:r>
              <a:rPr sz="1200" dirty="0"/>
              <a:t>).</a:t>
            </a:r>
          </a:p>
          <a:p>
            <a:pPr>
              <a:buNone/>
            </a:pPr>
            <a:r>
              <a:rPr sz="1200" dirty="0"/>
              <a:t>Lun 8/6: </a:t>
            </a:r>
            <a:r>
              <a:rPr sz="1200" dirty="0" err="1"/>
              <a:t>nocturno</a:t>
            </a:r>
            <a:r>
              <a:rPr sz="1200" dirty="0"/>
              <a:t> = 31,6 m³ (</a:t>
            </a:r>
            <a:r>
              <a:rPr sz="1200" dirty="0" err="1"/>
              <a:t>pico</a:t>
            </a:r>
            <a:r>
              <a:rPr sz="1200" dirty="0"/>
              <a:t> 3,66 m³/h) — día con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horario</a:t>
            </a:r>
            <a:r>
              <a:rPr sz="1200" dirty="0"/>
              <a:t> </a:t>
            </a:r>
            <a:r>
              <a:rPr sz="1200" dirty="0" err="1"/>
              <a:t>inhábil</a:t>
            </a:r>
            <a:r>
              <a:rPr sz="1200" dirty="0"/>
              <a:t>.</a:t>
            </a:r>
          </a:p>
          <a:p>
            <a:pPr>
              <a:buNone/>
            </a:pPr>
            <a:endParaRPr sz="1200" dirty="0"/>
          </a:p>
          <a:p>
            <a:pPr marL="171450" lvl="0" indent="-171450"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sz="1200" dirty="0" err="1"/>
              <a:t>Recomendación</a:t>
            </a:r>
            <a:r>
              <a:rPr sz="1200" dirty="0"/>
              <a:t>:</a:t>
            </a:r>
          </a:p>
          <a:p>
            <a:pPr>
              <a:buNone/>
              <a:tabLst>
                <a:tab pos="270510" algn="l"/>
              </a:tabLst>
            </a:pPr>
            <a:endParaRPr sz="1200" dirty="0"/>
          </a:p>
          <a:p>
            <a:pPr>
              <a:buNone/>
            </a:pPr>
            <a:r>
              <a:rPr sz="1200" dirty="0" err="1"/>
              <a:t>Activar</a:t>
            </a:r>
            <a:r>
              <a:rPr sz="1200" dirty="0"/>
              <a:t> </a:t>
            </a:r>
            <a:r>
              <a:rPr sz="1200" dirty="0" err="1"/>
              <a:t>alerta</a:t>
            </a:r>
            <a:r>
              <a:rPr sz="1200" dirty="0"/>
              <a:t> de umbral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horario</a:t>
            </a:r>
            <a:r>
              <a:rPr sz="1200" dirty="0"/>
              <a:t> 0–8 h (≥ 0,5 m³/h) para </a:t>
            </a:r>
            <a:r>
              <a:rPr sz="1200" dirty="0" err="1"/>
              <a:t>detectar</a:t>
            </a:r>
            <a:r>
              <a:rPr sz="1200" dirty="0"/>
              <a:t> </a:t>
            </a:r>
            <a:r>
              <a:rPr sz="1200" dirty="0" err="1"/>
              <a:t>fugas</a:t>
            </a:r>
            <a:r>
              <a:rPr sz="1200" dirty="0"/>
              <a:t> o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fuera</a:t>
            </a:r>
            <a:r>
              <a:rPr sz="1200" dirty="0"/>
              <a:t> de </a:t>
            </a:r>
            <a:r>
              <a:rPr sz="1200" dirty="0" err="1"/>
              <a:t>horario</a:t>
            </a:r>
            <a:r>
              <a:rPr sz="1200" dirty="0"/>
              <a:t>, sin </a:t>
            </a:r>
            <a:r>
              <a:rPr sz="1200" dirty="0" err="1"/>
              <a:t>requerir</a:t>
            </a:r>
            <a:r>
              <a:rPr sz="1200" dirty="0"/>
              <a:t> control on/off</a:t>
            </a:r>
          </a:p>
          <a:p>
            <a:pPr>
              <a:buNone/>
            </a:pP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dirty="0" err="1"/>
              <a:t>Placa</a:t>
            </a:r>
            <a:r>
              <a:rPr sz="1200" dirty="0"/>
              <a:t> </a:t>
            </a:r>
            <a:r>
              <a:rPr sz="1200" dirty="0" err="1"/>
              <a:t>Bancaria</a:t>
            </a:r>
            <a:r>
              <a:rPr sz="1200" dirty="0"/>
              <a:t> —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nocturno</a:t>
            </a:r>
            <a:r>
              <a:rPr sz="1200" dirty="0"/>
              <a:t> (0–8 h)</a:t>
            </a:r>
          </a:p>
          <a:p>
            <a:pPr>
              <a:buNone/>
            </a:pPr>
            <a:r>
              <a:rPr sz="1200" dirty="0" err="1"/>
              <a:t>Promedio</a:t>
            </a:r>
            <a:r>
              <a:rPr sz="1200" dirty="0"/>
              <a:t> </a:t>
            </a:r>
            <a:r>
              <a:rPr sz="1200" dirty="0" err="1"/>
              <a:t>nocturno</a:t>
            </a:r>
            <a:r>
              <a:rPr sz="1200" dirty="0"/>
              <a:t> del </a:t>
            </a:r>
            <a:r>
              <a:rPr sz="1200" dirty="0" err="1"/>
              <a:t>período</a:t>
            </a:r>
            <a:r>
              <a:rPr sz="1200" dirty="0"/>
              <a:t>: 16,8 m³/día (1,85 m³/h de </a:t>
            </a:r>
            <a:r>
              <a:rPr sz="1200" dirty="0" err="1"/>
              <a:t>promedio</a:t>
            </a:r>
            <a:r>
              <a:rPr sz="1200" dirty="0"/>
              <a:t> </a:t>
            </a:r>
            <a:r>
              <a:rPr sz="1200" dirty="0" err="1"/>
              <a:t>horario</a:t>
            </a:r>
            <a:r>
              <a:rPr sz="1200" dirty="0"/>
              <a:t>).</a:t>
            </a:r>
          </a:p>
          <a:p>
            <a:pPr>
              <a:buChar char=""/>
            </a:pPr>
            <a:r>
              <a:rPr sz="1200" dirty="0"/>
              <a:t>En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período</a:t>
            </a:r>
            <a:r>
              <a:rPr sz="1200" dirty="0"/>
              <a:t> </a:t>
            </a:r>
            <a:r>
              <a:rPr sz="1200" dirty="0" err="1"/>
              <a:t>analizado</a:t>
            </a:r>
            <a:r>
              <a:rPr sz="1200" dirty="0"/>
              <a:t>,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consumo</a:t>
            </a:r>
            <a:r>
              <a:rPr sz="1200" dirty="0"/>
              <a:t> </a:t>
            </a:r>
            <a:r>
              <a:rPr sz="1200" dirty="0" err="1"/>
              <a:t>nocturno</a:t>
            </a:r>
            <a:r>
              <a:rPr sz="1200" dirty="0"/>
              <a:t> se </a:t>
            </a:r>
            <a:r>
              <a:rPr sz="1200" dirty="0" err="1"/>
              <a:t>mantiene</a:t>
            </a:r>
            <a:r>
              <a:rPr sz="1200" dirty="0"/>
              <a:t> </a:t>
            </a:r>
            <a:r>
              <a:rPr sz="1200" dirty="0" err="1"/>
              <a:t>sostenido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todas</a:t>
            </a:r>
            <a:r>
              <a:rPr sz="1200" dirty="0"/>
              <a:t> las </a:t>
            </a:r>
            <a:r>
              <a:rPr sz="1200" dirty="0" err="1"/>
              <a:t>noches</a:t>
            </a:r>
            <a:r>
              <a:rPr sz="1200" dirty="0"/>
              <a:t> (sin </a:t>
            </a:r>
            <a:r>
              <a:rPr sz="1200" dirty="0" err="1"/>
              <a:t>tendencia</a:t>
            </a:r>
            <a:r>
              <a:rPr sz="1200" dirty="0"/>
              <a:t> a cero).</a:t>
            </a:r>
          </a:p>
          <a:p>
            <a:pPr>
              <a:buNone/>
            </a:pPr>
            <a:r>
              <a:rPr sz="1200" dirty="0" err="1"/>
              <a:t>Gráfico</a:t>
            </a:r>
            <a:r>
              <a:rPr sz="1200" dirty="0"/>
              <a:t>: </a:t>
            </a:r>
            <a:r>
              <a:rPr sz="1200" dirty="0" err="1"/>
              <a:t>perfil</a:t>
            </a:r>
            <a:r>
              <a:rPr sz="1200" dirty="0"/>
              <a:t> </a:t>
            </a:r>
            <a:r>
              <a:rPr sz="1200" dirty="0" err="1"/>
              <a:t>promedio</a:t>
            </a:r>
            <a:r>
              <a:rPr sz="1200" dirty="0"/>
              <a:t> de 24 h (68 días, 01/05/2026–07/07/2026).</a:t>
            </a:r>
          </a:p>
          <a:p>
            <a:pPr>
              <a:buNone/>
            </a:pPr>
            <a:endParaRPr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dirty="0" err="1"/>
              <a:t>Recomendación</a:t>
            </a:r>
            <a:r>
              <a:rPr sz="1200" dirty="0"/>
              <a:t>:</a:t>
            </a:r>
          </a:p>
          <a:p>
            <a:pPr>
              <a:buNone/>
            </a:pPr>
            <a:r>
              <a:rPr sz="1200" dirty="0" err="1"/>
              <a:t>Implementar</a:t>
            </a:r>
            <a:r>
              <a:rPr sz="1200" dirty="0"/>
              <a:t> control on/off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horario</a:t>
            </a:r>
            <a:r>
              <a:rPr sz="1200" dirty="0"/>
              <a:t> </a:t>
            </a:r>
            <a:r>
              <a:rPr sz="1200" dirty="0" err="1"/>
              <a:t>inhábil</a:t>
            </a:r>
            <a:r>
              <a:rPr sz="1200" dirty="0"/>
              <a:t> (0–8 h), </a:t>
            </a:r>
            <a:r>
              <a:rPr sz="1200" dirty="0" err="1"/>
              <a:t>gestionado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servicio</a:t>
            </a:r>
            <a:r>
              <a:rPr sz="1200" dirty="0"/>
              <a:t> de </a:t>
            </a:r>
            <a:r>
              <a:rPr sz="1200" dirty="0" err="1"/>
              <a:t>cámaras</a:t>
            </a:r>
            <a:r>
              <a:rPr sz="1200" dirty="0"/>
              <a:t> del mall</a:t>
            </a:r>
            <a:r>
              <a:rPr dirty="0"/>
              <a:t>.</a:t>
            </a:r>
          </a:p>
        </p:txBody>
      </p:sp>
      <p:pic>
        <p:nvPicPr>
          <p:cNvPr id="320" name="Picture 319" descr="l09_000025-10_20260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71" y="855189"/>
            <a:ext cx="5510174" cy="1887321"/>
          </a:xfrm>
          <a:prstGeom prst="rect">
            <a:avLst/>
          </a:prstGeom>
        </p:spPr>
      </p:pic>
      <p:pic>
        <p:nvPicPr>
          <p:cNvPr id="321" name="Picture 320" descr="l09_000025-10_202606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23" y="2854549"/>
            <a:ext cx="5437022" cy="1858060"/>
          </a:xfrm>
          <a:prstGeom prst="rect">
            <a:avLst/>
          </a:prstGeom>
        </p:spPr>
      </p:pic>
      <p:sp>
        <p:nvSpPr>
          <p:cNvPr id="322" name="TextBox 321"/>
          <p:cNvSpPr txBox="1"/>
          <p:nvPr/>
        </p:nvSpPr>
        <p:spPr>
          <a:xfrm>
            <a:off x="1219809" y="2728795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Impulsión</a:t>
            </a:r>
            <a:r>
              <a:rPr sz="1000" b="1" i="1" dirty="0"/>
              <a:t> Ripley - lunes 4/5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219809" y="4712609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Impulsión</a:t>
            </a:r>
            <a:r>
              <a:rPr sz="1000" b="1" i="1" dirty="0"/>
              <a:t> Ripley - lunes 8/6</a:t>
            </a:r>
          </a:p>
        </p:txBody>
      </p:sp>
      <p:pic>
        <p:nvPicPr>
          <p:cNvPr id="324" name="Picture 323" descr="l09_000025-08_promedio_24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657" y="4232416"/>
            <a:ext cx="5657342" cy="2148072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6694349" y="6463918"/>
            <a:ext cx="5498056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Placa</a:t>
            </a:r>
            <a:r>
              <a:rPr sz="1000" b="1" i="1" dirty="0"/>
              <a:t> </a:t>
            </a:r>
            <a:r>
              <a:rPr sz="1000" b="1" i="1" dirty="0" err="1"/>
              <a:t>Bancaria</a:t>
            </a:r>
            <a:r>
              <a:rPr sz="1000" b="1" i="1" dirty="0"/>
              <a:t> — </a:t>
            </a:r>
            <a:r>
              <a:rPr sz="1000" b="1" i="1" dirty="0" err="1"/>
              <a:t>promedio</a:t>
            </a:r>
            <a:r>
              <a:rPr sz="1000" b="1" i="1" dirty="0"/>
              <a:t> 24 h </a:t>
            </a:r>
            <a:r>
              <a:rPr sz="1000" b="1" i="1" dirty="0" err="1"/>
              <a:t>periodo</a:t>
            </a:r>
            <a:r>
              <a:rPr sz="1000" b="1" i="1" dirty="0"/>
              <a:t> 01/05/2026 a 07/07/2026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96bdbb4df6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96bdbb4df6_0_16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MAQ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6bdbb4df6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396bdbb4df6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96bdbb4df6_0_16" title="Screenshot 2026-03-31 at 16.46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44" y="1247562"/>
            <a:ext cx="5630400" cy="472809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273" name="Google Shape;273;g396bdbb4df6_0_16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Principal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Alimentación Baños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 de incendio [relocalizado]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6 /11 /2025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[Original]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17/02/2026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[Relocalizado]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14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indent="-311150">
              <a:lnSpc>
                <a:spcPct val="115000"/>
              </a:lnSpc>
              <a:buSzPts val="1300"/>
              <a:buFont typeface="Arial"/>
              <a:buChar char="●"/>
              <a:defRPr/>
            </a:pPr>
            <a:r>
              <a:rPr kumimoji="0" lang="es-MX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Mario </a:t>
            </a:r>
            <a:r>
              <a:rPr kumimoji="0" lang="es-MX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Freitez</a:t>
            </a:r>
            <a:r>
              <a:rPr kumimoji="0" lang="es-MX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Jefe de Operaciones.</a:t>
            </a:r>
            <a:endParaRPr kumimoji="0" lang="es-CL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 Mantenimiento: Iván Dustan,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Katihuska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Varas, Lucas Méndez y Carlos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Leyto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MAQ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02" descr="l11_maq_total_ranking.png">
            <a:extLst>
              <a:ext uri="{FF2B5EF4-FFF2-40B4-BE49-F238E27FC236}">
                <a16:creationId xmlns:a16="http://schemas.microsoft.com/office/drawing/2014/main" id="{14DFB926-2F1A-9153-B5E2-08DF0155D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23544"/>
            <a:ext cx="5486400" cy="2359302"/>
          </a:xfrm>
          <a:prstGeom prst="rect">
            <a:avLst/>
          </a:prstGeom>
        </p:spPr>
      </p:pic>
      <p:sp>
        <p:nvSpPr>
          <p:cNvPr id="3" name="TextBox 205">
            <a:extLst>
              <a:ext uri="{FF2B5EF4-FFF2-40B4-BE49-F238E27FC236}">
                <a16:creationId xmlns:a16="http://schemas.microsoft.com/office/drawing/2014/main" id="{1FF01E2C-2ACC-2B47-1772-27D5A151771B}"/>
              </a:ext>
            </a:extLst>
          </p:cNvPr>
          <p:cNvSpPr txBox="1"/>
          <p:nvPr/>
        </p:nvSpPr>
        <p:spPr>
          <a:xfrm>
            <a:off x="609600" y="3426125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Ranking </a:t>
            </a:r>
            <a:r>
              <a:rPr sz="1000" b="1" i="1" dirty="0" err="1"/>
              <a:t>consumo</a:t>
            </a:r>
            <a:r>
              <a:rPr sz="1000" b="1" i="1" dirty="0"/>
              <a:t> Ene–Mar y </a:t>
            </a:r>
            <a:r>
              <a:rPr sz="1000" b="1" i="1" dirty="0" err="1"/>
              <a:t>Abr</a:t>
            </a:r>
            <a:r>
              <a:rPr sz="1000" b="1" i="1" dirty="0"/>
              <a:t>–Jun 2026</a:t>
            </a:r>
          </a:p>
        </p:txBody>
      </p:sp>
      <p:pic>
        <p:nvPicPr>
          <p:cNvPr id="4" name="Picture 203" descr="l11_maq_000025-13_diario_linea.png">
            <a:extLst>
              <a:ext uri="{FF2B5EF4-FFF2-40B4-BE49-F238E27FC236}">
                <a16:creationId xmlns:a16="http://schemas.microsoft.com/office/drawing/2014/main" id="{EB3F3196-889D-AC0D-AC8F-A29CB4D57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304" y="3805134"/>
            <a:ext cx="5118991" cy="2129322"/>
          </a:xfrm>
          <a:prstGeom prst="rect">
            <a:avLst/>
          </a:prstGeom>
        </p:spPr>
      </p:pic>
      <p:sp>
        <p:nvSpPr>
          <p:cNvPr id="5" name="TextBox 206">
            <a:extLst>
              <a:ext uri="{FF2B5EF4-FFF2-40B4-BE49-F238E27FC236}">
                <a16:creationId xmlns:a16="http://schemas.microsoft.com/office/drawing/2014/main" id="{D6F89A5D-93AC-201A-0AEB-11E7E6ECC5F1}"/>
              </a:ext>
            </a:extLst>
          </p:cNvPr>
          <p:cNvSpPr txBox="1"/>
          <p:nvPr/>
        </p:nvSpPr>
        <p:spPr>
          <a:xfrm>
            <a:off x="1273438" y="6002904"/>
            <a:ext cx="4169663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</a:t>
            </a:r>
            <a:r>
              <a:rPr sz="1000" b="1" i="1" dirty="0" err="1"/>
              <a:t>Matriz</a:t>
            </a:r>
            <a:r>
              <a:rPr sz="1000" b="1" i="1" dirty="0"/>
              <a:t> Principal </a:t>
            </a:r>
            <a:r>
              <a:rPr sz="1000" b="1" i="1" dirty="0" err="1"/>
              <a:t>periodo</a:t>
            </a:r>
            <a:r>
              <a:rPr sz="1000" b="1" i="1" dirty="0"/>
              <a:t> 1/5/2026 a 7/7/2026</a:t>
            </a:r>
          </a:p>
        </p:txBody>
      </p:sp>
      <p:sp>
        <p:nvSpPr>
          <p:cNvPr id="6" name="Google Shape;254;g396c1ba0591_0_235"/>
          <p:cNvSpPr/>
          <p:nvPr/>
        </p:nvSpPr>
        <p:spPr>
          <a:xfrm>
            <a:off x="6770739" y="67452"/>
            <a:ext cx="5421261" cy="1932548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Respecto al total </a:t>
            </a:r>
            <a:r>
              <a:rPr lang="es-MX" dirty="0" err="1"/>
              <a:t>monitoreable</a:t>
            </a:r>
            <a:r>
              <a:rPr lang="es-MX" dirty="0"/>
              <a:t> entre mayo y junio</a:t>
            </a:r>
          </a:p>
          <a:p>
            <a:pPr>
              <a:buNone/>
            </a:pPr>
            <a:r>
              <a:rPr lang="es-MX" dirty="0"/>
              <a:t>Matriz Principal = </a:t>
            </a:r>
            <a:r>
              <a:rPr lang="es-MX" b="1" dirty="0"/>
              <a:t>96,9%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MX" dirty="0"/>
              <a:t>Alimentación Baños = </a:t>
            </a:r>
            <a:r>
              <a:rPr lang="es-MX" b="1" dirty="0"/>
              <a:t>3,1%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Respecto al total </a:t>
            </a:r>
            <a:r>
              <a:rPr lang="es-MX" dirty="0" err="1"/>
              <a:t>monitoreable</a:t>
            </a:r>
            <a:r>
              <a:rPr lang="es-MX" dirty="0"/>
              <a:t> anual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None/>
            </a:pPr>
            <a:r>
              <a:rPr lang="es-MX" dirty="0"/>
              <a:t>Matriz Principal = </a:t>
            </a:r>
            <a:r>
              <a:rPr lang="es-MX" b="1" dirty="0"/>
              <a:t>97,3%</a:t>
            </a:r>
          </a:p>
          <a:p>
            <a:pPr>
              <a:buNone/>
            </a:pPr>
            <a:r>
              <a:rPr lang="es-MX" dirty="0"/>
              <a:t>Alimentación Baños = </a:t>
            </a:r>
            <a:r>
              <a:rPr lang="es-MX" b="1" dirty="0"/>
              <a:t>2,7%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04" descr="l11_maq_000025-34_diario_linea.png">
            <a:extLst>
              <a:ext uri="{FF2B5EF4-FFF2-40B4-BE49-F238E27FC236}">
                <a16:creationId xmlns:a16="http://schemas.microsoft.com/office/drawing/2014/main" id="{1B0F6E92-610C-CC52-415A-028361762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972" y="2029980"/>
            <a:ext cx="5128255" cy="2139066"/>
          </a:xfrm>
          <a:prstGeom prst="rect">
            <a:avLst/>
          </a:prstGeom>
        </p:spPr>
      </p:pic>
      <p:sp>
        <p:nvSpPr>
          <p:cNvPr id="8" name="TextBox 207">
            <a:extLst>
              <a:ext uri="{FF2B5EF4-FFF2-40B4-BE49-F238E27FC236}">
                <a16:creationId xmlns:a16="http://schemas.microsoft.com/office/drawing/2014/main" id="{03A3A37D-6B55-9CD7-BAA4-6FFE25F7DBC8}"/>
              </a:ext>
            </a:extLst>
          </p:cNvPr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</a:t>
            </a:r>
            <a:r>
              <a:rPr sz="1000" b="1" i="1" dirty="0" err="1"/>
              <a:t>Alimentación</a:t>
            </a:r>
            <a:r>
              <a:rPr sz="1000" b="1" i="1" dirty="0"/>
              <a:t> </a:t>
            </a:r>
            <a:r>
              <a:rPr sz="1000" b="1" i="1" dirty="0" err="1"/>
              <a:t>Baños</a:t>
            </a:r>
            <a:r>
              <a:rPr sz="1000" b="1" i="1" dirty="0"/>
              <a:t> </a:t>
            </a:r>
            <a:r>
              <a:rPr sz="1000" b="1" i="1" dirty="0" err="1"/>
              <a:t>periodo</a:t>
            </a:r>
            <a:r>
              <a:rPr sz="1000" b="1" i="1" dirty="0"/>
              <a:t> 1/5/2026 a 7/7/2026</a:t>
            </a:r>
          </a:p>
        </p:txBody>
      </p:sp>
    </p:spTree>
    <p:extLst>
      <p:ext uri="{BB962C8B-B14F-4D97-AF65-F5344CB8AC3E}">
        <p14:creationId xmlns:p14="http://schemas.microsoft.com/office/powerpoint/2010/main" val="177897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MAQ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54;g396c1ba0591_0_235"/>
          <p:cNvSpPr/>
          <p:nvPr/>
        </p:nvSpPr>
        <p:spPr>
          <a:xfrm>
            <a:off x="6820525" y="393937"/>
            <a:ext cx="5371475" cy="2795594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Matriz Principal — consumo nocturno (0–8 h)</a:t>
            </a:r>
          </a:p>
          <a:p>
            <a:pPr>
              <a:buNone/>
            </a:pPr>
            <a:r>
              <a:rPr lang="es-MX" sz="1200" dirty="0"/>
              <a:t>Promedio del período: 21,7 m³/noche (2,41 m³/h); sin noches en cero.</a:t>
            </a:r>
          </a:p>
          <a:p>
            <a:pPr>
              <a:buNone/>
            </a:pPr>
            <a:r>
              <a:rPr lang="es-MX" sz="1200" dirty="0"/>
              <a:t>Lun 4/5: nocturno = 22,5 m³ (pico 3,51 m³/h).</a:t>
            </a:r>
          </a:p>
          <a:p>
            <a:pPr>
              <a:buNone/>
            </a:pPr>
            <a:r>
              <a:rPr lang="es-MX" sz="1200" dirty="0"/>
              <a:t>Lun 8/6: nocturno = 17,4 m³ (pico 2,83 m³/h).</a:t>
            </a:r>
          </a:p>
          <a:p>
            <a:pPr>
              <a:buNone/>
            </a:pPr>
            <a:r>
              <a:rPr lang="es-MX" sz="1200" dirty="0"/>
              <a:t>Referencia informe anterior: 1,6 m³/h (pico lun 8/6 +</a:t>
            </a:r>
            <a:r>
              <a:rPr lang="es-MX" sz="1200" b="1" dirty="0"/>
              <a:t>77%</a:t>
            </a:r>
            <a:r>
              <a:rPr lang="es-MX" sz="1200" dirty="0"/>
              <a:t> sobre techo).</a:t>
            </a:r>
          </a:p>
          <a:p>
            <a:pPr>
              <a:buNone/>
            </a:pP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Recomendación:</a:t>
            </a:r>
          </a:p>
          <a:p>
            <a:pPr>
              <a:buNone/>
            </a:pPr>
            <a:r>
              <a:rPr lang="es-MX" sz="1200" dirty="0"/>
              <a:t>Implementar control </a:t>
            </a:r>
            <a:r>
              <a:rPr lang="es-MX" sz="1200" dirty="0" err="1"/>
              <a:t>on</a:t>
            </a:r>
            <a:r>
              <a:rPr lang="es-MX" sz="1200" dirty="0"/>
              <a:t>/off en horario inhábil (0–8 h), replicando la gestión de estanques MAE.</a:t>
            </a:r>
          </a:p>
          <a:p>
            <a:pPr>
              <a:buNone/>
            </a:pP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Alimentación Baños — consumo nocturno (0–8 h)</a:t>
            </a:r>
          </a:p>
          <a:p>
            <a:r>
              <a:rPr lang="es-MX" sz="1200" dirty="0"/>
              <a:t>En el período analizado, el consumo nocturno tiende a cero (</a:t>
            </a:r>
            <a:r>
              <a:rPr lang="es-MX" sz="1200" b="1" dirty="0"/>
              <a:t>66%</a:t>
            </a:r>
            <a:r>
              <a:rPr lang="es-MX" sz="1200" dirty="0"/>
              <a:t> de las noches sin flujo significativo).</a:t>
            </a:r>
          </a:p>
          <a:p>
            <a:pPr>
              <a:buNone/>
            </a:pPr>
            <a:r>
              <a:rPr lang="es-MX" sz="1200" dirty="0"/>
              <a:t>Lun 4/5: nocturno = 0,05 m³; hábil 8–17 h = 17,7 m³.</a:t>
            </a:r>
          </a:p>
          <a:p>
            <a:pPr>
              <a:buNone/>
            </a:pPr>
            <a:r>
              <a:rPr lang="es-MX" sz="1200" dirty="0"/>
              <a:t>Lun 8/6: nocturno = 0,04 m³; patrón esperado en día de baja actividad del mall.</a:t>
            </a:r>
          </a:p>
          <a:p>
            <a:pPr>
              <a:buNone/>
            </a:pPr>
            <a:r>
              <a:rPr lang="es-MX" sz="1200" dirty="0"/>
              <a:t>La red de baños no requiere control </a:t>
            </a:r>
            <a:r>
              <a:rPr lang="es-MX" sz="1200" dirty="0" err="1"/>
              <a:t>on</a:t>
            </a:r>
            <a:r>
              <a:rPr lang="es-MX" sz="1200" dirty="0"/>
              <a:t>/off; el consumo se concentra en apertura.</a:t>
            </a:r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" y="684715"/>
            <a:ext cx="5510174" cy="1638760"/>
          </a:xfrm>
          <a:prstGeom prst="rect">
            <a:avLst/>
          </a:prstGeom>
        </p:spPr>
      </p:pic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" y="2537048"/>
            <a:ext cx="5437022" cy="1858060"/>
          </a:xfrm>
          <a:prstGeom prst="rect">
            <a:avLst/>
          </a:prstGeom>
        </p:spPr>
      </p:pic>
      <p:sp>
        <p:nvSpPr>
          <p:cNvPr id="227" name="TextBox 226"/>
          <p:cNvSpPr txBox="1"/>
          <p:nvPr/>
        </p:nvSpPr>
        <p:spPr>
          <a:xfrm>
            <a:off x="1186891" y="2293818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Matriz</a:t>
            </a:r>
            <a:r>
              <a:rPr sz="1000" b="1" i="1" dirty="0"/>
              <a:t> Principal - lunes 4/5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419830" y="4365128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Matriz</a:t>
            </a:r>
            <a:r>
              <a:rPr sz="1000" b="1" i="1" dirty="0"/>
              <a:t> Principal - lunes 8/6</a:t>
            </a:r>
          </a:p>
        </p:txBody>
      </p:sp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9" y="4551417"/>
            <a:ext cx="5310132" cy="1783080"/>
          </a:xfrm>
          <a:prstGeom prst="rect">
            <a:avLst/>
          </a:prstGeom>
        </p:spPr>
      </p:pic>
      <p:pic>
        <p:nvPicPr>
          <p:cNvPr id="226" name="Picture 2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000" y="3842756"/>
            <a:ext cx="5473233" cy="2006089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026315" y="6334497"/>
            <a:ext cx="4206240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Alimentación</a:t>
            </a:r>
            <a:r>
              <a:rPr sz="1000" b="1" i="1" dirty="0"/>
              <a:t> </a:t>
            </a:r>
            <a:r>
              <a:rPr sz="1000" b="1" i="1" dirty="0" err="1"/>
              <a:t>Baños</a:t>
            </a:r>
            <a:r>
              <a:rPr sz="1000" b="1" i="1" dirty="0"/>
              <a:t> - lunes 4/5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403142" y="6015706"/>
            <a:ext cx="4206240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Alimentación</a:t>
            </a:r>
            <a:r>
              <a:rPr sz="1000" b="1" i="1" dirty="0"/>
              <a:t> </a:t>
            </a:r>
            <a:r>
              <a:rPr sz="1000" b="1" i="1" dirty="0" err="1"/>
              <a:t>Baños</a:t>
            </a:r>
            <a:r>
              <a:rPr sz="1000" b="1" i="1" dirty="0"/>
              <a:t> - lunes 8/6</a:t>
            </a:r>
          </a:p>
        </p:txBody>
      </p:sp>
    </p:spTree>
    <p:extLst>
      <p:ext uri="{BB962C8B-B14F-4D97-AF65-F5344CB8AC3E}">
        <p14:creationId xmlns:p14="http://schemas.microsoft.com/office/powerpoint/2010/main" val="123862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96bdbb4df6_0_4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96bdbb4df6_0_40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BOM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96bdbb4df6_0_4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96bdbb4df6_0_4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San Ignacio 300 → Monitoreo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San Ignacio 500 → Monitoreo y control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18 /11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11 /12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Aliro Cortes: Jefe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1" name="Google Shape;311;g396bdbb4df6_0_4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6bdbb4df6_0_40" title="Screenshot 2026-03-31 at 16.46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42" y="1236792"/>
            <a:ext cx="5620945" cy="4753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s-C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4F339F8-C5B8-73D3-9802-635D5B41AB43}"/>
              </a:ext>
            </a:extLst>
          </p:cNvPr>
          <p:cNvSpPr txBox="1"/>
          <p:nvPr/>
        </p:nvSpPr>
        <p:spPr>
          <a:xfrm>
            <a:off x="6577198" y="169735"/>
            <a:ext cx="56327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Respecto</a:t>
            </a:r>
            <a:r>
              <a:rPr dirty="0"/>
              <a:t> al total </a:t>
            </a:r>
            <a:r>
              <a:rPr dirty="0" err="1"/>
              <a:t>monitoreable</a:t>
            </a:r>
            <a:r>
              <a:rPr dirty="0"/>
              <a:t> entre mayo y </a:t>
            </a:r>
            <a:r>
              <a:rPr dirty="0" err="1"/>
              <a:t>junio</a:t>
            </a:r>
            <a:endParaRPr dirty="0"/>
          </a:p>
          <a:p>
            <a:pPr>
              <a:buNone/>
            </a:pPr>
            <a:r>
              <a:rPr dirty="0"/>
              <a:t>San Ignacio 500 = </a:t>
            </a:r>
            <a:r>
              <a:rPr b="1" dirty="0"/>
              <a:t>81,8%</a:t>
            </a:r>
          </a:p>
          <a:p>
            <a:pPr>
              <a:buNone/>
            </a:pPr>
            <a:r>
              <a:rPr dirty="0"/>
              <a:t>San Ignacio 300 = </a:t>
            </a:r>
            <a:r>
              <a:rPr b="1" dirty="0"/>
              <a:t>18,2%</a:t>
            </a:r>
          </a:p>
          <a:p>
            <a:pPr>
              <a:buNone/>
            </a:pPr>
            <a:endParaRPr lang="es-MX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Respecto</a:t>
            </a:r>
            <a:r>
              <a:rPr dirty="0"/>
              <a:t> al total </a:t>
            </a:r>
            <a:r>
              <a:rPr dirty="0" err="1"/>
              <a:t>monitoreable</a:t>
            </a:r>
            <a:r>
              <a:rPr dirty="0"/>
              <a:t> </a:t>
            </a:r>
            <a:r>
              <a:rPr dirty="0" err="1"/>
              <a:t>anual</a:t>
            </a:r>
            <a:endParaRPr dirty="0"/>
          </a:p>
          <a:p>
            <a:pPr>
              <a:buNone/>
            </a:pPr>
            <a:r>
              <a:rPr dirty="0"/>
              <a:t>San Ignacio 500 = </a:t>
            </a:r>
            <a:r>
              <a:rPr b="1" dirty="0"/>
              <a:t>81,9%</a:t>
            </a:r>
          </a:p>
          <a:p>
            <a:pPr>
              <a:buNone/>
            </a:pPr>
            <a:r>
              <a:rPr dirty="0"/>
              <a:t>San Ignacio 300 = </a:t>
            </a:r>
            <a:r>
              <a:rPr b="1" dirty="0"/>
              <a:t>18,1%</a:t>
            </a:r>
          </a:p>
          <a:p>
            <a:pPr>
              <a:buNone/>
            </a:pPr>
            <a:endParaRPr lang="es-CL" dirty="0"/>
          </a:p>
        </p:txBody>
      </p:sp>
      <p:pic>
        <p:nvPicPr>
          <p:cNvPr id="255" name="Picture 254" descr="l14_bom_total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01" y="1028013"/>
            <a:ext cx="5486400" cy="2359152"/>
          </a:xfrm>
          <a:prstGeom prst="rect">
            <a:avLst/>
          </a:prstGeom>
        </p:spPr>
      </p:pic>
      <p:pic>
        <p:nvPicPr>
          <p:cNvPr id="256" name="Picture 255" descr="l14_bom_000025-17_diario_lin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30168"/>
            <a:ext cx="5074920" cy="2000253"/>
          </a:xfrm>
          <a:prstGeom prst="rect">
            <a:avLst/>
          </a:prstGeom>
        </p:spPr>
      </p:pic>
      <p:pic>
        <p:nvPicPr>
          <p:cNvPr id="257" name="Picture 256" descr="l14_bom_000025-18_diario_lin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161" y="3426125"/>
            <a:ext cx="5046878" cy="1948722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May–Jun 2026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225295" y="5806440"/>
            <a:ext cx="4169663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San Ignacio 300 </a:t>
            </a:r>
            <a:r>
              <a:rPr sz="1000" b="1" i="1" dirty="0" err="1"/>
              <a:t>periodo</a:t>
            </a:r>
            <a:r>
              <a:rPr sz="1000" b="1" i="1" dirty="0"/>
              <a:t> 1/5/2026 a 30/6/2026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161580" y="5678424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San Ignacio 500 </a:t>
            </a:r>
            <a:r>
              <a:rPr sz="1000" b="1" i="1" dirty="0" err="1"/>
              <a:t>periodo</a:t>
            </a:r>
            <a:r>
              <a:rPr sz="1000" b="1" i="1" dirty="0"/>
              <a:t> 1/5/2026 a 30/6/2026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D9250208-07D2-3FE8-C2E0-3AF65461C8D7}"/>
              </a:ext>
            </a:extLst>
          </p:cNvPr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BOM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9266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96bdbb4df6_0_61"/>
          <p:cNvSpPr txBox="1"/>
          <p:nvPr/>
        </p:nvSpPr>
        <p:spPr>
          <a:xfrm>
            <a:off x="6559905" y="138989"/>
            <a:ext cx="5632704" cy="302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San Ignacio 500 — alza consumo junio 2026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Mayo: 42,1 m³/d promedio; junio: 47,2 m³/d (+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12%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vs mayo).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1–25/6: 36,7 m³/d; 26–30/6: 99,6 m³/d (inicio alza sostenida el 26/06).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Sábado 20/6 (referencia): 48,6 m³ — diurno 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59%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vespertino 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36%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Sábado 27/6 (pico): 102,1 m³ — concentración 15–20 h (pico 18 h = 10,4 m³/h).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Patrón: diurno–vespertino; validar causa operacional en terreno (última semana).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San Ignacio 300 — alza consumo junio 2026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Mayo: 8,4 m³/d; junio: 11,5 m³/d (+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37%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vs mayo).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Inicio alza sostenida: 06/06 (1–5/6: 5,8 m³/d → desde 6/6: 12,7 m³/d).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Sábado 6/6 (primer pico): 15 m³; sábado 27/6 (máximo): 21,1 m³.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Franja dominante: diurno 8–17 h (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64%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en día pico); refuerzo vespertino 17–20 h.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Horas pico recurrentes: 17 h (3,5 m³/h el 27/6).</a:t>
            </a:r>
          </a:p>
          <a:p>
            <a:pPr marL="457200" marR="171450" lvl="0" indent="-31115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-30480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-30480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marR="17145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303030"/>
              </a:solidFill>
              <a:highlight>
                <a:srgbClr val="FFFF00"/>
              </a:highlight>
            </a:endParaRPr>
          </a:p>
          <a:p>
            <a:pPr marL="0" marR="609583" lvl="0" indent="0" algn="r" rtl="0">
              <a:spcBef>
                <a:spcPts val="1200"/>
              </a:spcBef>
              <a:spcAft>
                <a:spcPts val="0"/>
              </a:spcAft>
              <a:buNone/>
            </a:pP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0" name="Picture 35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0590"/>
            <a:ext cx="5510174" cy="1887321"/>
          </a:xfrm>
          <a:prstGeom prst="rect">
            <a:avLst/>
          </a:prstGeom>
        </p:spPr>
      </p:pic>
      <p:pic>
        <p:nvPicPr>
          <p:cNvPr id="361" name="Picture 3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" y="2614855"/>
            <a:ext cx="5437022" cy="1858060"/>
          </a:xfrm>
          <a:prstGeom prst="rect">
            <a:avLst/>
          </a:prstGeom>
        </p:spPr>
      </p:pic>
      <p:pic>
        <p:nvPicPr>
          <p:cNvPr id="362" name="Picture 36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98" y="4651676"/>
            <a:ext cx="5336203" cy="1783080"/>
          </a:xfrm>
          <a:prstGeom prst="rect">
            <a:avLst/>
          </a:prstGeom>
        </p:spPr>
      </p:pic>
      <p:pic>
        <p:nvPicPr>
          <p:cNvPr id="363" name="Picture 36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4238" y="3943016"/>
            <a:ext cx="5327762" cy="2149060"/>
          </a:xfrm>
          <a:prstGeom prst="rect">
            <a:avLst/>
          </a:prstGeom>
        </p:spPr>
      </p:pic>
      <p:sp>
        <p:nvSpPr>
          <p:cNvPr id="364" name="TextBox 363"/>
          <p:cNvSpPr txBox="1"/>
          <p:nvPr/>
        </p:nvSpPr>
        <p:spPr>
          <a:xfrm>
            <a:off x="658978" y="2460967"/>
            <a:ext cx="488812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San Ignacio 500 - </a:t>
            </a:r>
            <a:r>
              <a:rPr sz="1000" b="1" i="1" dirty="0" err="1"/>
              <a:t>sabado</a:t>
            </a:r>
            <a:r>
              <a:rPr sz="1000" b="1" i="1" dirty="0"/>
              <a:t> 20/6 (</a:t>
            </a:r>
            <a:r>
              <a:rPr sz="1000" b="1" i="1" dirty="0" err="1"/>
              <a:t>junio</a:t>
            </a:r>
            <a:r>
              <a:rPr sz="1000" b="1" i="1" dirty="0"/>
              <a:t> </a:t>
            </a:r>
            <a:r>
              <a:rPr sz="1000" b="1" i="1" dirty="0" err="1"/>
              <a:t>previo</a:t>
            </a:r>
            <a:r>
              <a:rPr sz="1000" b="1" i="1" dirty="0"/>
              <a:t> al </a:t>
            </a:r>
            <a:r>
              <a:rPr sz="1000" b="1" i="1" dirty="0" err="1"/>
              <a:t>pico</a:t>
            </a:r>
            <a:r>
              <a:rPr sz="1000" b="1" i="1" dirty="0"/>
              <a:t>)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769314" y="4516523"/>
            <a:ext cx="4740859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San Ignacio 500 - </a:t>
            </a:r>
            <a:r>
              <a:rPr sz="1000" b="1" i="1" dirty="0" err="1"/>
              <a:t>sabado</a:t>
            </a:r>
            <a:r>
              <a:rPr sz="1000" b="1" i="1" dirty="0"/>
              <a:t> 27/6 (</a:t>
            </a:r>
            <a:r>
              <a:rPr sz="1000" b="1" i="1" dirty="0" err="1"/>
              <a:t>pico</a:t>
            </a:r>
            <a:r>
              <a:rPr sz="1000" b="1" i="1" dirty="0"/>
              <a:t> fin de </a:t>
            </a:r>
            <a:r>
              <a:rPr sz="1000" b="1" i="1" dirty="0" err="1"/>
              <a:t>mes</a:t>
            </a:r>
            <a:r>
              <a:rPr sz="1000" b="1" i="1" dirty="0"/>
              <a:t>)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6970390" y="6179188"/>
            <a:ext cx="4901819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San Ignacio 300 - </a:t>
            </a:r>
            <a:r>
              <a:rPr sz="1000" b="1" i="1" dirty="0" err="1"/>
              <a:t>sabado</a:t>
            </a:r>
            <a:r>
              <a:rPr sz="1000" b="1" i="1" dirty="0"/>
              <a:t> 27/6 (</a:t>
            </a:r>
            <a:r>
              <a:rPr sz="1000" b="1" i="1" dirty="0" err="1"/>
              <a:t>máximo</a:t>
            </a:r>
            <a:r>
              <a:rPr sz="1000" b="1" i="1" dirty="0"/>
              <a:t> </a:t>
            </a:r>
            <a:r>
              <a:rPr sz="1000" b="1" i="1" dirty="0" err="1"/>
              <a:t>junio</a:t>
            </a:r>
            <a:r>
              <a:rPr sz="1000" b="1" i="1" dirty="0"/>
              <a:t>)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69B383F4-4F17-4EE7-3522-825F709ED1D4}"/>
              </a:ext>
            </a:extLst>
          </p:cNvPr>
          <p:cNvSpPr txBox="1"/>
          <p:nvPr/>
        </p:nvSpPr>
        <p:spPr>
          <a:xfrm>
            <a:off x="156129" y="262413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BOM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365"/>
          <p:cNvSpPr txBox="1"/>
          <p:nvPr/>
        </p:nvSpPr>
        <p:spPr>
          <a:xfrm>
            <a:off x="1036623" y="6370287"/>
            <a:ext cx="4206240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San Ignacio 300 - </a:t>
            </a:r>
            <a:r>
              <a:rPr sz="1000" b="1" i="1" dirty="0" err="1"/>
              <a:t>sabado</a:t>
            </a:r>
            <a:r>
              <a:rPr sz="1000" b="1" i="1" dirty="0"/>
              <a:t> 6/6 (</a:t>
            </a:r>
            <a:r>
              <a:rPr sz="1000" b="1" i="1" dirty="0" err="1"/>
              <a:t>inicio</a:t>
            </a:r>
            <a:r>
              <a:rPr sz="1000" b="1" i="1" dirty="0"/>
              <a:t> </a:t>
            </a:r>
            <a:r>
              <a:rPr sz="1000" b="1" i="1" dirty="0" err="1"/>
              <a:t>alza</a:t>
            </a:r>
            <a:r>
              <a:rPr sz="1000" b="1" i="1" dirty="0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69B383F4-4F17-4EE7-3522-825F709ED1D4}"/>
              </a:ext>
            </a:extLst>
          </p:cNvPr>
          <p:cNvSpPr txBox="1"/>
          <p:nvPr/>
        </p:nvSpPr>
        <p:spPr>
          <a:xfrm>
            <a:off x="156129" y="262413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BOM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283" descr="l16_s500_ranking_nocturno_mensual.png">
            <a:extLst>
              <a:ext uri="{FF2B5EF4-FFF2-40B4-BE49-F238E27FC236}">
                <a16:creationId xmlns:a16="http://schemas.microsoft.com/office/drawing/2014/main" id="{BEF050E3-695F-2B11-611A-FEC958E5F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7" y="808419"/>
            <a:ext cx="5510174" cy="3794760"/>
          </a:xfrm>
          <a:prstGeom prst="rect">
            <a:avLst/>
          </a:prstGeom>
        </p:spPr>
      </p:pic>
      <p:sp>
        <p:nvSpPr>
          <p:cNvPr id="5" name="TextBox 286">
            <a:extLst>
              <a:ext uri="{FF2B5EF4-FFF2-40B4-BE49-F238E27FC236}">
                <a16:creationId xmlns:a16="http://schemas.microsoft.com/office/drawing/2014/main" id="{0A442B4C-0D9F-7450-A2DD-03562916E4D2}"/>
              </a:ext>
            </a:extLst>
          </p:cNvPr>
          <p:cNvSpPr txBox="1"/>
          <p:nvPr/>
        </p:nvSpPr>
        <p:spPr>
          <a:xfrm>
            <a:off x="6560000" y="654813"/>
            <a:ext cx="563270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San Ignacio 500 —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nocturno</a:t>
            </a:r>
            <a:r>
              <a:rPr dirty="0"/>
              <a:t> (0–6 h)</a:t>
            </a:r>
            <a:endParaRPr lang="es-MX" dirty="0"/>
          </a:p>
          <a:p>
            <a:endParaRPr dirty="0"/>
          </a:p>
          <a:p>
            <a:pPr>
              <a:buNone/>
            </a:pPr>
            <a:r>
              <a:rPr dirty="0"/>
              <a:t>Control WES </a:t>
            </a:r>
            <a:r>
              <a:rPr dirty="0" err="1"/>
              <a:t>instalado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punto; </a:t>
            </a:r>
            <a:r>
              <a:rPr dirty="0" err="1"/>
              <a:t>actualmente</a:t>
            </a:r>
            <a:r>
              <a:rPr dirty="0"/>
              <a:t> sin </a:t>
            </a:r>
            <a:r>
              <a:rPr dirty="0" err="1"/>
              <a:t>funcionamiento</a:t>
            </a:r>
            <a:r>
              <a:rPr dirty="0"/>
              <a:t>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dirty="0"/>
              <a:t>Ranking </a:t>
            </a:r>
            <a:r>
              <a:rPr dirty="0" err="1"/>
              <a:t>ene</a:t>
            </a:r>
            <a:r>
              <a:rPr dirty="0"/>
              <a:t>–</a:t>
            </a:r>
            <a:r>
              <a:rPr dirty="0" err="1"/>
              <a:t>jun</a:t>
            </a:r>
            <a:r>
              <a:rPr dirty="0"/>
              <a:t> 2026: 678 m³ </a:t>
            </a:r>
            <a:r>
              <a:rPr dirty="0" err="1"/>
              <a:t>acumulados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horario</a:t>
            </a:r>
            <a:r>
              <a:rPr dirty="0"/>
              <a:t> 0–6 h.</a:t>
            </a:r>
            <a:endParaRPr lang="es-MX" dirty="0"/>
          </a:p>
          <a:p>
            <a:pPr>
              <a:buNone/>
            </a:pPr>
            <a:endParaRPr dirty="0"/>
          </a:p>
          <a:p>
            <a:pPr>
              <a:buNone/>
            </a:pPr>
            <a:r>
              <a:rPr dirty="0" err="1"/>
              <a:t>Mes</a:t>
            </a:r>
            <a:r>
              <a:rPr dirty="0"/>
              <a:t> de mayor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nocturno</a:t>
            </a:r>
            <a:r>
              <a:rPr dirty="0"/>
              <a:t>: Ene 2026 (154 m³).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dirty="0" err="1"/>
              <a:t>Ahorro</a:t>
            </a:r>
            <a:r>
              <a:rPr dirty="0"/>
              <a:t> </a:t>
            </a:r>
            <a:r>
              <a:rPr dirty="0" err="1"/>
              <a:t>estimado</a:t>
            </a:r>
            <a:r>
              <a:rPr dirty="0"/>
              <a:t> al </a:t>
            </a:r>
            <a:r>
              <a:rPr dirty="0" err="1"/>
              <a:t>activar</a:t>
            </a:r>
            <a:r>
              <a:rPr dirty="0"/>
              <a:t> control on/off: 678 m³ (</a:t>
            </a:r>
            <a:r>
              <a:rPr dirty="0" err="1"/>
              <a:t>periodo</a:t>
            </a:r>
            <a:r>
              <a:rPr dirty="0"/>
              <a:t> </a:t>
            </a:r>
            <a:r>
              <a:rPr dirty="0" err="1"/>
              <a:t>ene</a:t>
            </a:r>
            <a:r>
              <a:rPr dirty="0"/>
              <a:t>–</a:t>
            </a:r>
            <a:r>
              <a:rPr dirty="0" err="1"/>
              <a:t>jun</a:t>
            </a:r>
            <a:r>
              <a:rPr dirty="0"/>
              <a:t>).</a:t>
            </a:r>
            <a:endParaRPr lang="es-MX" dirty="0"/>
          </a:p>
          <a:p>
            <a:pPr>
              <a:buNone/>
            </a:pPr>
            <a:endParaRPr dirty="0"/>
          </a:p>
          <a:p>
            <a:pPr>
              <a:buNone/>
            </a:pPr>
            <a:r>
              <a:rPr dirty="0" err="1"/>
              <a:t>Referencia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 recuperable: ≈ 113 m³/</a:t>
            </a:r>
            <a:r>
              <a:rPr dirty="0" err="1"/>
              <a:t>mes</a:t>
            </a:r>
            <a:r>
              <a:rPr dirty="0"/>
              <a:t>.</a:t>
            </a:r>
            <a:r>
              <a:rPr lang="es-MX"/>
              <a:t> </a:t>
            </a:r>
            <a:endParaRPr lang="es-MX" dirty="0"/>
          </a:p>
          <a:p>
            <a:pPr>
              <a:buNone/>
            </a:pPr>
            <a:endParaRPr dirty="0"/>
          </a:p>
          <a:p>
            <a:pPr>
              <a:buNone/>
            </a:pPr>
            <a:r>
              <a:rPr dirty="0" err="1"/>
              <a:t>Promedio</a:t>
            </a:r>
            <a:r>
              <a:rPr dirty="0"/>
              <a:t> </a:t>
            </a:r>
            <a:r>
              <a:rPr dirty="0" err="1"/>
              <a:t>nocturno</a:t>
            </a:r>
            <a:r>
              <a:rPr dirty="0"/>
              <a:t> Ene–Mar: 3,92 m³/</a:t>
            </a:r>
            <a:r>
              <a:rPr dirty="0" err="1"/>
              <a:t>noche</a:t>
            </a:r>
            <a:r>
              <a:rPr dirty="0"/>
              <a:t>; </a:t>
            </a:r>
            <a:r>
              <a:rPr dirty="0" err="1"/>
              <a:t>Abr</a:t>
            </a:r>
            <a:r>
              <a:rPr dirty="0"/>
              <a:t>–Jun: 3,57 m³/</a:t>
            </a:r>
            <a:r>
              <a:rPr dirty="0" err="1"/>
              <a:t>noche</a:t>
            </a:r>
            <a:r>
              <a:rPr dirty="0"/>
              <a:t>.</a:t>
            </a:r>
          </a:p>
          <a:p>
            <a:pPr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923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96bdbb4df6_0_61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AEB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96bdbb4df6_0_61" title="Screenshot 2026-03-31 at 16.46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6" y="1236797"/>
            <a:ext cx="5620924" cy="475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96bdbb4df6_0_61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Anillo Plaza 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A.A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principal 1° piso [relocalizado]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29 /10 /2025 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[Original]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16/01/2026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[Relocalizado]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Tamara Martínez : Jefa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rtl="0">
              <a:buFont typeface="Arial" panose="020B0604020202020204" pitchFamily="34" charset="0"/>
              <a:buChar char="•"/>
            </a:pPr>
            <a:r>
              <a:rPr dirty="0" err="1"/>
              <a:t>Respecto</a:t>
            </a:r>
            <a:r>
              <a:rPr dirty="0"/>
              <a:t> al total </a:t>
            </a:r>
            <a:r>
              <a:rPr dirty="0" err="1"/>
              <a:t>monitoreable</a:t>
            </a:r>
            <a:r>
              <a:rPr dirty="0"/>
              <a:t> entre mayo y </a:t>
            </a:r>
            <a:r>
              <a:rPr dirty="0" err="1"/>
              <a:t>junio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rPr dirty="0" err="1"/>
              <a:t>Matriz</a:t>
            </a:r>
            <a:r>
              <a:rPr dirty="0"/>
              <a:t> Principal = </a:t>
            </a:r>
            <a:r>
              <a:rPr b="1" dirty="0"/>
              <a:t>78,3%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rPr dirty="0"/>
              <a:t>Anillo (Primer Piso) = </a:t>
            </a:r>
            <a:r>
              <a:rPr b="1" dirty="0"/>
              <a:t>21,7%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buNone/>
            </a:pP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Respecto</a:t>
            </a:r>
            <a:r>
              <a:rPr dirty="0"/>
              <a:t> al total </a:t>
            </a:r>
            <a:r>
              <a:rPr dirty="0" err="1"/>
              <a:t>monitoreable</a:t>
            </a:r>
            <a:r>
              <a:rPr dirty="0"/>
              <a:t> </a:t>
            </a:r>
            <a:r>
              <a:rPr dirty="0" err="1"/>
              <a:t>anual</a:t>
            </a:r>
            <a:endParaRPr dirty="0"/>
          </a:p>
          <a:p>
            <a:pPr>
              <a:buNone/>
            </a:pPr>
            <a:r>
              <a:rPr dirty="0" err="1"/>
              <a:t>Matriz</a:t>
            </a:r>
            <a:r>
              <a:rPr dirty="0"/>
              <a:t> Principal = </a:t>
            </a:r>
            <a:r>
              <a:rPr b="1" dirty="0"/>
              <a:t>51,7%</a:t>
            </a:r>
          </a:p>
          <a:p>
            <a:pPr>
              <a:buNone/>
            </a:pPr>
            <a:r>
              <a:rPr dirty="0"/>
              <a:t>Anillo (Primer Piso) = </a:t>
            </a:r>
            <a:r>
              <a:rPr b="1" dirty="0"/>
              <a:t>48,3%</a:t>
            </a:r>
          </a:p>
        </p:txBody>
      </p:sp>
      <p:pic>
        <p:nvPicPr>
          <p:cNvPr id="366" name="Picture 365" descr="l17_aeb_total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367" name="Picture 366" descr="l17_aeb_000025-11_diario_lin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80" y="3575305"/>
            <a:ext cx="4982260" cy="2268790"/>
          </a:xfrm>
          <a:prstGeom prst="rect">
            <a:avLst/>
          </a:prstGeom>
        </p:spPr>
      </p:pic>
      <p:pic>
        <p:nvPicPr>
          <p:cNvPr id="368" name="Picture 367" descr="l17_aeb_000025-12_diario_lin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743" y="2946720"/>
            <a:ext cx="4735714" cy="2411004"/>
          </a:xfrm>
          <a:prstGeom prst="rect">
            <a:avLst/>
          </a:prstGeom>
        </p:spPr>
      </p:pic>
      <p:sp>
        <p:nvSpPr>
          <p:cNvPr id="369" name="TextBox 368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824180" y="5844095"/>
            <a:ext cx="4169663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Matriz Principal periodo 1/5/2026 a 7/7/2026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7041659" y="5606832"/>
            <a:ext cx="487165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Anillo (Primer Piso) </a:t>
            </a:r>
            <a:r>
              <a:rPr sz="1000" b="1" i="1" dirty="0" err="1"/>
              <a:t>periodo</a:t>
            </a:r>
            <a:r>
              <a:rPr sz="1000" b="1" i="1" dirty="0"/>
              <a:t> 1/5/2026 a 7/7/2026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AEB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96c1ba0591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c1ba0591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96c1ba0591_0_16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Matriz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Principal —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(0–8 h)</a:t>
            </a:r>
            <a:endParaRPr sz="1100" i="1" dirty="0">
              <a:solidFill>
                <a:schemeClr val="dk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  <a:sym typeface="Verdana"/>
            </a:endParaRP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Promedio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período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 7,9 m³/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noche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(0,88 m³/h);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base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sostenido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horario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inhábil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Lun 8/6: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= 3,5 m³ (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pico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1,93 m³/h).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Sáb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27/6: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= 11,4 m³ (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pico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1,56 m³/h).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Oportunidad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Implementar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control on/off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horario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inhábil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(0–8 h),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replicando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estanques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MAE.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Anillo (Primer Piso) —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(0–8 h)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Promedio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período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 4,8 m³/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noche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(0,54 m³/h).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Representa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29%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Matriz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Principal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período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Lun 8/6: no</a:t>
            </a:r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= 2,4 m³;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Sáb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27/6: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= 9 m³ (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49%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del día).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Oportunidad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Revisar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equipos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llaves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anillo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primer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piso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reducir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base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nocturno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81" name="Picture 380" descr="l18_000025-11_202606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71" y="845821"/>
            <a:ext cx="5510174" cy="1887321"/>
          </a:xfrm>
          <a:prstGeom prst="rect">
            <a:avLst/>
          </a:prstGeom>
        </p:spPr>
      </p:pic>
      <p:pic>
        <p:nvPicPr>
          <p:cNvPr id="382" name="Picture 381" descr="l18_000025-11_20260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747" y="3114878"/>
            <a:ext cx="5437022" cy="1858060"/>
          </a:xfrm>
          <a:prstGeom prst="rect">
            <a:avLst/>
          </a:prstGeom>
        </p:spPr>
      </p:pic>
      <p:pic>
        <p:nvPicPr>
          <p:cNvPr id="383" name="Picture 382" descr="l18_000025-12_202606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828" y="2699832"/>
            <a:ext cx="5462001" cy="1783080"/>
          </a:xfrm>
          <a:prstGeom prst="rect">
            <a:avLst/>
          </a:prstGeom>
        </p:spPr>
      </p:pic>
      <p:pic>
        <p:nvPicPr>
          <p:cNvPr id="384" name="Picture 383" descr="l18_000025-12_20260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591" y="4743188"/>
            <a:ext cx="5473643" cy="1600200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1219809" y="2831949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Matriz</a:t>
            </a:r>
            <a:r>
              <a:rPr sz="1000" b="1" i="1" dirty="0"/>
              <a:t> Principal - lunes 8/6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219809" y="4953305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Matriz</a:t>
            </a:r>
            <a:r>
              <a:rPr sz="1000" b="1" i="1" dirty="0"/>
              <a:t> Principal - </a:t>
            </a:r>
            <a:r>
              <a:rPr sz="1000" b="1" i="1" dirty="0" err="1"/>
              <a:t>sabado</a:t>
            </a:r>
            <a:r>
              <a:rPr sz="1000" b="1" i="1" dirty="0"/>
              <a:t> 27/6</a:t>
            </a:r>
          </a:p>
        </p:txBody>
      </p:sp>
      <p:sp>
        <p:nvSpPr>
          <p:cNvPr id="387" name="TextBox 386"/>
          <p:cNvSpPr txBox="1"/>
          <p:nvPr/>
        </p:nvSpPr>
        <p:spPr>
          <a:xfrm rot="10800000" flipV="1">
            <a:off x="6798449" y="4580484"/>
            <a:ext cx="5030758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Anillo (Primer Piso) - lunes 8/6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7193292" y="6494688"/>
            <a:ext cx="4206240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Anillo (Primer Piso) - </a:t>
            </a:r>
            <a:r>
              <a:rPr sz="1000" b="1" i="1" dirty="0" err="1"/>
              <a:t>sabado</a:t>
            </a:r>
            <a:r>
              <a:rPr sz="1000" b="1" i="1" dirty="0"/>
              <a:t> 27/6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D0F05AE2-C696-2AAA-AB47-9E2EC73AAB07}"/>
              </a:ext>
            </a:extLst>
          </p:cNvPr>
          <p:cNvSpPr txBox="1"/>
          <p:nvPr/>
        </p:nvSpPr>
        <p:spPr>
          <a:xfrm>
            <a:off x="0" y="248471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AEB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g396bdbb4df6_0_5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96bdbb4df6_0_50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CUR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96bdbb4df6_0_5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g396bdbb4df6_0_5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96bdbb4df6_0_50" title="Screenshot 2026-03-31 at 16.47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1" y="1236810"/>
            <a:ext cx="5620924" cy="47537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400" name="Google Shape;400;g396bdbb4df6_0_50"/>
          <p:cNvSpPr txBox="1"/>
          <p:nvPr/>
        </p:nvSpPr>
        <p:spPr>
          <a:xfrm>
            <a:off x="6712325" y="15240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lang="es-CL" sz="1300" dirty="0"/>
              <a:t>Anillo Norte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lang="es-CL" sz="1300" dirty="0"/>
              <a:t>Anillo Sur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trabajos:29/</a:t>
            </a:r>
            <a:r>
              <a:rPr lang="es-CL" sz="2500" b="1" dirty="0">
                <a:solidFill>
                  <a:srgbClr val="595959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04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/2026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12 /12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Joceline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Lazo: Jefe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Constanza Vilches: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96c1ba0591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c1ba0591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96c1ba0591_0_16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3050" marR="609583" lvl="0" indent="-171450" algn="just" rtl="0">
              <a:buFont typeface="Arial" panose="020B0604020202020204" pitchFamily="34" charset="0"/>
              <a:buChar char="•"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Período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analizado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 18/5/2026 a 16/6/2026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Monitoreo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actual: Anillo Norte y Anillo Sur.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Sin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comparación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enero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marzo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reconfiguración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la red).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>
              <a:buNone/>
            </a:pP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al total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monitoreado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período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Anillo Sur =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51,1%</a:t>
            </a: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Anillo Norte =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48,9%</a:t>
            </a:r>
          </a:p>
          <a:p>
            <a:pPr>
              <a:buNone/>
            </a:pPr>
            <a:endParaRPr lang="es-MX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WES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agregado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 652,7 m³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Cuenta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agua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boleta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Esval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N° 2368516): 621 m³</a:t>
            </a:r>
          </a:p>
          <a:p>
            <a:pPr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(WES -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cuenta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): 31,7 m³</a:t>
            </a:r>
          </a:p>
          <a:p>
            <a:pPr lvl="0" rtl="0">
              <a:buNone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Variación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5,1%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Interpretación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boleta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consolida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la red (Anillo Norte + Anillo Sur),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equivalente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suma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ambos puntos WES.</a:t>
            </a: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cuenta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lecturas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físicas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medidor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y hora de corte); WES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registra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las 24 h de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día.</a:t>
            </a: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El 18/5 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lectura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inicial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fue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las 12:00 h: WES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había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medido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desde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las 00:00 h de ese día,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incluido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boleta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día de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cierre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lectura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medidor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tampoco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cubre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las 24 h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completas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variación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5,1%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coherente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con ese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desfase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horario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(WES con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horas que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intervalo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lecturas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), no con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pérdida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detectada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84" name="Picture 38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" y="640871"/>
            <a:ext cx="5486400" cy="2359152"/>
          </a:xfrm>
          <a:prstGeom prst="rect">
            <a:avLst/>
          </a:prstGeom>
        </p:spPr>
      </p:pic>
      <p:pic>
        <p:nvPicPr>
          <p:cNvPr id="385" name="Picture 38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81" y="3788191"/>
            <a:ext cx="4728669" cy="2175868"/>
          </a:xfrm>
          <a:prstGeom prst="rect">
            <a:avLst/>
          </a:prstGeom>
        </p:spPr>
      </p:pic>
      <p:pic>
        <p:nvPicPr>
          <p:cNvPr id="386" name="Picture 38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2485" y="4260610"/>
            <a:ext cx="4607642" cy="1831465"/>
          </a:xfrm>
          <a:prstGeom prst="rect">
            <a:avLst/>
          </a:prstGeom>
        </p:spPr>
      </p:pic>
      <p:sp>
        <p:nvSpPr>
          <p:cNvPr id="387" name="TextBox 386"/>
          <p:cNvSpPr txBox="1"/>
          <p:nvPr/>
        </p:nvSpPr>
        <p:spPr>
          <a:xfrm>
            <a:off x="330098" y="3170093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total </a:t>
            </a:r>
            <a:r>
              <a:rPr sz="1000" b="1" i="1" dirty="0" err="1"/>
              <a:t>periodo</a:t>
            </a:r>
            <a:r>
              <a:rPr sz="1000" b="1" i="1" dirty="0"/>
              <a:t> 18/5/2026 a 16/6/2026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193293" y="5836043"/>
            <a:ext cx="4169663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Anillo Norte </a:t>
            </a:r>
            <a:r>
              <a:rPr sz="1000" b="1" i="1" dirty="0" err="1"/>
              <a:t>periodo</a:t>
            </a:r>
            <a:r>
              <a:rPr sz="1000" b="1" i="1" dirty="0"/>
              <a:t> 18/5/2026 a 16/6/2026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7419600" y="6217568"/>
            <a:ext cx="42062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Anillo Sur </a:t>
            </a:r>
            <a:r>
              <a:rPr sz="1000" b="1" i="1" dirty="0" err="1"/>
              <a:t>periodo</a:t>
            </a:r>
            <a:r>
              <a:rPr sz="1000" b="1" i="1" dirty="0"/>
              <a:t> 18/5/2026 a 16/6/2026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C48323DB-AB16-B6DB-960E-233E33E56FCD}"/>
              </a:ext>
            </a:extLst>
          </p:cNvPr>
          <p:cNvSpPr txBox="1"/>
          <p:nvPr/>
        </p:nvSpPr>
        <p:spPr>
          <a:xfrm>
            <a:off x="0" y="3380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CUR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3141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96bbc299a0_0_22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96bbc299a0_0_22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96bbc299a0_0_22" title="Screenshot 2026-03-31 at 16.4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800" y="1244850"/>
            <a:ext cx="5632075" cy="47402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388" name="Google Shape;388;g396bbc299a0_0_22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96bbc299a0_0_22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Puntos intervenidos: 10 </a:t>
            </a:r>
            <a:endParaRPr sz="2500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(Matriz principal)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 (Locales Gastronómicos)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(Restaurante)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Sala de Bomba Sandia (Antigua)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Sala de Bomba Sandia (Nueva),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Llenado Pileta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Llenado Pileta Cascada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Distrito de Lujo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Distrito Kennedy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Bazar Gourmet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i="1" dirty="0">
                <a:solidFill>
                  <a:schemeClr val="dk1"/>
                </a:solidFill>
              </a:rPr>
              <a:t>Baños 5 damas [relocalizado]</a:t>
            </a:r>
            <a:endParaRPr sz="1100" i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i="1" dirty="0">
                <a:solidFill>
                  <a:schemeClr val="dk1"/>
                </a:solidFill>
              </a:rPr>
              <a:t>Baños 6 varones [relocalizado]</a:t>
            </a:r>
            <a:endParaRPr sz="1100" b="1" dirty="0">
              <a:solidFill>
                <a:srgbClr val="303030"/>
              </a:solidFill>
            </a:endParaRPr>
          </a:p>
          <a:p>
            <a:pPr marL="0" marR="171450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Recepción trabajos: 12 /12 /2025</a:t>
            </a: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Fecha capacitación: 17 /12 /2025</a:t>
            </a: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sz="18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Francisco Jeldres:</a:t>
            </a:r>
            <a:r>
              <a:rPr lang="es-CL" sz="1100" dirty="0">
                <a:solidFill>
                  <a:srgbClr val="303030"/>
                </a:solidFill>
              </a:rPr>
              <a:t> Jefe de Operaciones </a:t>
            </a:r>
            <a:endParaRPr sz="1100" b="1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Equipo</a:t>
            </a:r>
            <a:r>
              <a:rPr lang="es-CL" sz="1100" dirty="0">
                <a:solidFill>
                  <a:srgbClr val="303030"/>
                </a:solidFill>
              </a:rPr>
              <a:t>: medioambiente.dcl@parauco.com</a:t>
            </a:r>
            <a:endParaRPr sz="1100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>
                <a:solidFill>
                  <a:srgbClr val="303030"/>
                </a:solidFill>
              </a:rPr>
              <a:t>Paula Azolas </a:t>
            </a:r>
            <a:r>
              <a:rPr lang="es-CL" sz="1100">
                <a:solidFill>
                  <a:srgbClr val="303030"/>
                </a:solidFill>
              </a:rPr>
              <a:t> </a:t>
            </a:r>
            <a:r>
              <a:rPr lang="es-CL" sz="1100" dirty="0">
                <a:solidFill>
                  <a:srgbClr val="303030"/>
                </a:solidFill>
              </a:rPr>
              <a:t>Analista Gestión Ambiental </a:t>
            </a:r>
            <a:endParaRPr sz="1100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Equipo Mantenimiento </a:t>
            </a:r>
            <a:r>
              <a:rPr lang="es-CL" sz="1100" dirty="0">
                <a:solidFill>
                  <a:srgbClr val="303030"/>
                </a:solidFill>
              </a:rPr>
              <a:t>(Carlos Naranjo, Mario Jara, Rodrigo Moreno, Rodrigo Diaz, Juan </a:t>
            </a:r>
            <a:r>
              <a:rPr lang="es-CL" sz="1100" dirty="0" err="1">
                <a:solidFill>
                  <a:srgbClr val="303030"/>
                </a:solidFill>
              </a:rPr>
              <a:t>Gutierrez</a:t>
            </a:r>
            <a:r>
              <a:rPr lang="es-CL" sz="1100" dirty="0">
                <a:solidFill>
                  <a:srgbClr val="303030"/>
                </a:solidFill>
              </a:rPr>
              <a:t>, Hugo Fierro) </a:t>
            </a:r>
            <a:endParaRPr sz="25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g396bbc299a0_0_22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lang="es-CL" sz="3100" b="1" dirty="0" err="1">
                <a:solidFill>
                  <a:srgbClr val="FFFFFF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r>
              <a:rPr kumimoji="0" lang="es-CL" sz="3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Picture 398" descr="l23_pak_total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48945" y="709866"/>
            <a:ext cx="5591543" cy="6223065"/>
          </a:xfrm>
          <a:prstGeom prst="rect">
            <a:avLst/>
          </a:prstGeom>
        </p:spPr>
      </p:pic>
      <p:sp>
        <p:nvSpPr>
          <p:cNvPr id="400" name="TextBox 399"/>
          <p:cNvSpPr txBox="1"/>
          <p:nvPr/>
        </p:nvSpPr>
        <p:spPr>
          <a:xfrm>
            <a:off x="6848359" y="974070"/>
            <a:ext cx="40001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/>
              <a:t>Total </a:t>
            </a:r>
            <a:r>
              <a:rPr sz="1200" dirty="0" err="1"/>
              <a:t>período</a:t>
            </a:r>
            <a:r>
              <a:rPr sz="1200" dirty="0"/>
              <a:t> 01/05/2026–07/07/2026: 96.553,8 m³ </a:t>
            </a:r>
            <a:r>
              <a:rPr sz="1200" dirty="0" err="1"/>
              <a:t>en</a:t>
            </a:r>
            <a:r>
              <a:rPr sz="1200" dirty="0"/>
              <a:t> 10 puntos.</a:t>
            </a:r>
          </a:p>
          <a:p>
            <a:r>
              <a:rPr sz="1200" dirty="0" err="1"/>
              <a:t>Mayores</a:t>
            </a:r>
            <a:r>
              <a:rPr sz="1200" dirty="0"/>
              <a:t> </a:t>
            </a:r>
            <a:r>
              <a:rPr sz="1200" dirty="0" err="1"/>
              <a:t>consumos</a:t>
            </a:r>
            <a:r>
              <a:rPr sz="1200" dirty="0"/>
              <a:t> (may–</a:t>
            </a:r>
            <a:r>
              <a:rPr sz="1200" dirty="0" err="1"/>
              <a:t>jun</a:t>
            </a:r>
            <a:r>
              <a:rPr sz="1200" dirty="0"/>
              <a:t>): Distrito de </a:t>
            </a:r>
            <a:r>
              <a:rPr sz="1200" dirty="0" err="1"/>
              <a:t>lujo</a:t>
            </a:r>
            <a:r>
              <a:rPr sz="1200" dirty="0"/>
              <a:t> DL 27,1%, Sala de </a:t>
            </a:r>
            <a:r>
              <a:rPr sz="1200" dirty="0" err="1"/>
              <a:t>Bomba</a:t>
            </a:r>
            <a:r>
              <a:rPr sz="1200" dirty="0"/>
              <a:t> Sandia Antigua 24,7%, PAK BAZAR GOURMET 17,9%</a:t>
            </a:r>
          </a:p>
          <a:p>
            <a:r>
              <a:rPr sz="1200" dirty="0"/>
              <a:t>Cadena DL, </a:t>
            </a:r>
            <a:r>
              <a:rPr sz="1200" dirty="0" err="1"/>
              <a:t>correlación</a:t>
            </a:r>
            <a:r>
              <a:rPr sz="1200" dirty="0"/>
              <a:t> y </a:t>
            </a:r>
            <a:r>
              <a:rPr sz="1200" dirty="0" err="1"/>
              <a:t>patrón</a:t>
            </a:r>
            <a:r>
              <a:rPr sz="1200" dirty="0"/>
              <a:t> </a:t>
            </a:r>
            <a:r>
              <a:rPr sz="1200" dirty="0" err="1"/>
              <a:t>nocturno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láminas</a:t>
            </a:r>
            <a:r>
              <a:rPr sz="1200" dirty="0"/>
              <a:t> </a:t>
            </a:r>
            <a:r>
              <a:rPr sz="1200" dirty="0" err="1"/>
              <a:t>siguientes</a:t>
            </a:r>
            <a:r>
              <a:rPr sz="1200" dirty="0"/>
              <a:t>.</a:t>
            </a:r>
          </a:p>
        </p:txBody>
      </p:sp>
      <p:sp>
        <p:nvSpPr>
          <p:cNvPr id="3" name="TextBox 400">
            <a:extLst>
              <a:ext uri="{FF2B5EF4-FFF2-40B4-BE49-F238E27FC236}">
                <a16:creationId xmlns:a16="http://schemas.microsoft.com/office/drawing/2014/main" id="{3765D516-D004-BD9D-945D-3050B7C73C9A}"/>
              </a:ext>
            </a:extLst>
          </p:cNvPr>
          <p:cNvSpPr txBox="1"/>
          <p:nvPr/>
        </p:nvSpPr>
        <p:spPr>
          <a:xfrm>
            <a:off x="333183" y="6316553"/>
            <a:ext cx="563270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</p:spTree>
    <p:extLst>
      <p:ext uri="{BB962C8B-B14F-4D97-AF65-F5344CB8AC3E}">
        <p14:creationId xmlns:p14="http://schemas.microsoft.com/office/powerpoint/2010/main" val="401613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PAK Kennedy — patrón nocturno (0–8 h)</a:t>
            </a:r>
            <a:endParaRPr lang="es-CL" sz="1200" b="1" i="0" u="none" strike="noStrike" cap="none" dirty="0">
              <a:solidFill>
                <a:srgbClr val="1D5372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Período 01/05/2026 a 07/07/2026.</a:t>
            </a:r>
            <a:endParaRPr lang="es-CL" sz="1200" b="1" i="0" u="none" strike="noStrike" cap="none" dirty="0">
              <a:solidFill>
                <a:srgbClr val="1D5372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lang="es-CL" sz="12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Resumen cadena DL: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Sala de Bomba Sandia Antigua: 6.048,1 m³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acum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nocturno (25,5% del total);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88,9 m³/noche, pico 25,4 m³/h.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Sala de Bomba Sandia Nueva: 1.830,4 m³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acum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nocturno (13,6% del total);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26,9 m³/noche, pico 8,7 m³/h.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Distrito de lujo DL: 6.619,6 m³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acum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nocturno (25,4% del total);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97,3 m³/noche, pico 26,9 m³/h.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PAK BAZAR GOURMET: 4.581,1 m³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acum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nocturno (26,6% del total);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67,4 m³/noche, pico 18,9 m³/h.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PAK DL KENNEDY: 112,4 m³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acum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nocturno (10,3% del total);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 1,7 m³/noche, pico 1,5 m³/h.</a:t>
            </a:r>
          </a:p>
          <a:p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Distrito de lujo DL — análisis: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Promedio período: 97,3 m³/noche (10,82 m³/h).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Lun 08/06: nocturno = 68,1 m³ (pico 14,2 m³/h).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Día pico nocturno (Miércoles 13/05): 180,9 m³ (pico 26,9 m³/h).</a:t>
            </a:r>
          </a:p>
          <a:p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Hallazgos: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El DL concentra el mayor consumo nocturno de la cadena.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Sandía Antigua (bomba) muestra operación nocturna asociada al abastecimiento.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• Bazar Gourmet y Sandía Nueva aportan menor fracción nocturna relativa.</a:t>
            </a:r>
          </a:p>
          <a:p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Oportunidad:</a:t>
            </a: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Evaluar control 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/off en horario inhábil (0–8 h) en DL y salas de bomba, alineado a la gestión MAE/</a:t>
            </a:r>
            <a:r>
              <a:rPr lang="es-CL" sz="1200" dirty="0" err="1">
                <a:latin typeface="Arial" panose="020B0604020202020204" pitchFamily="34" charset="0"/>
                <a:cs typeface="Arial" panose="020B0604020202020204" pitchFamily="34" charset="0"/>
              </a:rPr>
              <a:t>AEB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lang="es-CL" sz="3100" b="1" dirty="0" err="1">
                <a:solidFill>
                  <a:srgbClr val="FFFFFF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r>
              <a:rPr kumimoji="0" lang="es-CL" sz="3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Picture 401" descr="l27_pak_ranking_noctur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5852160" cy="2606040"/>
          </a:xfrm>
          <a:prstGeom prst="rect">
            <a:avLst/>
          </a:prstGeom>
        </p:spPr>
      </p:pic>
      <p:pic>
        <p:nvPicPr>
          <p:cNvPr id="403" name="Picture 402" descr="l27_pak_000025-27_hor_202606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703320"/>
            <a:ext cx="2834640" cy="2651760"/>
          </a:xfrm>
          <a:prstGeom prst="rect">
            <a:avLst/>
          </a:prstGeom>
        </p:spPr>
      </p:pic>
      <p:pic>
        <p:nvPicPr>
          <p:cNvPr id="404" name="Picture 403" descr="l27_pak_000025-27_hor_202605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3703320"/>
            <a:ext cx="2834640" cy="2651760"/>
          </a:xfrm>
          <a:prstGeom prst="rect">
            <a:avLst/>
          </a:prstGeom>
        </p:spPr>
      </p:pic>
      <p:sp>
        <p:nvSpPr>
          <p:cNvPr id="405" name="TextBox 404"/>
          <p:cNvSpPr txBox="1"/>
          <p:nvPr/>
        </p:nvSpPr>
        <p:spPr>
          <a:xfrm>
            <a:off x="546764" y="3575304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Ranking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nocturno</a:t>
            </a:r>
            <a:r>
              <a:rPr sz="1000" b="1" i="1" dirty="0"/>
              <a:t> 0–8 h — </a:t>
            </a:r>
            <a:r>
              <a:rPr sz="1000" b="1" i="1" dirty="0" err="1"/>
              <a:t>cadena</a:t>
            </a:r>
            <a:r>
              <a:rPr sz="1000" b="1" i="1" dirty="0"/>
              <a:t> DL — 1/5/2026 a 7/7/2026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455324" y="6258936"/>
            <a:ext cx="28346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Perfil horario Distrito de lujo DL lun 08/06/2026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3429000" y="6236208"/>
            <a:ext cx="28346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Perfil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Distrito de </a:t>
            </a:r>
            <a:r>
              <a:rPr sz="1000" b="1" i="1" dirty="0" err="1"/>
              <a:t>lujo</a:t>
            </a:r>
            <a:r>
              <a:rPr sz="1000" b="1" i="1" dirty="0"/>
              <a:t> DL día </a:t>
            </a:r>
            <a:r>
              <a:rPr sz="1000" b="1" i="1" dirty="0" err="1"/>
              <a:t>pico</a:t>
            </a:r>
            <a:r>
              <a:rPr sz="1000" b="1" i="1" dirty="0"/>
              <a:t> </a:t>
            </a:r>
            <a:r>
              <a:rPr sz="1000" b="1" i="1" dirty="0" err="1"/>
              <a:t>nocturno</a:t>
            </a:r>
            <a:r>
              <a:rPr sz="1000" b="1" i="1" dirty="0"/>
              <a:t> 13/05/2026</a:t>
            </a:r>
          </a:p>
        </p:txBody>
      </p:sp>
    </p:spTree>
    <p:extLst>
      <p:ext uri="{BB962C8B-B14F-4D97-AF65-F5344CB8AC3E}">
        <p14:creationId xmlns:p14="http://schemas.microsoft.com/office/powerpoint/2010/main" val="2495209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lang="es-CL" sz="3100" b="1" dirty="0" err="1">
                <a:solidFill>
                  <a:srgbClr val="FFFFFF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r>
              <a:rPr kumimoji="0" lang="es-CL" sz="3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TextBox 399"/>
          <p:cNvSpPr txBox="1"/>
          <p:nvPr/>
        </p:nvSpPr>
        <p:spPr>
          <a:xfrm>
            <a:off x="6788399" y="141249"/>
            <a:ext cx="540055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/>
              <a:t>Cadena declarada:</a:t>
            </a:r>
          </a:p>
          <a:p>
            <a:r>
              <a:rPr lang="es-CL" sz="1200" dirty="0"/>
              <a:t>• Sala de Bomba Sandia Antigua alimenta Distrito de lujo DL</a:t>
            </a:r>
          </a:p>
          <a:p>
            <a:r>
              <a:rPr lang="es-CL" sz="1200" dirty="0"/>
              <a:t>• Sala de Bomba Sandia Nueva también surte al DL</a:t>
            </a:r>
          </a:p>
          <a:p>
            <a:r>
              <a:rPr lang="es-CL" sz="1200" dirty="0"/>
              <a:t>• DL se reparte en PAK BAZAR GOURMET y PAK DL KENNEDY</a:t>
            </a:r>
          </a:p>
          <a:p>
            <a:endParaRPr lang="es-CL" sz="1200" dirty="0"/>
          </a:p>
          <a:p>
            <a:r>
              <a:rPr lang="es-CL" sz="1200" dirty="0"/>
              <a:t>Período 01/05/2026 a 07/07/2026 (total PAK 96.553,8 m³):</a:t>
            </a:r>
          </a:p>
          <a:p>
            <a:r>
              <a:rPr lang="es-CL" sz="1200" dirty="0"/>
              <a:t>• DL (26.047,9 m³) supera a Sandía Antigua (23.698,7 m³) en +2.349,2 m³ (+9,9%). El distrito recibe aporte adicional desde Sandía Nueva (13.448,8 m³).</a:t>
            </a:r>
          </a:p>
          <a:p>
            <a:r>
              <a:rPr lang="es-CL" sz="1200" dirty="0"/>
              <a:t>• Correlación diaria </a:t>
            </a:r>
            <a:r>
              <a:rPr lang="es-CL" sz="1200" dirty="0" err="1"/>
              <a:t>Antigua↔DL</a:t>
            </a:r>
            <a:r>
              <a:rPr lang="es-CL" sz="1200" dirty="0"/>
              <a:t>: r=1.00. </a:t>
            </a:r>
            <a:r>
              <a:rPr lang="es-CL" sz="1200" dirty="0" err="1"/>
              <a:t>Nueva↔DL</a:t>
            </a:r>
            <a:r>
              <a:rPr lang="es-CL" sz="1200" dirty="0"/>
              <a:t>: r=0.09.</a:t>
            </a:r>
          </a:p>
          <a:p>
            <a:r>
              <a:rPr lang="es-CL" sz="1200" dirty="0"/>
              <a:t>• Aguas abajo 35+36: 18.298,8 m³ (70,3% del DL). Consumo interno DL: 7.749,1 m³.</a:t>
            </a:r>
          </a:p>
          <a:p>
            <a:r>
              <a:rPr lang="es-CL" sz="1200" dirty="0"/>
              <a:t>• Suma fuentes 22+28 vs DL: excedente 11.099,6 m³.</a:t>
            </a:r>
          </a:p>
          <a:p>
            <a:endParaRPr lang="es-CL" sz="1200" dirty="0"/>
          </a:p>
          <a:p>
            <a:r>
              <a:rPr lang="es-CL" sz="1200" dirty="0"/>
              <a:t>Distribución % mayo–jun (top 5):</a:t>
            </a:r>
          </a:p>
          <a:p>
            <a:r>
              <a:rPr lang="es-CL" sz="1200" dirty="0"/>
              <a:t>• Distrito de lujo DL = 27,1%</a:t>
            </a:r>
          </a:p>
          <a:p>
            <a:r>
              <a:rPr lang="es-CL" sz="1200" dirty="0"/>
              <a:t>• Sala de Bomba Sandia Antigua = 24,7%</a:t>
            </a:r>
          </a:p>
          <a:p>
            <a:r>
              <a:rPr lang="es-CL" sz="1200" dirty="0"/>
              <a:t>• PAK BAZAR GOURMET = 17,9%</a:t>
            </a:r>
          </a:p>
          <a:p>
            <a:r>
              <a:rPr lang="es-CL" sz="1200" dirty="0"/>
              <a:t>• Sala de Bomba Sandia Nueva = 13,7%</a:t>
            </a:r>
          </a:p>
          <a:p>
            <a:r>
              <a:rPr lang="es-CL" sz="1200" dirty="0"/>
              <a:t>• Impulsión Anden 3-4 Locales </a:t>
            </a:r>
            <a:r>
              <a:rPr lang="es-CL" sz="1200" dirty="0" err="1"/>
              <a:t>Gast</a:t>
            </a:r>
            <a:r>
              <a:rPr lang="es-CL" sz="1200" dirty="0"/>
              <a:t>. = 7,6%</a:t>
            </a:r>
          </a:p>
          <a:p>
            <a:endParaRPr lang="es-CL" sz="1200" dirty="0"/>
          </a:p>
          <a:p>
            <a:r>
              <a:rPr lang="es-CL" sz="1200" dirty="0"/>
              <a:t>Distribución % anual (top 5):</a:t>
            </a:r>
          </a:p>
          <a:p>
            <a:r>
              <a:rPr lang="es-CL" sz="1200" dirty="0"/>
              <a:t>• Distrito de lujo DL = 31,3%</a:t>
            </a:r>
          </a:p>
          <a:p>
            <a:r>
              <a:rPr lang="es-CL" sz="1200" dirty="0"/>
              <a:t>• Sala de Bomba Sandia Antigua = 28,4%</a:t>
            </a:r>
          </a:p>
          <a:p>
            <a:r>
              <a:rPr lang="es-CL" sz="1200" dirty="0"/>
              <a:t>• Sala de Bomba Sandia Nueva = 14,2%</a:t>
            </a:r>
          </a:p>
          <a:p>
            <a:r>
              <a:rPr lang="es-CL" sz="1200" dirty="0"/>
              <a:t>• Impulsión Anden 3-4 Matriz Principal = 9%</a:t>
            </a:r>
          </a:p>
          <a:p>
            <a:r>
              <a:rPr lang="es-CL" sz="1200" dirty="0"/>
              <a:t>• PAK BAZAR GOURMET = 8%</a:t>
            </a:r>
          </a:p>
          <a:p>
            <a:endParaRPr lang="es-CL" sz="1200" dirty="0"/>
          </a:p>
          <a:p>
            <a:r>
              <a:rPr lang="es-CL" sz="1200" dirty="0"/>
              <a:t>Consumo nocturno 0–8 h (cadena):</a:t>
            </a:r>
          </a:p>
          <a:p>
            <a:r>
              <a:rPr lang="es-CL" sz="1200" dirty="0"/>
              <a:t>• Sala de Bomba Sandia Antigua: 104,1 m³/noche </a:t>
            </a:r>
            <a:r>
              <a:rPr lang="es-CL" sz="1200" dirty="0" err="1"/>
              <a:t>prom</a:t>
            </a:r>
            <a:r>
              <a:rPr lang="es-CL" sz="1200" dirty="0"/>
              <a:t>. (20,2% del total)</a:t>
            </a:r>
          </a:p>
          <a:p>
            <a:r>
              <a:rPr lang="es-CL" sz="1200" dirty="0"/>
              <a:t>• Sala de Bomba Sandia Nueva: 26,9 m³/noche </a:t>
            </a:r>
            <a:r>
              <a:rPr lang="es-CL" sz="1200" dirty="0" err="1"/>
              <a:t>prom</a:t>
            </a:r>
            <a:r>
              <a:rPr lang="es-CL" sz="1200" dirty="0"/>
              <a:t>. (13,6% del total)</a:t>
            </a:r>
          </a:p>
          <a:p>
            <a:r>
              <a:rPr lang="es-CL" sz="1200" dirty="0"/>
              <a:t>• Distrito de lujo DL: 97,3 m³/noche </a:t>
            </a:r>
            <a:r>
              <a:rPr lang="es-CL" sz="1200" dirty="0" err="1"/>
              <a:t>prom</a:t>
            </a:r>
            <a:r>
              <a:rPr lang="es-CL" sz="1200" dirty="0"/>
              <a:t>. (25,4% del total)</a:t>
            </a:r>
          </a:p>
          <a:p>
            <a:r>
              <a:rPr lang="es-CL" sz="1200" dirty="0"/>
              <a:t>• PAK BAZAR GOURMET: 67,4 m³/noche </a:t>
            </a:r>
            <a:r>
              <a:rPr lang="es-CL" sz="1200" dirty="0" err="1"/>
              <a:t>prom</a:t>
            </a:r>
            <a:r>
              <a:rPr lang="es-CL" sz="1200" dirty="0"/>
              <a:t>. (26,6% del total)</a:t>
            </a:r>
          </a:p>
          <a:p>
            <a:r>
              <a:rPr lang="es-CL" sz="1200" dirty="0"/>
              <a:t>• PAK DL KENNEDY: 1,7 m³/noche </a:t>
            </a:r>
            <a:r>
              <a:rPr lang="es-CL" sz="1200" dirty="0" err="1"/>
              <a:t>prom</a:t>
            </a:r>
            <a:r>
              <a:rPr lang="es-CL" sz="1200" dirty="0"/>
              <a:t>. (10,3% del total)</a:t>
            </a:r>
          </a:p>
          <a:p>
            <a:r>
              <a:rPr lang="es-CL" sz="1200" dirty="0"/>
              <a:t>Detalle en lámina PATRÓN NOCTURNO.</a:t>
            </a:r>
          </a:p>
        </p:txBody>
      </p:sp>
      <p:sp>
        <p:nvSpPr>
          <p:cNvPr id="3" name="TextBox 400">
            <a:extLst>
              <a:ext uri="{FF2B5EF4-FFF2-40B4-BE49-F238E27FC236}">
                <a16:creationId xmlns:a16="http://schemas.microsoft.com/office/drawing/2014/main" id="{3765D516-D004-BD9D-945D-3050B7C73C9A}"/>
              </a:ext>
            </a:extLst>
          </p:cNvPr>
          <p:cNvSpPr txBox="1"/>
          <p:nvPr/>
        </p:nvSpPr>
        <p:spPr>
          <a:xfrm>
            <a:off x="333183" y="6316553"/>
            <a:ext cx="563270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  <p:pic>
        <p:nvPicPr>
          <p:cNvPr id="408" name="Picture 40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5852160" cy="2514600"/>
          </a:xfrm>
          <a:prstGeom prst="rect">
            <a:avLst/>
          </a:prstGeom>
        </p:spPr>
      </p:pic>
      <p:sp>
        <p:nvSpPr>
          <p:cNvPr id="410" name="TextBox 409"/>
          <p:cNvSpPr txBox="1"/>
          <p:nvPr/>
        </p:nvSpPr>
        <p:spPr>
          <a:xfrm>
            <a:off x="774668" y="3611430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Totales</a:t>
            </a:r>
            <a:r>
              <a:rPr sz="1000" b="1" i="1" dirty="0"/>
              <a:t> </a:t>
            </a:r>
            <a:r>
              <a:rPr sz="1000" b="1" i="1" dirty="0" err="1"/>
              <a:t>cadena</a:t>
            </a:r>
            <a:r>
              <a:rPr sz="1000" b="1" i="1" dirty="0"/>
              <a:t> </a:t>
            </a:r>
            <a:r>
              <a:rPr sz="1000" b="1" i="1" dirty="0" err="1"/>
              <a:t>abastecimiento</a:t>
            </a:r>
            <a:r>
              <a:rPr sz="1000" b="1" i="1" dirty="0"/>
              <a:t> </a:t>
            </a:r>
            <a:r>
              <a:rPr sz="1000" b="1" i="1" dirty="0" err="1"/>
              <a:t>período</a:t>
            </a:r>
            <a:r>
              <a:rPr sz="1000" b="1" i="1" dirty="0"/>
              <a:t> 1/5/2026 a 7/7/2026</a:t>
            </a:r>
          </a:p>
        </p:txBody>
      </p:sp>
      <p:pic>
        <p:nvPicPr>
          <p:cNvPr id="409" name="Picture 4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004172"/>
            <a:ext cx="585216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0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Picture 359" descr="l25_pak_000025-27_diario_lin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7" y="960120"/>
            <a:ext cx="3832250" cy="2766060"/>
          </a:xfrm>
          <a:prstGeom prst="rect">
            <a:avLst/>
          </a:prstGeom>
        </p:spPr>
      </p:pic>
      <p:pic>
        <p:nvPicPr>
          <p:cNvPr id="361" name="Picture 360" descr="l25_pak_000025-22_diario_lin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722" y="960120"/>
            <a:ext cx="3832250" cy="2766060"/>
          </a:xfrm>
          <a:prstGeom prst="rect">
            <a:avLst/>
          </a:prstGeom>
        </p:spPr>
      </p:pic>
      <p:pic>
        <p:nvPicPr>
          <p:cNvPr id="362" name="Picture 361" descr="l25_pak_000025-35_diario_lin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276" y="960120"/>
            <a:ext cx="3832250" cy="2766060"/>
          </a:xfrm>
          <a:prstGeom prst="rect">
            <a:avLst/>
          </a:prstGeom>
        </p:spPr>
      </p:pic>
      <p:pic>
        <p:nvPicPr>
          <p:cNvPr id="363" name="Picture 362" descr="l25_pak_000025-28_diario_lin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445" y="3890772"/>
            <a:ext cx="3832250" cy="2766060"/>
          </a:xfrm>
          <a:prstGeom prst="rect">
            <a:avLst/>
          </a:prstGeom>
        </p:spPr>
      </p:pic>
      <p:pic>
        <p:nvPicPr>
          <p:cNvPr id="364" name="Picture 363" descr="l25_pak_000025-21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999" y="3890772"/>
            <a:ext cx="383225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0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Picture 359" descr="l26_pak_000025-20_diario_lin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7" y="960120"/>
            <a:ext cx="3832250" cy="2766060"/>
          </a:xfrm>
          <a:prstGeom prst="rect">
            <a:avLst/>
          </a:prstGeom>
        </p:spPr>
      </p:pic>
      <p:pic>
        <p:nvPicPr>
          <p:cNvPr id="361" name="Picture 360" descr="l26_pak_000025-36_diario_lin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722" y="960120"/>
            <a:ext cx="3832250" cy="2766060"/>
          </a:xfrm>
          <a:prstGeom prst="rect">
            <a:avLst/>
          </a:prstGeom>
        </p:spPr>
      </p:pic>
      <p:pic>
        <p:nvPicPr>
          <p:cNvPr id="362" name="Picture 361" descr="l26_pak_000025-29_diario_lin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276" y="960120"/>
            <a:ext cx="3832250" cy="2766060"/>
          </a:xfrm>
          <a:prstGeom prst="rect">
            <a:avLst/>
          </a:prstGeom>
        </p:spPr>
      </p:pic>
      <p:pic>
        <p:nvPicPr>
          <p:cNvPr id="363" name="Picture 362" descr="l26_pak_000025-23_diario_lin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445" y="3890772"/>
            <a:ext cx="3832250" cy="2766060"/>
          </a:xfrm>
          <a:prstGeom prst="rect">
            <a:avLst/>
          </a:prstGeom>
        </p:spPr>
      </p:pic>
      <p:pic>
        <p:nvPicPr>
          <p:cNvPr id="364" name="Picture 363" descr="l26_pak_000025-24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999" y="3890772"/>
            <a:ext cx="383225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90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396bbc299a0_0_0"/>
          <p:cNvPicPr preferRelativeResize="0"/>
          <p:nvPr/>
        </p:nvPicPr>
        <p:blipFill rotWithShape="1">
          <a:blip r:embed="rId3">
            <a:alphaModFix/>
          </a:blip>
          <a:srcRect l="75689" t="-10044" r="-2719" b="53428"/>
          <a:stretch/>
        </p:blipFill>
        <p:spPr>
          <a:xfrm>
            <a:off x="9448800" y="2343500"/>
            <a:ext cx="3019250" cy="45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g396bbc299a0_0_0"/>
          <p:cNvGrpSpPr/>
          <p:nvPr/>
        </p:nvGrpSpPr>
        <p:grpSpPr>
          <a:xfrm>
            <a:off x="-228600" y="0"/>
            <a:ext cx="7385650" cy="8295971"/>
            <a:chOff x="-228600" y="0"/>
            <a:chExt cx="7385650" cy="8295971"/>
          </a:xfrm>
        </p:grpSpPr>
        <p:pic>
          <p:nvPicPr>
            <p:cNvPr id="408" name="Google Shape;408;g396bbc299a0_0_0"/>
            <p:cNvPicPr preferRelativeResize="0"/>
            <p:nvPr/>
          </p:nvPicPr>
          <p:blipFill rotWithShape="1">
            <a:blip r:embed="rId3">
              <a:alphaModFix/>
            </a:blip>
            <a:srcRect l="-680" r="45362" b="14001"/>
            <a:stretch/>
          </p:blipFill>
          <p:spPr>
            <a:xfrm>
              <a:off x="-228600" y="0"/>
              <a:ext cx="6179427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g396bbc299a0_0_0"/>
            <p:cNvSpPr/>
            <p:nvPr/>
          </p:nvSpPr>
          <p:spPr>
            <a:xfrm rot="-2700000">
              <a:off x="1093931" y="3757445"/>
              <a:ext cx="5915938" cy="28667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0" name="Google Shape;410;g396bbc299a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775" y="307200"/>
            <a:ext cx="3499700" cy="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96bbc299a0_0_0"/>
          <p:cNvSpPr/>
          <p:nvPr/>
        </p:nvSpPr>
        <p:spPr>
          <a:xfrm>
            <a:off x="1809497" y="5576733"/>
            <a:ext cx="34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1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Diego Carrasco Vallejos</a:t>
            </a:r>
            <a:r>
              <a:rPr lang="es-CL" sz="15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endParaRPr sz="15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1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Cofundador - Gerente de Asuntos Corporativos</a:t>
            </a:r>
            <a:endParaRPr sz="1200" b="0" i="1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sng" strike="noStrike" cap="none">
                <a:solidFill>
                  <a:srgbClr val="0563C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diegocarrasco@wes.cl</a:t>
            </a:r>
            <a:r>
              <a:rPr lang="es-CL" sz="1200" b="0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es-CL" sz="12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sz="1200" b="1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2" name="Google Shape;412;g396bbc299a0_0_0" descr="Free Linkedin Logo Icon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3699" y="6141471"/>
            <a:ext cx="238733" cy="2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96bbc299a0_0_0"/>
          <p:cNvSpPr txBox="1"/>
          <p:nvPr/>
        </p:nvSpPr>
        <p:spPr>
          <a:xfrm>
            <a:off x="10922000" y="6045200"/>
            <a:ext cx="3999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3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7 Julio 2026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g396bbc299a0_0_0"/>
          <p:cNvGrpSpPr/>
          <p:nvPr/>
        </p:nvGrpSpPr>
        <p:grpSpPr>
          <a:xfrm>
            <a:off x="4941250" y="2012108"/>
            <a:ext cx="4609481" cy="1247288"/>
            <a:chOff x="4026850" y="2164494"/>
            <a:chExt cx="5487477" cy="1513699"/>
          </a:xfrm>
        </p:grpSpPr>
        <p:pic>
          <p:nvPicPr>
            <p:cNvPr id="415" name="Google Shape;415;g396bbc299a0_0_0"/>
            <p:cNvPicPr preferRelativeResize="0"/>
            <p:nvPr/>
          </p:nvPicPr>
          <p:blipFill rotWithShape="1">
            <a:blip r:embed="rId8">
              <a:alphaModFix/>
            </a:blip>
            <a:srcRect l="25882"/>
            <a:stretch/>
          </p:blipFill>
          <p:spPr>
            <a:xfrm>
              <a:off x="5563075" y="2219075"/>
              <a:ext cx="3951252" cy="13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g396bbc299a0_0_0"/>
            <p:cNvPicPr preferRelativeResize="0"/>
            <p:nvPr/>
          </p:nvPicPr>
          <p:blipFill rotWithShape="1">
            <a:blip r:embed="rId9">
              <a:alphaModFix/>
            </a:blip>
            <a:srcRect r="74900"/>
            <a:stretch/>
          </p:blipFill>
          <p:spPr>
            <a:xfrm>
              <a:off x="4026850" y="2164494"/>
              <a:ext cx="1550049" cy="151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g396bbc299a0_0_0"/>
          <p:cNvSpPr txBox="1"/>
          <p:nvPr/>
        </p:nvSpPr>
        <p:spPr>
          <a:xfrm>
            <a:off x="4869075" y="2741075"/>
            <a:ext cx="61464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L" sz="2500" b="1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Gestión Inteligente de Agua </a:t>
            </a:r>
            <a:r>
              <a:rPr lang="es-CL" sz="25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MAM / MAQ / MAE / PAK / AEB / CUR / BOM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3414</Words>
  <Application>Microsoft Office PowerPoint</Application>
  <PresentationFormat>Panorámica</PresentationFormat>
  <Paragraphs>440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Montserrat</vt:lpstr>
      <vt:lpstr>Helvetica Neue</vt:lpstr>
      <vt:lpstr>Calibri</vt:lpstr>
      <vt:lpstr>Tahoma</vt:lpstr>
      <vt:lpstr>Aptos</vt:lpstr>
      <vt:lpstr>Symbol</vt:lpstr>
      <vt:lpstr>Arial</vt:lpstr>
      <vt:lpstr>Nunito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Anibal Aranda Alvarado</cp:lastModifiedBy>
  <cp:revision>33</cp:revision>
  <dcterms:created xsi:type="dcterms:W3CDTF">2024-07-09T04:02:31Z</dcterms:created>
  <dcterms:modified xsi:type="dcterms:W3CDTF">2026-07-13T19:44:44Z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